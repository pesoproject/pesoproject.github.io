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4"/>
  </p:sldMasterIdLst>
  <p:notesMasterIdLst>
    <p:notesMasterId r:id="rId6"/>
  </p:notesMasterIdLst>
  <p:sldIdLst>
    <p:sldId id="257"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281BD"/>
    <a:srgbClr val="0000FF"/>
    <a:srgbClr val="020079"/>
    <a:srgbClr val="EEEEF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1221BC-4040-40C0-A418-1C4EE05B5C95}" v="1" dt="2025-02-24T00:07:43.6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454" autoAdjust="0"/>
    <p:restoredTop sz="72007" autoAdjust="0"/>
  </p:normalViewPr>
  <p:slideViewPr>
    <p:cSldViewPr snapToGrid="0">
      <p:cViewPr varScale="1">
        <p:scale>
          <a:sx n="109" d="100"/>
          <a:sy n="109" d="100"/>
        </p:scale>
        <p:origin x="328" y="184"/>
      </p:cViewPr>
      <p:guideLst/>
    </p:cSldViewPr>
  </p:slideViewPr>
  <p:outlineViewPr>
    <p:cViewPr>
      <p:scale>
        <a:sx n="33" d="100"/>
        <a:sy n="33" d="100"/>
      </p:scale>
      <p:origin x="0" y="0"/>
    </p:cViewPr>
  </p:outlineViewPr>
  <p:notesTextViewPr>
    <p:cViewPr>
      <p:scale>
        <a:sx n="1" d="1"/>
        <a:sy n="1" d="1"/>
      </p:scale>
      <p:origin x="0" y="-456"/>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5/10/relationships/revisionInfo" Target="revisionInfo.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134BE1-65F2-4435-8B51-6A5EBDF683AE}" type="datetimeFigureOut">
              <a:rPr lang="en-US" smtClean="0"/>
              <a:t>6/23/25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04650E-E198-4FA3-A1E8-C9B561D8C60E}" type="slidenum">
              <a:rPr lang="en-US" smtClean="0"/>
              <a:t>‹#›</a:t>
            </a:fld>
            <a:endParaRPr lang="en-US"/>
          </a:p>
        </p:txBody>
      </p:sp>
    </p:spTree>
    <p:extLst>
      <p:ext uri="{BB962C8B-B14F-4D97-AF65-F5344CB8AC3E}">
        <p14:creationId xmlns:p14="http://schemas.microsoft.com/office/powerpoint/2010/main" val="3365810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kern="0" dirty="0">
                <a:solidFill>
                  <a:srgbClr val="000000"/>
                </a:solidFill>
                <a:cs typeface="Arial"/>
                <a:sym typeface="Arial"/>
              </a:rPr>
              <a:t>The </a:t>
            </a:r>
            <a:r>
              <a:rPr lang="en-US" sz="1200" b="1" i="0" kern="0" dirty="0">
                <a:solidFill>
                  <a:srgbClr val="000000"/>
                </a:solidFill>
                <a:cs typeface="Arial"/>
                <a:sym typeface="Arial"/>
              </a:rPr>
              <a:t>PESO Project </a:t>
            </a:r>
            <a:r>
              <a:rPr lang="en-US" sz="1200" i="0" kern="0" dirty="0">
                <a:solidFill>
                  <a:srgbClr val="000000"/>
                </a:solidFill>
                <a:cs typeface="Arial"/>
                <a:sym typeface="Arial"/>
              </a:rPr>
              <a:t>is s</a:t>
            </a:r>
            <a:r>
              <a:rPr lang="en-US" sz="1200" i="0" dirty="0"/>
              <a:t>tewarding and advancing the current and future ecosystem of HPC-AI computing software as part of the Consortium for the Advancement of Scientific Software (CASS). </a:t>
            </a:r>
            <a:r>
              <a:rPr lang="en-US" sz="1800" dirty="0">
                <a:effectLst/>
                <a:latin typeface="Cambria" panose="02040503050406030204" pitchFamily="18" charset="0"/>
              </a:rPr>
              <a:t>PESO contributes to the U.S. Department of Energy’s mission to advance scientific discovery, while also helping build a modern, flexible, and comprehensive computing infrastructure that benefits a broad spectrum of users. </a:t>
            </a:r>
            <a:endParaRPr lang="en-US" sz="1200" i="0" kern="0" dirty="0">
              <a:solidFill>
                <a:srgbClr val="000000"/>
              </a:solidFil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kern="0" dirty="0">
                <a:solidFill>
                  <a:srgbClr val="000000"/>
                </a:solidFill>
                <a:cs typeface="Arial"/>
                <a:sym typeface="Arial"/>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kern="0" dirty="0">
                <a:solidFill>
                  <a:srgbClr val="000000"/>
                </a:solidFill>
                <a:cs typeface="Arial"/>
                <a:sym typeface="Arial"/>
              </a:rPr>
              <a:t>This highlight focuses on </a:t>
            </a:r>
            <a:r>
              <a:rPr lang="en-US" sz="1200" b="1" i="0" dirty="0"/>
              <a:t>the High Performance Software Foundation, </a:t>
            </a:r>
            <a:r>
              <a:rPr lang="en-US" sz="1200" b="0" i="0" dirty="0"/>
              <a:t>an exciting new organization that provides a key element to preserving and sustaining DOE scientific software investments that are critical for providing the scaffolding for scientific advancement in AI for Science and modeling and simulation.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t>HPSF obtains funds from its premier members that are used to support community interactions, including the HPSF Annual Conference (</a:t>
            </a:r>
            <a:r>
              <a:rPr lang="en-US" sz="1200" b="0" i="0" dirty="0" err="1"/>
              <a:t>HPSFCon</a:t>
            </a:r>
            <a:r>
              <a:rPr lang="en-US" sz="1200" b="0" i="0" dirty="0"/>
              <a:t>).  </a:t>
            </a:r>
            <a:r>
              <a:rPr lang="en-US" sz="1200" b="0" i="0" dirty="0" err="1"/>
              <a:t>HPSFCon</a:t>
            </a:r>
            <a:r>
              <a:rPr lang="en-US" sz="1200" b="0" i="0" dirty="0"/>
              <a:t> 2025 was the inaugural event in Chicago in May, bringing together more than 200 attendees from many organizations for the purpose of expanding the quality, quantity, and use of open-source high-performance software.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t>HPSF plays a unique role as a </a:t>
            </a:r>
            <a:r>
              <a:rPr lang="en-US" sz="1200" b="1" i="0" dirty="0"/>
              <a:t>neutral</a:t>
            </a:r>
            <a:r>
              <a:rPr lang="en-US" sz="1200" b="0" i="0" dirty="0"/>
              <a:t> organization that anyone can join and trust to promote the common good for the high-performance software community.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dirty="0"/>
              <a:t>For DOE/ASCR, HPSF plays a critical role in enabling others outside of DOE to contribute money, time, and effort to sustain DOE software investments, diversifying the support of successful DOE high-performance software products.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i="0" kern="0" dirty="0">
              <a:solidFill>
                <a:srgbClr val="000000"/>
              </a:solidFil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0" dirty="0">
                <a:solidFill>
                  <a:srgbClr val="000000"/>
                </a:solidFill>
                <a:cs typeface="Arial"/>
                <a:sym typeface="Arial"/>
              </a:rPr>
              <a:t>HPSF promises to be a natural software ecosystem expansion as a legacy to the US Exascale Computing Project.  </a:t>
            </a:r>
            <a:r>
              <a:rPr lang="en-US" sz="1200" i="0" kern="0" dirty="0">
                <a:solidFill>
                  <a:srgbClr val="000000"/>
                </a:solidFill>
                <a:cs typeface="Arial"/>
                <a:sym typeface="Arial"/>
              </a:rPr>
              <a:t>While ECP provided a first-of-a-kind focus on high-quality scientific software investments, it was limited to DOE and its direct agency, industry, and international collaborators.  HPSF has none of these restrictions and can expand to encompass high performance software activities that are critical to DOE, and to US competitiveness and national security.</a:t>
            </a:r>
            <a:endParaRPr kumimoji="0" lang="en-US" sz="2000" b="0" i="0" u="none" strike="noStrike" kern="0" cap="none" spc="0" normalizeH="0" baseline="0" noProof="0" dirty="0">
              <a:ln>
                <a:noFill/>
              </a:ln>
              <a:solidFill>
                <a:srgbClr val="000000"/>
              </a:solidFill>
              <a:effectLst/>
              <a:uLnTx/>
              <a:uFillTx/>
              <a:cs typeface="Arial"/>
              <a:sym typeface="Arial"/>
            </a:endParaRPr>
          </a:p>
          <a:p>
            <a:endParaRPr lang="en-US" dirty="0"/>
          </a:p>
        </p:txBody>
      </p:sp>
      <p:sp>
        <p:nvSpPr>
          <p:cNvPr id="4" name="Slide Number Placeholder 3"/>
          <p:cNvSpPr>
            <a:spLocks noGrp="1"/>
          </p:cNvSpPr>
          <p:nvPr>
            <p:ph type="sldNum" sz="quarter" idx="5"/>
          </p:nvPr>
        </p:nvSpPr>
        <p:spPr/>
        <p:txBody>
          <a:bodyPr/>
          <a:lstStyle/>
          <a:p>
            <a:fld id="{AA04650E-E198-4FA3-A1E8-C9B561D8C60E}" type="slidenum">
              <a:rPr lang="en-US" smtClean="0"/>
              <a:t>1</a:t>
            </a:fld>
            <a:endParaRPr lang="en-US"/>
          </a:p>
        </p:txBody>
      </p:sp>
    </p:spTree>
    <p:extLst>
      <p:ext uri="{BB962C8B-B14F-4D97-AF65-F5344CB8AC3E}">
        <p14:creationId xmlns:p14="http://schemas.microsoft.com/office/powerpoint/2010/main" val="7212326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6/23/25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4666609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6/23/25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382992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6/23/25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05351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6/23/25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6151777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6/23/25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535603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6/23/25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4586904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6/23/25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8443176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6/23/25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9938231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6/23/25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4585604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6/23/25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5537863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6/23/25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1754874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4" name="Rectangle 3">
            <a:extLst>
              <a:ext uri="{FF2B5EF4-FFF2-40B4-BE49-F238E27FC236}">
                <a16:creationId xmlns:a16="http://schemas.microsoft.com/office/drawing/2014/main" id="{9D265990-C2AC-43F4-A5F5-C94F93DD392D}"/>
              </a:ext>
            </a:extLst>
          </p:cNvPr>
          <p:cNvSpPr/>
          <p:nvPr userDrawn="1"/>
        </p:nvSpPr>
        <p:spPr>
          <a:xfrm>
            <a:off x="0" y="6320118"/>
            <a:ext cx="12192000" cy="537882"/>
          </a:xfrm>
          <a:prstGeom prst="rect">
            <a:avLst/>
          </a:prstGeom>
          <a:solidFill>
            <a:srgbClr val="0B2C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5"/>
          <p:cNvSpPr>
            <a:spLocks noGrp="1"/>
          </p:cNvSpPr>
          <p:nvPr>
            <p:ph type="sldNum" sz="quarter" idx="4"/>
          </p:nvPr>
        </p:nvSpPr>
        <p:spPr>
          <a:xfrm>
            <a:off x="4724400" y="6403005"/>
            <a:ext cx="2743200" cy="365125"/>
          </a:xfrm>
          <a:prstGeom prst="rect">
            <a:avLst/>
          </a:prstGeom>
        </p:spPr>
        <p:txBody>
          <a:bodyPr vert="horz" lIns="91440" tIns="45720" rIns="91440" bIns="45720" rtlCol="0" anchor="ctr"/>
          <a:lstStyle>
            <a:lvl1pPr algn="ctr">
              <a:defRPr sz="1400">
                <a:solidFill>
                  <a:schemeClr val="bg1"/>
                </a:solidFill>
                <a:latin typeface="AvenirNext LT Pro Regular" panose="020B0504020202020204" pitchFamily="34" charset="0"/>
              </a:defRPr>
            </a:lvl1pPr>
          </a:lstStyle>
          <a:p>
            <a:fld id="{835B6AD7-18B8-4C9C-AA70-ABD830A869AC}" type="slidenum">
              <a:rPr lang="en-US" smtClean="0"/>
              <a:t>‹#›</a:t>
            </a:fld>
            <a:endParaRPr lang="en-US"/>
          </a:p>
        </p:txBody>
      </p:sp>
      <p:pic>
        <p:nvPicPr>
          <p:cNvPr id="6" name="Picture 5"/>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12667" y="6373156"/>
            <a:ext cx="2149533" cy="394974"/>
          </a:xfrm>
          <a:prstGeom prst="rect">
            <a:avLst/>
          </a:prstGeom>
        </p:spPr>
      </p:pic>
      <p:sp>
        <p:nvSpPr>
          <p:cNvPr id="7" name="TextBox 6"/>
          <p:cNvSpPr txBox="1"/>
          <p:nvPr userDrawn="1"/>
        </p:nvSpPr>
        <p:spPr>
          <a:xfrm>
            <a:off x="9943949" y="6398798"/>
            <a:ext cx="2248051" cy="369332"/>
          </a:xfrm>
          <a:prstGeom prst="rect">
            <a:avLst/>
          </a:prstGeom>
          <a:noFill/>
        </p:spPr>
        <p:txBody>
          <a:bodyPr wrap="none" rtlCol="0">
            <a:spAutoFit/>
          </a:bodyPr>
          <a:lstStyle/>
          <a:p>
            <a:pPr algn="r"/>
            <a:r>
              <a:rPr lang="en-US">
                <a:solidFill>
                  <a:schemeClr val="bg1"/>
                </a:solidFill>
                <a:latin typeface="AvenirNext LT Pro Regular" panose="020B0504020202020204" pitchFamily="34" charset="0"/>
              </a:rPr>
              <a:t>Energy.gov/science</a:t>
            </a:r>
          </a:p>
        </p:txBody>
      </p:sp>
    </p:spTree>
    <p:extLst>
      <p:ext uri="{BB962C8B-B14F-4D97-AF65-F5344CB8AC3E}">
        <p14:creationId xmlns:p14="http://schemas.microsoft.com/office/powerpoint/2010/main" val="2441954933"/>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6/23/25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269098563"/>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9.png"/><Relationship Id="rId18" Type="http://schemas.openxmlformats.org/officeDocument/2006/relationships/image" Target="../media/image14.png"/><Relationship Id="rId3" Type="http://schemas.openxmlformats.org/officeDocument/2006/relationships/image" Target="../media/image2.png"/><Relationship Id="rId7" Type="http://schemas.openxmlformats.org/officeDocument/2006/relationships/image" Target="../media/image3.png"/><Relationship Id="rId12" Type="http://schemas.openxmlformats.org/officeDocument/2006/relationships/image" Target="../media/image8.png"/><Relationship Id="rId17" Type="http://schemas.openxmlformats.org/officeDocument/2006/relationships/image" Target="../media/image13.png"/><Relationship Id="rId2" Type="http://schemas.openxmlformats.org/officeDocument/2006/relationships/notesSlide" Target="../notesSlides/notesSlide1.xml"/><Relationship Id="rId16" Type="http://schemas.openxmlformats.org/officeDocument/2006/relationships/image" Target="../media/image12.png"/><Relationship Id="rId1" Type="http://schemas.openxmlformats.org/officeDocument/2006/relationships/slideLayout" Target="../slideLayouts/slideLayout12.xml"/><Relationship Id="rId6" Type="http://schemas.openxmlformats.org/officeDocument/2006/relationships/hyperlink" Target="https://pesoproject.org/" TargetMode="External"/><Relationship Id="rId11" Type="http://schemas.openxmlformats.org/officeDocument/2006/relationships/image" Target="../media/image7.png"/><Relationship Id="rId5" Type="http://schemas.openxmlformats.org/officeDocument/2006/relationships/hyperlink" Target="https://hpsf.io/event/hpsf-conference/" TargetMode="External"/><Relationship Id="rId15" Type="http://schemas.openxmlformats.org/officeDocument/2006/relationships/image" Target="../media/image11.png"/><Relationship Id="rId10" Type="http://schemas.openxmlformats.org/officeDocument/2006/relationships/image" Target="../media/image6.png"/><Relationship Id="rId19" Type="http://schemas.openxmlformats.org/officeDocument/2006/relationships/image" Target="../media/image15.png"/><Relationship Id="rId4" Type="http://schemas.openxmlformats.org/officeDocument/2006/relationships/hyperlink" Target="https://hpsf.io/" TargetMode="External"/><Relationship Id="rId9" Type="http://schemas.openxmlformats.org/officeDocument/2006/relationships/image" Target="../media/image5.png"/><Relationship Id="rId1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HPSF logo with a cartoon of computing hardware in green, blue, and red">
            <a:extLst>
              <a:ext uri="{FF2B5EF4-FFF2-40B4-BE49-F238E27FC236}">
                <a16:creationId xmlns:a16="http://schemas.microsoft.com/office/drawing/2014/main" id="{F70C1BAA-12BE-8754-8269-41BC117E3A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79605" y="312605"/>
            <a:ext cx="4423284" cy="2022072"/>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15">
            <a:extLst>
              <a:ext uri="{FF2B5EF4-FFF2-40B4-BE49-F238E27FC236}">
                <a16:creationId xmlns:a16="http://schemas.microsoft.com/office/drawing/2014/main" id="{46110527-3D5E-DE8A-91D6-0E66981F1564}"/>
              </a:ext>
            </a:extLst>
          </p:cNvPr>
          <p:cNvSpPr/>
          <p:nvPr/>
        </p:nvSpPr>
        <p:spPr>
          <a:xfrm>
            <a:off x="7057342" y="4720433"/>
            <a:ext cx="4864420" cy="1348384"/>
          </a:xfrm>
          <a:prstGeom prst="rect">
            <a:avLst/>
          </a:prstGeom>
          <a:solidFill>
            <a:srgbClr val="8281BD">
              <a:alpha val="12941"/>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C7CB983-3D4F-3FB4-37F0-5EBAA0E93936}"/>
              </a:ext>
            </a:extLst>
          </p:cNvPr>
          <p:cNvSpPr>
            <a:spLocks noGrp="1"/>
          </p:cNvSpPr>
          <p:nvPr>
            <p:ph type="title"/>
          </p:nvPr>
        </p:nvSpPr>
        <p:spPr>
          <a:xfrm>
            <a:off x="152774" y="23094"/>
            <a:ext cx="9043791" cy="608950"/>
          </a:xfrm>
        </p:spPr>
        <p:txBody>
          <a:bodyPr>
            <a:noAutofit/>
          </a:bodyPr>
          <a:lstStyle/>
          <a:p>
            <a:r>
              <a:rPr lang="en-US" sz="2800" b="1" dirty="0"/>
              <a:t>PESO Team Contributes to HPSF Growth and Impact</a:t>
            </a:r>
          </a:p>
        </p:txBody>
      </p:sp>
      <p:sp>
        <p:nvSpPr>
          <p:cNvPr id="7" name="Google Shape;25;p1">
            <a:extLst>
              <a:ext uri="{FF2B5EF4-FFF2-40B4-BE49-F238E27FC236}">
                <a16:creationId xmlns:a16="http://schemas.microsoft.com/office/drawing/2014/main" id="{35E5E467-2727-969B-98F3-BA95D001A982}"/>
              </a:ext>
            </a:extLst>
          </p:cNvPr>
          <p:cNvSpPr/>
          <p:nvPr/>
        </p:nvSpPr>
        <p:spPr>
          <a:xfrm>
            <a:off x="233294" y="535391"/>
            <a:ext cx="6935723" cy="190817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1" i="0" u="none" strike="noStrike" kern="0" cap="none" spc="0" normalizeH="0" baseline="0" noProof="0" dirty="0">
                <a:ln>
                  <a:noFill/>
                </a:ln>
                <a:effectLst/>
                <a:uLnTx/>
                <a:uFillTx/>
                <a:ea typeface="Arial"/>
                <a:cs typeface="Arial"/>
                <a:sym typeface="Arial"/>
              </a:rPr>
              <a:t>Scientific Achievement</a:t>
            </a:r>
            <a:endParaRPr kumimoji="0" sz="1400" b="0" i="0" u="none" strike="noStrike" kern="0" cap="none" spc="0" normalizeH="0" baseline="0" noProof="0" dirty="0">
              <a:ln>
                <a:noFill/>
              </a:ln>
              <a:effectLst/>
              <a:uLnTx/>
              <a:uFillTx/>
              <a:cs typeface="Arial"/>
              <a:sym typeface="Arial"/>
            </a:endParaRPr>
          </a:p>
          <a:p>
            <a:pPr marL="285750" indent="-285750">
              <a:buClr>
                <a:srgbClr val="000000"/>
              </a:buClr>
              <a:buFont typeface="Arial" panose="020B0604020202020204" pitchFamily="34" charset="0"/>
              <a:buChar char="•"/>
              <a:defRPr/>
            </a:pPr>
            <a:r>
              <a:rPr lang="en-US" sz="1400" b="1" kern="0" dirty="0">
                <a:ea typeface="Arial"/>
                <a:cs typeface="Arial"/>
                <a:sym typeface="Arial"/>
              </a:rPr>
              <a:t>The High Performance Software Foundation (HPSF), </a:t>
            </a:r>
            <a:r>
              <a:rPr lang="en-US" sz="1400" kern="0" dirty="0">
                <a:ea typeface="Arial"/>
                <a:cs typeface="Arial"/>
                <a:sym typeface="Arial"/>
              </a:rPr>
              <a:t>launched May 2024, supports  use and sustainment of apps, libraries and tools for leadership scientific computing</a:t>
            </a:r>
          </a:p>
          <a:p>
            <a:pPr marL="285750" indent="-285750">
              <a:buClr>
                <a:srgbClr val="000000"/>
              </a:buClr>
              <a:buFont typeface="Arial" panose="020B0604020202020204" pitchFamily="34" charset="0"/>
              <a:buChar char="•"/>
              <a:defRPr/>
            </a:pPr>
            <a:r>
              <a:rPr kumimoji="0" lang="en-US" sz="1400" b="0" i="0" u="none" strike="noStrike" kern="0" cap="none" spc="0" normalizeH="0" baseline="0" noProof="0" dirty="0">
                <a:ln>
                  <a:noFill/>
                </a:ln>
                <a:effectLst/>
                <a:uLnTx/>
                <a:uFillTx/>
                <a:ea typeface="Arial"/>
                <a:cs typeface="Arial"/>
                <a:sym typeface="Arial"/>
              </a:rPr>
              <a:t>HPSF promotes and incentivizes improved software quality, availability, and use through better team practices, processes, testing, and access to resources and events</a:t>
            </a:r>
          </a:p>
          <a:p>
            <a:pPr marL="285750" indent="-285750">
              <a:buClr>
                <a:srgbClr val="000000"/>
              </a:buClr>
              <a:buFont typeface="Arial" panose="020B0604020202020204" pitchFamily="34" charset="0"/>
              <a:buChar char="•"/>
              <a:defRPr/>
            </a:pPr>
            <a:r>
              <a:rPr lang="en-US" sz="1400" kern="0" dirty="0">
                <a:ea typeface="Arial"/>
                <a:cs typeface="Arial"/>
                <a:sym typeface="Arial"/>
              </a:rPr>
              <a:t>HPSFCon25 brought over 200 leaders from DOE, and key industry, agency, and international partners together in May 2025 into a vibrant conversation about software</a:t>
            </a:r>
            <a:endParaRPr kumimoji="0" lang="en-US" sz="1400" b="0" i="0" u="none" strike="noStrike" kern="0" cap="none" spc="0" normalizeH="0" baseline="0" noProof="0" dirty="0">
              <a:ln>
                <a:noFill/>
              </a:ln>
              <a:effectLst/>
              <a:uLnTx/>
              <a:uFillTx/>
              <a:ea typeface="Arial"/>
              <a:cs typeface="Arial"/>
              <a:sym typeface="Arial"/>
            </a:endParaRPr>
          </a:p>
          <a:p>
            <a:pPr marL="285750" indent="-285750">
              <a:buClr>
                <a:srgbClr val="000000"/>
              </a:buClr>
              <a:buFont typeface="Arial" panose="020B0604020202020204" pitchFamily="34" charset="0"/>
              <a:buChar char="•"/>
              <a:defRPr/>
            </a:pPr>
            <a:r>
              <a:rPr kumimoji="0" lang="en-US" sz="1400" b="1" i="0" u="none" strike="noStrike" kern="0" cap="none" spc="0" normalizeH="0" baseline="0" noProof="0" dirty="0">
                <a:ln>
                  <a:noFill/>
                </a:ln>
                <a:effectLst/>
                <a:uLnTx/>
                <a:uFillTx/>
                <a:ea typeface="Arial"/>
                <a:cs typeface="Arial"/>
                <a:sym typeface="Arial"/>
              </a:rPr>
              <a:t>PESO team efforts and resources have been integral to HPSF growth and success</a:t>
            </a:r>
            <a:endParaRPr kumimoji="0" lang="en-US" sz="1400" b="1" i="0" u="none" strike="noStrike" kern="0" cap="none" spc="0" normalizeH="0" baseline="0" noProof="0" dirty="0">
              <a:ln>
                <a:noFill/>
              </a:ln>
              <a:effectLst/>
              <a:uLnTx/>
              <a:uFillTx/>
              <a:cs typeface="Arial"/>
              <a:sym typeface="Arial"/>
            </a:endParaRPr>
          </a:p>
        </p:txBody>
      </p:sp>
      <p:sp>
        <p:nvSpPr>
          <p:cNvPr id="8" name="Google Shape;26;p1">
            <a:extLst>
              <a:ext uri="{FF2B5EF4-FFF2-40B4-BE49-F238E27FC236}">
                <a16:creationId xmlns:a16="http://schemas.microsoft.com/office/drawing/2014/main" id="{0607B843-0CBD-294A-51EC-D86D699F90C2}"/>
              </a:ext>
            </a:extLst>
          </p:cNvPr>
          <p:cNvSpPr/>
          <p:nvPr/>
        </p:nvSpPr>
        <p:spPr>
          <a:xfrm>
            <a:off x="249434" y="2334677"/>
            <a:ext cx="6693919" cy="1477287"/>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1" i="0" u="none" strike="noStrike" kern="0" cap="none" spc="0" normalizeH="0" baseline="0" noProof="0" dirty="0">
                <a:ln>
                  <a:noFill/>
                </a:ln>
                <a:effectLst/>
                <a:uLnTx/>
                <a:uFillTx/>
                <a:ea typeface="Arial"/>
                <a:cs typeface="Arial"/>
                <a:sym typeface="Arial"/>
              </a:rPr>
              <a:t>Significance and Impact</a:t>
            </a:r>
            <a:endParaRPr kumimoji="0" sz="1400" b="0" i="0" u="none" strike="noStrike" kern="0" cap="none" spc="0" normalizeH="0" baseline="0" noProof="0" dirty="0">
              <a:ln>
                <a:noFill/>
              </a:ln>
              <a:effectLst/>
              <a:uLnTx/>
              <a:uFillTx/>
              <a:cs typeface="Arial"/>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400" b="0" i="0" u="none" strike="noStrike" kern="0" cap="none" spc="0" normalizeH="0" baseline="0" noProof="0" dirty="0">
                <a:ln>
                  <a:noFill/>
                </a:ln>
                <a:effectLst/>
                <a:uLnTx/>
                <a:uFillTx/>
                <a:ea typeface="Arial"/>
                <a:cs typeface="Arial"/>
                <a:sym typeface="Arial"/>
              </a:rPr>
              <a:t>HPSF promises to be the critical community element that brings together all parties with common interests in high-quality, open-source, scientific software</a:t>
            </a:r>
          </a:p>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400" b="0" i="0" u="none" strike="noStrike" kern="0" cap="none" spc="0" normalizeH="0" baseline="0" noProof="0" dirty="0">
                <a:ln>
                  <a:noFill/>
                </a:ln>
                <a:effectLst/>
                <a:uLnTx/>
                <a:uFillTx/>
                <a:ea typeface="Arial"/>
                <a:cs typeface="Arial"/>
                <a:sym typeface="Arial"/>
              </a:rPr>
              <a:t>HPSF provides funding and collaboration that enable DOE, other US agencies, industry, and international groups to work together on common software interests</a:t>
            </a:r>
          </a:p>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400" b="1" i="0" u="none" strike="noStrike" kern="0" cap="none" spc="0" normalizeH="0" baseline="0" noProof="0" dirty="0">
                <a:ln>
                  <a:noFill/>
                </a:ln>
                <a:effectLst/>
                <a:uLnTx/>
                <a:uFillTx/>
                <a:ea typeface="Arial"/>
                <a:cs typeface="Arial"/>
                <a:sym typeface="Arial"/>
              </a:rPr>
              <a:t>HPSF provides a key element for sustaining DOE investments in scientific software</a:t>
            </a:r>
            <a:endParaRPr kumimoji="0" sz="1400" b="1" i="0" u="none" strike="noStrike" kern="0" cap="none" spc="0" normalizeH="0" baseline="0" noProof="0" dirty="0">
              <a:ln>
                <a:noFill/>
              </a:ln>
              <a:effectLst/>
              <a:uLnTx/>
              <a:uFillTx/>
              <a:cs typeface="Arial"/>
              <a:sym typeface="Arial"/>
            </a:endParaRPr>
          </a:p>
        </p:txBody>
      </p:sp>
      <p:sp>
        <p:nvSpPr>
          <p:cNvPr id="9" name="Google Shape;27;p1">
            <a:extLst>
              <a:ext uri="{FF2B5EF4-FFF2-40B4-BE49-F238E27FC236}">
                <a16:creationId xmlns:a16="http://schemas.microsoft.com/office/drawing/2014/main" id="{34B9808A-90A5-22A7-F1DB-47BF387DC938}"/>
              </a:ext>
            </a:extLst>
          </p:cNvPr>
          <p:cNvSpPr txBox="1"/>
          <p:nvPr/>
        </p:nvSpPr>
        <p:spPr>
          <a:xfrm>
            <a:off x="7185157" y="2116377"/>
            <a:ext cx="5021064" cy="2708393"/>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000" i="1" kern="0" dirty="0">
                <a:solidFill>
                  <a:srgbClr val="000000"/>
                </a:solidFill>
                <a:cs typeface="Arial"/>
                <a:sym typeface="Arial"/>
              </a:rPr>
              <a:t>“The High Performance Software Foundation (HPSF) is a neutral hub for open source high performance software. By increasing adoption, aiding community growth, and enabling development efforts, HPSF supports projects that advance portable software for diverse hardware. HPSF is lowering barriers to productive use of today’s and future high performance computing systems. HPSF is part of the nonprofit Linux Foundation.”  (Source: </a:t>
            </a:r>
            <a:r>
              <a:rPr lang="en-US" sz="1000" i="1" kern="0" dirty="0">
                <a:solidFill>
                  <a:srgbClr val="000000"/>
                </a:solidFill>
                <a:cs typeface="Arial"/>
                <a:sym typeface="Arial"/>
                <a:hlinkClick r:id="rId4"/>
              </a:rPr>
              <a:t>hpsf.io</a:t>
            </a:r>
            <a:r>
              <a:rPr lang="en-US" sz="1000" i="1" kern="0" dirty="0">
                <a:solidFill>
                  <a:srgbClr val="000000"/>
                </a:solidFill>
                <a:cs typeface="Arial"/>
                <a:sym typeface="Arial"/>
              </a:rPr>
              <a: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000" b="0" i="1" u="none" strike="noStrike" kern="0" cap="none" spc="0" normalizeH="0" baseline="0" noProof="0" dirty="0">
              <a:ln>
                <a:noFill/>
              </a:ln>
              <a:solidFill>
                <a:srgbClr val="000000"/>
              </a:solidFill>
              <a:effectLst/>
              <a:uLnTx/>
              <a:uFillTx/>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1" u="none" strike="noStrike" kern="0" cap="none" spc="0" normalizeH="0" baseline="0" noProof="0" dirty="0">
                <a:ln>
                  <a:noFill/>
                </a:ln>
                <a:solidFill>
                  <a:srgbClr val="000000"/>
                </a:solidFill>
                <a:effectLst/>
                <a:uLnTx/>
                <a:uFillTx/>
                <a:cs typeface="Arial"/>
                <a:sym typeface="Arial"/>
              </a:rPr>
              <a:t>PESO provides funding for key resources, including the “Frank” continuous integration (CI) testing platform that contains the latest in accelerator devices from NVIDIA, AMD, and Intel, and many CPU types for robust testing.</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0" i="1" u="none" strike="noStrike" kern="0" cap="none" spc="0" normalizeH="0" baseline="0" noProof="0" dirty="0">
                <a:ln>
                  <a:noFill/>
                </a:ln>
                <a:solidFill>
                  <a:srgbClr val="000000"/>
                </a:solidFill>
                <a:effectLst/>
                <a:uLnTx/>
                <a:uFillTx/>
                <a:cs typeface="Arial"/>
                <a:sym typeface="Arial"/>
              </a:rPr>
              <a:t>Many PESO Team members have significant HPSF involvement, including:</a:t>
            </a:r>
          </a:p>
          <a:p>
            <a:pPr marL="171450" marR="0" lvl="0" indent="-171450" algn="l" defTabSz="914400" rtl="0" eaLnBrk="1" fontAlgn="auto" latinLnBrk="0" hangingPunct="1">
              <a:lnSpc>
                <a:spcPct val="100000"/>
              </a:lnSpc>
              <a:spcBef>
                <a:spcPts val="0"/>
              </a:spcBef>
              <a:spcAft>
                <a:spcPts val="0"/>
              </a:spcAft>
              <a:buClr>
                <a:srgbClr val="000000"/>
              </a:buClr>
              <a:buSzTx/>
              <a:buFontTx/>
              <a:buChar char="-"/>
              <a:tabLst/>
              <a:defRPr/>
            </a:pPr>
            <a:r>
              <a:rPr kumimoji="0" lang="en-US" sz="1000" b="1" i="1" u="none" strike="noStrike" kern="0" cap="none" spc="0" normalizeH="0" baseline="0" noProof="0" dirty="0">
                <a:ln>
                  <a:noFill/>
                </a:ln>
                <a:solidFill>
                  <a:srgbClr val="000000"/>
                </a:solidFill>
                <a:effectLst/>
                <a:uLnTx/>
                <a:uFillTx/>
                <a:cs typeface="Arial"/>
                <a:sym typeface="Arial"/>
              </a:rPr>
              <a:t>Todd Gamblin</a:t>
            </a:r>
            <a:r>
              <a:rPr kumimoji="0" lang="en-US" sz="1000" b="0" i="1" u="none" strike="noStrike" kern="0" cap="none" spc="0" normalizeH="0" baseline="0" noProof="0" dirty="0">
                <a:ln>
                  <a:noFill/>
                </a:ln>
                <a:solidFill>
                  <a:srgbClr val="000000"/>
                </a:solidFill>
                <a:effectLst/>
                <a:uLnTx/>
                <a:uFillTx/>
                <a:cs typeface="Arial"/>
                <a:sym typeface="Arial"/>
              </a:rPr>
              <a:t>: HPSF founder, Governing Board (GB) Chair, lead HPSF Core Project Spack</a:t>
            </a:r>
          </a:p>
          <a:p>
            <a:pPr marL="171450" marR="0" lvl="0" indent="-171450" algn="l" defTabSz="914400" rtl="0" eaLnBrk="1" fontAlgn="auto" latinLnBrk="0" hangingPunct="1">
              <a:lnSpc>
                <a:spcPct val="100000"/>
              </a:lnSpc>
              <a:spcBef>
                <a:spcPts val="0"/>
              </a:spcBef>
              <a:spcAft>
                <a:spcPts val="0"/>
              </a:spcAft>
              <a:buClr>
                <a:srgbClr val="000000"/>
              </a:buClr>
              <a:buSzTx/>
              <a:buFontTx/>
              <a:buChar char="-"/>
              <a:tabLst/>
              <a:defRPr/>
            </a:pPr>
            <a:r>
              <a:rPr lang="en-US" sz="1000" b="1" i="1" kern="0" dirty="0">
                <a:solidFill>
                  <a:srgbClr val="000000"/>
                </a:solidFill>
                <a:cs typeface="Arial"/>
                <a:sym typeface="Arial"/>
              </a:rPr>
              <a:t>Damien Lebrun-Grandie: </a:t>
            </a:r>
            <a:r>
              <a:rPr lang="en-US" sz="1000" i="1" kern="0" dirty="0">
                <a:solidFill>
                  <a:srgbClr val="000000"/>
                </a:solidFill>
                <a:cs typeface="Arial"/>
                <a:sym typeface="Arial"/>
              </a:rPr>
              <a:t>GB member, HPSF Technical Advisory Committee (TAC) member</a:t>
            </a:r>
            <a:endParaRPr lang="en-US" sz="1400" kern="0" dirty="0">
              <a:solidFill>
                <a:srgbClr val="000000"/>
              </a:solidFill>
              <a:cs typeface="Arial"/>
              <a:sym typeface="Arial"/>
            </a:endParaRPr>
          </a:p>
          <a:p>
            <a:pPr marL="171450" lvl="0" indent="-171450">
              <a:buClr>
                <a:srgbClr val="000000"/>
              </a:buClr>
              <a:buFontTx/>
              <a:buChar char="-"/>
              <a:defRPr/>
            </a:pPr>
            <a:r>
              <a:rPr lang="en-US" sz="1000" b="1" i="1" kern="0" dirty="0">
                <a:solidFill>
                  <a:srgbClr val="000000"/>
                </a:solidFill>
                <a:cs typeface="Arial"/>
                <a:sym typeface="Arial"/>
              </a:rPr>
              <a:t>Bill Hoffman </a:t>
            </a:r>
            <a:r>
              <a:rPr lang="en-US" sz="1000" i="1" kern="0" dirty="0">
                <a:solidFill>
                  <a:srgbClr val="000000"/>
                </a:solidFill>
                <a:cs typeface="Arial"/>
                <a:sym typeface="Arial"/>
              </a:rPr>
              <a:t>(TAC), </a:t>
            </a:r>
            <a:r>
              <a:rPr lang="en-US" sz="1000" b="1" i="1" kern="0" dirty="0">
                <a:solidFill>
                  <a:srgbClr val="000000"/>
                </a:solidFill>
                <a:cs typeface="Arial"/>
                <a:sym typeface="Arial"/>
              </a:rPr>
              <a:t>Jim Willenbring</a:t>
            </a:r>
            <a:r>
              <a:rPr lang="en-US" sz="1000" i="1" kern="0" dirty="0">
                <a:solidFill>
                  <a:srgbClr val="000000"/>
                </a:solidFill>
                <a:cs typeface="Arial"/>
                <a:sym typeface="Arial"/>
              </a:rPr>
              <a:t>: TAC, E4S Technical Steering Committee (TSC), </a:t>
            </a:r>
            <a:r>
              <a:rPr lang="en-US" sz="1000" b="1" i="1" kern="0" dirty="0">
                <a:solidFill>
                  <a:srgbClr val="000000"/>
                </a:solidFill>
                <a:cs typeface="Arial"/>
                <a:sym typeface="Arial"/>
              </a:rPr>
              <a:t>Sameer Shende</a:t>
            </a:r>
            <a:r>
              <a:rPr lang="en-US" sz="1000" i="1" kern="0" dirty="0">
                <a:solidFill>
                  <a:srgbClr val="000000"/>
                </a:solidFill>
                <a:cs typeface="Arial"/>
                <a:sym typeface="Arial"/>
              </a:rPr>
              <a:t>, E4S Project Lead/TSC member, </a:t>
            </a:r>
            <a:r>
              <a:rPr lang="en-US" sz="1000" b="1" i="1" kern="0" dirty="0">
                <a:solidFill>
                  <a:srgbClr val="000000"/>
                </a:solidFill>
                <a:cs typeface="Arial"/>
                <a:sym typeface="Arial"/>
              </a:rPr>
              <a:t>Greg Becker</a:t>
            </a:r>
            <a:r>
              <a:rPr lang="en-US" sz="1000" i="1" kern="0" dirty="0">
                <a:solidFill>
                  <a:srgbClr val="000000"/>
                </a:solidFill>
                <a:cs typeface="Arial"/>
                <a:sym typeface="Arial"/>
              </a:rPr>
              <a:t>, Spack, </a:t>
            </a:r>
            <a:r>
              <a:rPr lang="en-US" sz="1000" b="1" i="1" kern="0" dirty="0">
                <a:solidFill>
                  <a:srgbClr val="000000"/>
                </a:solidFill>
                <a:cs typeface="Arial"/>
                <a:sym typeface="Arial"/>
              </a:rPr>
              <a:t>Tammy Dahlgren, </a:t>
            </a:r>
            <a:r>
              <a:rPr lang="en-US" sz="1000" i="1" kern="0" dirty="0">
                <a:solidFill>
                  <a:srgbClr val="000000"/>
                </a:solidFill>
                <a:cs typeface="Arial"/>
                <a:sym typeface="Arial"/>
              </a:rPr>
              <a:t>Spack,</a:t>
            </a:r>
            <a:r>
              <a:rPr lang="en-US" sz="1000" b="1" i="1" kern="0" dirty="0">
                <a:solidFill>
                  <a:srgbClr val="000000"/>
                </a:solidFill>
                <a:cs typeface="Arial"/>
                <a:sym typeface="Arial"/>
              </a:rPr>
              <a:t> Ryan Krattiger</a:t>
            </a:r>
            <a:r>
              <a:rPr lang="en-US" sz="1000" i="1" kern="0" dirty="0">
                <a:solidFill>
                  <a:srgbClr val="000000"/>
                </a:solidFill>
                <a:cs typeface="Arial"/>
                <a:sym typeface="Arial"/>
              </a:rPr>
              <a:t>, Spack, </a:t>
            </a:r>
            <a:r>
              <a:rPr lang="en-US" sz="1000" b="1" i="1" kern="0" dirty="0">
                <a:solidFill>
                  <a:srgbClr val="000000"/>
                </a:solidFill>
                <a:cs typeface="Arial"/>
                <a:sym typeface="Arial"/>
              </a:rPr>
              <a:t>Satish Balay</a:t>
            </a:r>
            <a:r>
              <a:rPr lang="en-US" sz="1000" i="1" kern="0" dirty="0">
                <a:solidFill>
                  <a:srgbClr val="000000"/>
                </a:solidFill>
                <a:cs typeface="Arial"/>
                <a:sym typeface="Arial"/>
              </a:rPr>
              <a:t>, E4S,</a:t>
            </a:r>
            <a:r>
              <a:rPr lang="en-US" sz="1000" b="1" i="1" kern="0" dirty="0">
                <a:solidFill>
                  <a:srgbClr val="000000"/>
                </a:solidFill>
                <a:cs typeface="Arial"/>
                <a:sym typeface="Arial"/>
              </a:rPr>
              <a:t> Luke Peyralans, </a:t>
            </a:r>
            <a:r>
              <a:rPr lang="en-US" sz="1000" i="1" kern="0" dirty="0">
                <a:solidFill>
                  <a:srgbClr val="000000"/>
                </a:solidFill>
                <a:cs typeface="Arial"/>
                <a:sym typeface="Arial"/>
              </a:rPr>
              <a:t>E4S, </a:t>
            </a:r>
            <a:r>
              <a:rPr lang="en-US" sz="1000" b="1" i="1" kern="0" dirty="0">
                <a:solidFill>
                  <a:srgbClr val="000000"/>
                </a:solidFill>
                <a:cs typeface="Arial"/>
                <a:sym typeface="Arial"/>
              </a:rPr>
              <a:t>Wyatt Spear, </a:t>
            </a:r>
            <a:r>
              <a:rPr lang="en-US" sz="1000" i="1" kern="0" dirty="0">
                <a:solidFill>
                  <a:srgbClr val="000000"/>
                </a:solidFill>
                <a:cs typeface="Arial"/>
                <a:sym typeface="Arial"/>
              </a:rPr>
              <a:t>E4S, </a:t>
            </a:r>
            <a:r>
              <a:rPr lang="en-US" sz="1000" b="1" i="1" kern="0" dirty="0">
                <a:solidFill>
                  <a:srgbClr val="000000"/>
                </a:solidFill>
                <a:cs typeface="Arial"/>
                <a:sym typeface="Arial"/>
              </a:rPr>
              <a:t>Mike Heroux</a:t>
            </a:r>
            <a:r>
              <a:rPr lang="en-US" sz="1000" i="1" kern="0" dirty="0">
                <a:solidFill>
                  <a:srgbClr val="000000"/>
                </a:solidFill>
                <a:cs typeface="Arial"/>
                <a:sym typeface="Arial"/>
              </a:rPr>
              <a:t>, E4S TSC member, HPSF “Cheerleader”</a:t>
            </a:r>
          </a:p>
          <a:p>
            <a:pPr marL="171450" marR="0" lvl="0" indent="-171450" algn="l" defTabSz="914400" rtl="0" eaLnBrk="1" fontAlgn="auto" latinLnBrk="0" hangingPunct="1">
              <a:lnSpc>
                <a:spcPct val="100000"/>
              </a:lnSpc>
              <a:spcBef>
                <a:spcPts val="0"/>
              </a:spcBef>
              <a:spcAft>
                <a:spcPts val="0"/>
              </a:spcAft>
              <a:buClr>
                <a:srgbClr val="000000"/>
              </a:buClr>
              <a:buSzTx/>
              <a:buFontTx/>
              <a:buChar char="-"/>
              <a:tabLst/>
              <a:defRPr/>
            </a:pPr>
            <a:endParaRPr lang="en-US" sz="1000" i="1" kern="0" dirty="0">
              <a:solidFill>
                <a:srgbClr val="000000"/>
              </a:solidFill>
              <a:cs typeface="Arial"/>
              <a:sym typeface="Arial"/>
            </a:endParaRPr>
          </a:p>
        </p:txBody>
      </p:sp>
      <p:sp>
        <p:nvSpPr>
          <p:cNvPr id="11" name="Google Shape;29;p1">
            <a:extLst>
              <a:ext uri="{FF2B5EF4-FFF2-40B4-BE49-F238E27FC236}">
                <a16:creationId xmlns:a16="http://schemas.microsoft.com/office/drawing/2014/main" id="{F719EDE8-762E-1830-067F-4414F9F31C7C}"/>
              </a:ext>
            </a:extLst>
          </p:cNvPr>
          <p:cNvSpPr/>
          <p:nvPr/>
        </p:nvSpPr>
        <p:spPr>
          <a:xfrm>
            <a:off x="233294" y="3703076"/>
            <a:ext cx="6693919" cy="126184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1" i="0" u="none" strike="noStrike" kern="0" cap="none" spc="0" normalizeH="0" baseline="0" noProof="0" dirty="0">
                <a:ln>
                  <a:noFill/>
                </a:ln>
                <a:effectLst/>
                <a:uLnTx/>
                <a:uFillTx/>
                <a:ea typeface="Arial"/>
                <a:cs typeface="Arial"/>
                <a:sym typeface="Arial"/>
              </a:rPr>
              <a:t>Technical Approach</a:t>
            </a:r>
            <a:endParaRPr kumimoji="0" sz="1400" b="0" i="0" u="none" strike="noStrike" kern="0" cap="none" spc="0" normalizeH="0" baseline="0" noProof="0" dirty="0">
              <a:ln>
                <a:noFill/>
              </a:ln>
              <a:effectLst/>
              <a:uLnTx/>
              <a:uFillTx/>
              <a:cs typeface="Arial"/>
              <a:sym typeface="Arial"/>
            </a:endParaRPr>
          </a:p>
          <a:p>
            <a:pPr marL="285750" marR="0" lvl="0" indent="-285750" algn="l" defTabSz="914400" rtl="0" eaLnBrk="1" fontAlgn="auto" latinLnBrk="0" hangingPunct="1">
              <a:lnSpc>
                <a:spcPct val="100000"/>
              </a:lnSpc>
              <a:spcBef>
                <a:spcPts val="0"/>
              </a:spcBef>
              <a:spcAft>
                <a:spcPts val="0"/>
              </a:spcAft>
              <a:buClr>
                <a:srgbClr val="000000"/>
              </a:buClr>
              <a:buSzPts val="1400"/>
              <a:buFont typeface="Arial"/>
              <a:buChar char="•"/>
              <a:tabLst/>
              <a:defRPr/>
            </a:pPr>
            <a:r>
              <a:rPr kumimoji="0" lang="en-US" sz="1400" b="0" i="0" u="none" strike="noStrike" kern="0" cap="none" spc="0" normalizeH="0" baseline="0" noProof="0" dirty="0">
                <a:ln>
                  <a:noFill/>
                </a:ln>
                <a:effectLst/>
                <a:uLnTx/>
                <a:uFillTx/>
                <a:ea typeface="Arial"/>
                <a:cs typeface="Arial"/>
                <a:sym typeface="Arial"/>
              </a:rPr>
              <a:t>PESO members play key HPSF leadership roles. 10 PESO members attended </a:t>
            </a:r>
            <a:r>
              <a:rPr kumimoji="0" lang="en-US" sz="1400" b="0" i="0" u="none" strike="noStrike" kern="0" cap="none" spc="0" normalizeH="0" baseline="0" noProof="0" dirty="0" err="1">
                <a:ln>
                  <a:noFill/>
                </a:ln>
                <a:effectLst/>
                <a:uLnTx/>
                <a:uFillTx/>
                <a:ea typeface="Arial"/>
                <a:cs typeface="Arial"/>
                <a:sym typeface="Arial"/>
              </a:rPr>
              <a:t>HPSFCon</a:t>
            </a:r>
            <a:endParaRPr lang="en-US" sz="1400" b="0" i="0" u="none" strike="noStrike" kern="0" cap="none" spc="0" normalizeH="0" baseline="0" noProof="0" dirty="0">
              <a:ln>
                <a:noFill/>
              </a:ln>
              <a:effectLst/>
              <a:uLnTx/>
              <a:uFillTx/>
              <a:ea typeface="Arial"/>
              <a:cs typeface="Arial"/>
            </a:endParaRPr>
          </a:p>
          <a:p>
            <a:pPr marL="285750" indent="-285750">
              <a:buClr>
                <a:srgbClr val="000000"/>
              </a:buClr>
              <a:buSzPts val="1400"/>
              <a:buFont typeface="Arial"/>
              <a:buChar char="•"/>
              <a:defRPr/>
            </a:pPr>
            <a:r>
              <a:rPr lang="en-US" sz="1400" kern="0" dirty="0">
                <a:cs typeface="Arial"/>
              </a:rPr>
              <a:t>PESO-supported products Spack and E4S are HPSF member products</a:t>
            </a:r>
          </a:p>
          <a:p>
            <a:pPr marL="285750" marR="0" lvl="0" indent="-285750" algn="l" defTabSz="914400" rtl="0" eaLnBrk="1" fontAlgn="auto" latinLnBrk="0" hangingPunct="1">
              <a:lnSpc>
                <a:spcPct val="100000"/>
              </a:lnSpc>
              <a:spcBef>
                <a:spcPts val="0"/>
              </a:spcBef>
              <a:spcAft>
                <a:spcPts val="0"/>
              </a:spcAft>
              <a:buClr>
                <a:srgbClr val="000000"/>
              </a:buClr>
              <a:buSzPts val="1400"/>
              <a:buFont typeface="Arial"/>
              <a:buChar char="•"/>
              <a:tabLst/>
              <a:defRPr/>
            </a:pPr>
            <a:r>
              <a:rPr kumimoji="0" lang="en-US" sz="1400" b="0" i="0" u="none" strike="noStrike" kern="0" cap="none" spc="0" normalizeH="0" baseline="0" noProof="0" dirty="0">
                <a:ln>
                  <a:noFill/>
                </a:ln>
                <a:effectLst/>
                <a:uLnTx/>
                <a:uFillTx/>
                <a:cs typeface="Arial"/>
                <a:sym typeface="Arial"/>
              </a:rPr>
              <a:t>PESO-supported software integration staffing and the ”Frank” system with the latest GPU nodes provides critical CI testing for HPSF products</a:t>
            </a:r>
            <a:endParaRPr kumimoji="0" sz="1400" b="0" i="0" u="none" strike="noStrike" kern="0" cap="none" spc="0" normalizeH="0" baseline="0" noProof="0" dirty="0">
              <a:ln>
                <a:noFill/>
              </a:ln>
              <a:effectLst/>
              <a:uLnTx/>
              <a:uFillTx/>
              <a:cs typeface="Arial"/>
              <a:sym typeface="Arial"/>
            </a:endParaRPr>
          </a:p>
        </p:txBody>
      </p:sp>
      <p:sp>
        <p:nvSpPr>
          <p:cNvPr id="15" name="TextBox 14">
            <a:extLst>
              <a:ext uri="{FF2B5EF4-FFF2-40B4-BE49-F238E27FC236}">
                <a16:creationId xmlns:a16="http://schemas.microsoft.com/office/drawing/2014/main" id="{1C742054-4F8C-D401-63CE-FEFFCD6C2810}"/>
              </a:ext>
            </a:extLst>
          </p:cNvPr>
          <p:cNvSpPr txBox="1"/>
          <p:nvPr/>
        </p:nvSpPr>
        <p:spPr>
          <a:xfrm>
            <a:off x="7175041" y="4791544"/>
            <a:ext cx="4884963" cy="127727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ea typeface="+mn-ea"/>
                <a:cs typeface="+mn-cs"/>
                <a:sym typeface="Arial"/>
              </a:rPr>
              <a:t>PIs: Michael Heroux, (ParaTools, Inc.), Lois Curfman McInnes (Argonne)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kern="0" dirty="0">
                <a:solidFill>
                  <a:srgbClr val="000000"/>
                </a:solidFill>
                <a:sym typeface="Arial"/>
              </a:rPr>
              <a:t>HPSF/Spack lead: Todd Gamblin (LLNL), E4S lead: Sameer Shende (U of Oregon)</a:t>
            </a:r>
            <a:endParaRPr kumimoji="0" lang="en-US" sz="1100" b="0" i="0" u="none" strike="noStrike" kern="0" cap="none" spc="0" normalizeH="0" baseline="0" noProof="0" dirty="0">
              <a:ln>
                <a:noFill/>
              </a:ln>
              <a:solidFill>
                <a:srgbClr val="000000"/>
              </a:solidFill>
              <a:effectLst/>
              <a:uLnTx/>
              <a:uFillTx/>
              <a:ea typeface="+mn-ea"/>
              <a:cs typeface="+mn-cs"/>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ea typeface="+mn-ea"/>
                <a:cs typeface="+mn-cs"/>
                <a:sym typeface="Arial"/>
              </a:rPr>
              <a:t>Collaborating Institutions: ANL, U of Oregon/ParaTools, LLNL, ORNL, Kitware, SNL</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ea typeface="+mn-ea"/>
                <a:cs typeface="+mn-cs"/>
                <a:sym typeface="Arial"/>
              </a:rPr>
              <a:t>ASCR Program: Next-Generation Scientific Software Technologies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ea typeface="+mn-ea"/>
                <a:cs typeface="+mn-cs"/>
                <a:sym typeface="Arial"/>
              </a:rPr>
              <a:t>ASCR PM: </a:t>
            </a:r>
            <a:r>
              <a:rPr lang="en-US" sz="1100" kern="0" dirty="0">
                <a:solidFill>
                  <a:srgbClr val="000000"/>
                </a:solidFill>
                <a:sym typeface="Arial"/>
              </a:rPr>
              <a:t>David Rabson</a:t>
            </a:r>
            <a:endParaRPr kumimoji="0" lang="en-US" sz="1100" b="0" i="0" u="none" strike="noStrike" kern="0" cap="none" spc="0" normalizeH="0" baseline="0" noProof="0" dirty="0">
              <a:ln>
                <a:noFill/>
              </a:ln>
              <a:solidFill>
                <a:srgbClr val="000000"/>
              </a:solidFill>
              <a:effectLst/>
              <a:uLnTx/>
              <a:uFillTx/>
              <a:ea typeface="+mn-ea"/>
              <a:cs typeface="+mn-cs"/>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000"/>
                </a:solidFill>
                <a:effectLst/>
                <a:uLnTx/>
                <a:uFillTx/>
                <a:ea typeface="+mn-ea"/>
                <a:cs typeface="+mn-cs"/>
                <a:sym typeface="Arial"/>
              </a:rPr>
              <a:t>High Performance Software Foundation website: </a:t>
            </a:r>
            <a:r>
              <a:rPr kumimoji="0" lang="en-US" sz="1100" b="0" i="0" u="none" strike="noStrike" kern="0" cap="none" spc="0" normalizeH="0" baseline="0" noProof="0" dirty="0">
                <a:ln>
                  <a:noFill/>
                </a:ln>
                <a:solidFill>
                  <a:srgbClr val="000000"/>
                </a:solidFill>
                <a:effectLst/>
                <a:uLnTx/>
                <a:uFillTx/>
                <a:ea typeface="+mn-ea"/>
                <a:cs typeface="+mn-cs"/>
                <a:sym typeface="Arial"/>
                <a:hlinkClick r:id="rId4"/>
              </a:rPr>
              <a:t>https://hpsf.io</a:t>
            </a:r>
            <a:r>
              <a:rPr kumimoji="0" lang="en-US" sz="1100" b="0" i="0" u="none" strike="noStrike" kern="0" cap="none" spc="0" normalizeH="0" baseline="0" noProof="0" dirty="0">
                <a:ln>
                  <a:noFill/>
                </a:ln>
                <a:solidFill>
                  <a:srgbClr val="000000"/>
                </a:solidFill>
                <a:effectLst/>
                <a:uLnTx/>
                <a:uFillTx/>
                <a:ea typeface="+mn-ea"/>
                <a:cs typeface="+mn-cs"/>
                <a:sym typeface="Arial"/>
              </a:rPr>
              <a:t> </a:t>
            </a:r>
            <a:br>
              <a:rPr lang="en-US" sz="1100" kern="0" dirty="0">
                <a:solidFill>
                  <a:srgbClr val="000000"/>
                </a:solidFill>
                <a:sym typeface="Arial"/>
              </a:rPr>
            </a:br>
            <a:r>
              <a:rPr lang="en-US" sz="1100" kern="0" dirty="0" err="1">
                <a:solidFill>
                  <a:srgbClr val="000000"/>
                </a:solidFill>
                <a:sym typeface="Arial"/>
              </a:rPr>
              <a:t>HPSFCon</a:t>
            </a:r>
            <a:r>
              <a:rPr lang="en-US" sz="1100" kern="0" dirty="0">
                <a:solidFill>
                  <a:srgbClr val="000000"/>
                </a:solidFill>
                <a:sym typeface="Arial"/>
              </a:rPr>
              <a:t> website: </a:t>
            </a:r>
            <a:r>
              <a:rPr lang="en-US" sz="1100" kern="0" dirty="0">
                <a:solidFill>
                  <a:srgbClr val="000000"/>
                </a:solidFill>
                <a:sym typeface="Arial"/>
                <a:hlinkClick r:id="rId5"/>
              </a:rPr>
              <a:t>https://hpsf.io/event/hpsf-conference/</a:t>
            </a:r>
            <a:r>
              <a:rPr lang="en-US" sz="1100" kern="0" dirty="0">
                <a:solidFill>
                  <a:srgbClr val="000000"/>
                </a:solidFill>
                <a:sym typeface="Arial"/>
              </a:rPr>
              <a:t> </a:t>
            </a:r>
            <a:endParaRPr kumimoji="0" lang="en-US" sz="1100" b="0" i="0" u="none" strike="noStrike" kern="0" cap="none" spc="0" normalizeH="0" baseline="0" noProof="0" dirty="0">
              <a:ln>
                <a:noFill/>
              </a:ln>
              <a:solidFill>
                <a:srgbClr val="000000"/>
              </a:solidFill>
              <a:effectLst/>
              <a:uLnTx/>
              <a:uFillTx/>
              <a:ea typeface="+mn-ea"/>
              <a:cs typeface="+mn-cs"/>
              <a:sym typeface="Arial"/>
            </a:endParaRPr>
          </a:p>
        </p:txBody>
      </p:sp>
      <p:grpSp>
        <p:nvGrpSpPr>
          <p:cNvPr id="17" name="Group 16">
            <a:extLst>
              <a:ext uri="{FF2B5EF4-FFF2-40B4-BE49-F238E27FC236}">
                <a16:creationId xmlns:a16="http://schemas.microsoft.com/office/drawing/2014/main" id="{C924034C-6666-2D6C-3754-A1C2013A1AB4}"/>
              </a:ext>
            </a:extLst>
          </p:cNvPr>
          <p:cNvGrpSpPr/>
          <p:nvPr/>
        </p:nvGrpSpPr>
        <p:grpSpPr>
          <a:xfrm>
            <a:off x="46133" y="4994937"/>
            <a:ext cx="6809829" cy="1219473"/>
            <a:chOff x="46133" y="4994937"/>
            <a:chExt cx="6809829" cy="1219473"/>
          </a:xfrm>
        </p:grpSpPr>
        <p:sp>
          <p:nvSpPr>
            <p:cNvPr id="47" name="TextBox 46">
              <a:extLst>
                <a:ext uri="{FF2B5EF4-FFF2-40B4-BE49-F238E27FC236}">
                  <a16:creationId xmlns:a16="http://schemas.microsoft.com/office/drawing/2014/main" id="{9DF756B8-22F7-0A6B-262E-22DCD05C26DA}"/>
                </a:ext>
              </a:extLst>
            </p:cNvPr>
            <p:cNvSpPr txBox="1"/>
            <p:nvPr/>
          </p:nvSpPr>
          <p:spPr>
            <a:xfrm>
              <a:off x="204870" y="5914328"/>
              <a:ext cx="6567952" cy="300082"/>
            </a:xfrm>
            <a:prstGeom prst="rect">
              <a:avLst/>
            </a:prstGeom>
            <a:noFill/>
          </p:spPr>
          <p:txBody>
            <a:bodyPr wrap="none" rtlCol="0">
              <a:spAutoFit/>
            </a:bodyPr>
            <a:lstStyle/>
            <a:p>
              <a:r>
                <a:rPr lang="en-US" sz="1350" i="1" dirty="0"/>
                <a:t>Stewarding and advancing the current and future ecosystem of HPC-AI computing software</a:t>
              </a:r>
            </a:p>
          </p:txBody>
        </p:sp>
        <p:grpSp>
          <p:nvGrpSpPr>
            <p:cNvPr id="12" name="Group 11">
              <a:extLst>
                <a:ext uri="{FF2B5EF4-FFF2-40B4-BE49-F238E27FC236}">
                  <a16:creationId xmlns:a16="http://schemas.microsoft.com/office/drawing/2014/main" id="{44BAA8EE-49E8-A7BD-F7B7-EE6957FE1C02}"/>
                </a:ext>
              </a:extLst>
            </p:cNvPr>
            <p:cNvGrpSpPr/>
            <p:nvPr/>
          </p:nvGrpSpPr>
          <p:grpSpPr>
            <a:xfrm>
              <a:off x="46133" y="5085479"/>
              <a:ext cx="1688848" cy="932420"/>
              <a:chOff x="46133" y="5085479"/>
              <a:chExt cx="1688848" cy="932420"/>
            </a:xfrm>
          </p:grpSpPr>
          <p:sp>
            <p:nvSpPr>
              <p:cNvPr id="72" name="Google Shape;791;p15">
                <a:extLst>
                  <a:ext uri="{FF2B5EF4-FFF2-40B4-BE49-F238E27FC236}">
                    <a16:creationId xmlns:a16="http://schemas.microsoft.com/office/drawing/2014/main" id="{1F9FE1DA-404D-04E7-D349-D448AF731D57}"/>
                  </a:ext>
                </a:extLst>
              </p:cNvPr>
              <p:cNvSpPr txBox="1"/>
              <p:nvPr/>
            </p:nvSpPr>
            <p:spPr>
              <a:xfrm>
                <a:off x="46133" y="5773426"/>
                <a:ext cx="1688848" cy="244473"/>
              </a:xfrm>
              <a:prstGeom prst="rect">
                <a:avLst/>
              </a:prstGeom>
              <a:noFill/>
              <a:ln>
                <a:noFill/>
              </a:ln>
            </p:spPr>
            <p:txBody>
              <a:bodyPr spcFirstLastPara="1" wrap="square" lIns="0" tIns="0" rIns="0" bIns="0" anchor="t" anchorCtr="0">
                <a:noAutofit/>
              </a:bodyPr>
              <a:lstStyle>
                <a:defPPr>
                  <a:defRPr lang="en-US"/>
                </a:defPPr>
                <a:lvl1pPr algn="r">
                  <a:lnSpc>
                    <a:spcPct val="90000"/>
                  </a:lnSpc>
                  <a:defRPr sz="600" b="1" spc="-20">
                    <a:solidFill>
                      <a:schemeClr val="bg1">
                        <a:lumMod val="50000"/>
                      </a:schemeClr>
                    </a:solidFill>
                    <a:latin typeface="Arial"/>
                    <a:ea typeface="Arial"/>
                    <a:cs typeface="Arial"/>
                  </a:defRPr>
                </a:lvl1pPr>
              </a:lstStyle>
              <a:p>
                <a:pPr algn="ctr" defTabSz="609585">
                  <a:buClrTx/>
                </a:pPr>
                <a:r>
                  <a:rPr lang="en-US" sz="1100" b="0" kern="1200" spc="-27" dirty="0">
                    <a:solidFill>
                      <a:srgbClr val="FFFFFF">
                        <a:lumMod val="50000"/>
                      </a:srgbClr>
                    </a:solidFill>
                    <a:hlinkClick r:id="rId6"/>
                  </a:rPr>
                  <a:t>https://pesoproject.org</a:t>
                </a:r>
                <a:r>
                  <a:rPr lang="en-US" sz="1100" b="0" kern="1200" spc="-27" dirty="0">
                    <a:solidFill>
                      <a:srgbClr val="FFFFFF">
                        <a:lumMod val="50000"/>
                      </a:srgbClr>
                    </a:solidFill>
                  </a:rPr>
                  <a:t> </a:t>
                </a:r>
                <a:endParaRPr sz="1100" b="0" kern="1200" spc="-27" dirty="0">
                  <a:solidFill>
                    <a:srgbClr val="FFFFFF">
                      <a:lumMod val="50000"/>
                    </a:srgbClr>
                  </a:solidFill>
                </a:endParaRPr>
              </a:p>
            </p:txBody>
          </p:sp>
          <p:pic>
            <p:nvPicPr>
              <p:cNvPr id="45" name="Google Shape;916;p18" descr="A picture containing graphics, logo, font, symbol&#10;&#10;Description automatically generated">
                <a:extLst>
                  <a:ext uri="{FF2B5EF4-FFF2-40B4-BE49-F238E27FC236}">
                    <a16:creationId xmlns:a16="http://schemas.microsoft.com/office/drawing/2014/main" id="{1219AE27-ACBF-8385-BC88-643F8607C46F}"/>
                  </a:ext>
                </a:extLst>
              </p:cNvPr>
              <p:cNvPicPr preferRelativeResize="0">
                <a:picLocks noChangeAspect="1"/>
              </p:cNvPicPr>
              <p:nvPr/>
            </p:nvPicPr>
            <p:blipFill rotWithShape="1">
              <a:blip r:embed="rId7">
                <a:alphaModFix/>
              </a:blip>
              <a:srcRect r="-585"/>
              <a:stretch/>
            </p:blipFill>
            <p:spPr>
              <a:xfrm>
                <a:off x="333357" y="5085479"/>
                <a:ext cx="968422" cy="628201"/>
              </a:xfrm>
              <a:prstGeom prst="rect">
                <a:avLst/>
              </a:prstGeom>
              <a:noFill/>
              <a:ln>
                <a:noFill/>
              </a:ln>
            </p:spPr>
          </p:pic>
        </p:grpSp>
        <p:grpSp>
          <p:nvGrpSpPr>
            <p:cNvPr id="14" name="Group 13">
              <a:extLst>
                <a:ext uri="{FF2B5EF4-FFF2-40B4-BE49-F238E27FC236}">
                  <a16:creationId xmlns:a16="http://schemas.microsoft.com/office/drawing/2014/main" id="{CFF8EDA8-3983-DE89-74FF-8AB76A3FC654}"/>
                </a:ext>
              </a:extLst>
            </p:cNvPr>
            <p:cNvGrpSpPr/>
            <p:nvPr/>
          </p:nvGrpSpPr>
          <p:grpSpPr>
            <a:xfrm>
              <a:off x="1707697" y="5141051"/>
              <a:ext cx="4936025" cy="737147"/>
              <a:chOff x="1707697" y="5141051"/>
              <a:chExt cx="4936025" cy="737147"/>
            </a:xfrm>
          </p:grpSpPr>
          <p:pic>
            <p:nvPicPr>
              <p:cNvPr id="49" name="Google Shape;651;p13" descr="Lawrence Livermore National Laboratory">
                <a:extLst>
                  <a:ext uri="{FF2B5EF4-FFF2-40B4-BE49-F238E27FC236}">
                    <a16:creationId xmlns:a16="http://schemas.microsoft.com/office/drawing/2014/main" id="{7AA3743E-E747-8934-7CD3-6A52AE426687}"/>
                  </a:ext>
                </a:extLst>
              </p:cNvPr>
              <p:cNvPicPr preferRelativeResize="0">
                <a:picLocks noChangeAspect="1"/>
              </p:cNvPicPr>
              <p:nvPr/>
            </p:nvPicPr>
            <p:blipFill rotWithShape="1">
              <a:blip r:embed="rId8" cstate="hqprint">
                <a:alphaModFix/>
                <a:extLst>
                  <a:ext uri="{28A0092B-C50C-407E-A947-70E740481C1C}">
                    <a14:useLocalDpi xmlns:a14="http://schemas.microsoft.com/office/drawing/2010/main"/>
                  </a:ext>
                </a:extLst>
              </a:blip>
              <a:srcRect/>
              <a:stretch/>
            </p:blipFill>
            <p:spPr>
              <a:xfrm>
                <a:off x="4756774" y="5207688"/>
                <a:ext cx="898608" cy="177817"/>
              </a:xfrm>
              <a:prstGeom prst="rect">
                <a:avLst/>
              </a:prstGeom>
              <a:noFill/>
              <a:ln>
                <a:noFill/>
              </a:ln>
            </p:spPr>
          </p:pic>
          <p:pic>
            <p:nvPicPr>
              <p:cNvPr id="52" name="Google Shape;655;p13" descr="Los Alamos National Laboratory">
                <a:extLst>
                  <a:ext uri="{FF2B5EF4-FFF2-40B4-BE49-F238E27FC236}">
                    <a16:creationId xmlns:a16="http://schemas.microsoft.com/office/drawing/2014/main" id="{AC4811EE-4B1A-0DF8-6AA7-B2DB9B26842C}"/>
                  </a:ext>
                </a:extLst>
              </p:cNvPr>
              <p:cNvPicPr preferRelativeResize="0"/>
              <p:nvPr/>
            </p:nvPicPr>
            <p:blipFill rotWithShape="1">
              <a:blip r:embed="rId9" cstate="hqprint">
                <a:alphaModFix/>
                <a:extLst>
                  <a:ext uri="{28A0092B-C50C-407E-A947-70E740481C1C}">
                    <a14:useLocalDpi xmlns:a14="http://schemas.microsoft.com/office/drawing/2010/main"/>
                  </a:ext>
                </a:extLst>
              </a:blip>
              <a:srcRect/>
              <a:stretch/>
            </p:blipFill>
            <p:spPr>
              <a:xfrm>
                <a:off x="5840397" y="5218465"/>
                <a:ext cx="775760" cy="156263"/>
              </a:xfrm>
              <a:prstGeom prst="rect">
                <a:avLst/>
              </a:prstGeom>
              <a:noFill/>
              <a:ln>
                <a:noFill/>
              </a:ln>
            </p:spPr>
          </p:pic>
          <p:pic>
            <p:nvPicPr>
              <p:cNvPr id="53" name="Google Shape;656;p13" descr="Kitware">
                <a:extLst>
                  <a:ext uri="{FF2B5EF4-FFF2-40B4-BE49-F238E27FC236}">
                    <a16:creationId xmlns:a16="http://schemas.microsoft.com/office/drawing/2014/main" id="{C9A3FA12-E29B-E088-701D-0E3545150844}"/>
                  </a:ext>
                </a:extLst>
              </p:cNvPr>
              <p:cNvPicPr preferRelativeResize="0"/>
              <p:nvPr/>
            </p:nvPicPr>
            <p:blipFill rotWithShape="1">
              <a:blip r:embed="rId10" cstate="hqprint">
                <a:alphaModFix/>
                <a:extLst>
                  <a:ext uri="{28A0092B-C50C-407E-A947-70E740481C1C}">
                    <a14:useLocalDpi xmlns:a14="http://schemas.microsoft.com/office/drawing/2010/main"/>
                  </a:ext>
                </a:extLst>
              </a:blip>
              <a:srcRect/>
              <a:stretch/>
            </p:blipFill>
            <p:spPr>
              <a:xfrm>
                <a:off x="4125217" y="5245312"/>
                <a:ext cx="466217" cy="102568"/>
              </a:xfrm>
              <a:prstGeom prst="rect">
                <a:avLst/>
              </a:prstGeom>
              <a:noFill/>
              <a:ln>
                <a:noFill/>
              </a:ln>
            </p:spPr>
          </p:pic>
          <p:pic>
            <p:nvPicPr>
              <p:cNvPr id="57" name="Google Shape;661;p13" descr="BerkeleyLabLogo">
                <a:extLst>
                  <a:ext uri="{FF2B5EF4-FFF2-40B4-BE49-F238E27FC236}">
                    <a16:creationId xmlns:a16="http://schemas.microsoft.com/office/drawing/2014/main" id="{00DC9E7D-B2C4-06AC-00B2-28CE94221741}"/>
                  </a:ext>
                </a:extLst>
              </p:cNvPr>
              <p:cNvPicPr preferRelativeResize="0"/>
              <p:nvPr/>
            </p:nvPicPr>
            <p:blipFill rotWithShape="1">
              <a:blip r:embed="rId11" cstate="hqprint">
                <a:alphaModFix/>
                <a:extLst>
                  <a:ext uri="{28A0092B-C50C-407E-A947-70E740481C1C}">
                    <a14:useLocalDpi xmlns:a14="http://schemas.microsoft.com/office/drawing/2010/main"/>
                  </a:ext>
                </a:extLst>
              </a:blip>
              <a:srcRect/>
              <a:stretch/>
            </p:blipFill>
            <p:spPr>
              <a:xfrm>
                <a:off x="2613897" y="5141051"/>
                <a:ext cx="411132" cy="311090"/>
              </a:xfrm>
              <a:prstGeom prst="rect">
                <a:avLst/>
              </a:prstGeom>
              <a:noFill/>
              <a:ln>
                <a:noFill/>
              </a:ln>
            </p:spPr>
          </p:pic>
          <p:pic>
            <p:nvPicPr>
              <p:cNvPr id="58" name="Google Shape;662;p13">
                <a:extLst>
                  <a:ext uri="{FF2B5EF4-FFF2-40B4-BE49-F238E27FC236}">
                    <a16:creationId xmlns:a16="http://schemas.microsoft.com/office/drawing/2014/main" id="{AC5E7A36-A55F-9934-7231-11DA9B2E018D}"/>
                  </a:ext>
                </a:extLst>
              </p:cNvPr>
              <p:cNvPicPr preferRelativeResize="0"/>
              <p:nvPr/>
            </p:nvPicPr>
            <p:blipFill rotWithShape="1">
              <a:blip r:embed="rId12" cstate="hqprint">
                <a:alphaModFix/>
                <a:extLst>
                  <a:ext uri="{28A0092B-C50C-407E-A947-70E740481C1C}">
                    <a14:useLocalDpi xmlns:a14="http://schemas.microsoft.com/office/drawing/2010/main"/>
                  </a:ext>
                </a:extLst>
              </a:blip>
              <a:srcRect/>
              <a:stretch/>
            </p:blipFill>
            <p:spPr>
              <a:xfrm>
                <a:off x="3208025" y="5209511"/>
                <a:ext cx="695228" cy="174170"/>
              </a:xfrm>
              <a:prstGeom prst="rect">
                <a:avLst/>
              </a:prstGeom>
              <a:noFill/>
              <a:ln>
                <a:noFill/>
              </a:ln>
            </p:spPr>
          </p:pic>
          <p:pic>
            <p:nvPicPr>
              <p:cNvPr id="62" name="Google Shape;652;p13" descr="Sandia National Laboratories">
                <a:extLst>
                  <a:ext uri="{FF2B5EF4-FFF2-40B4-BE49-F238E27FC236}">
                    <a16:creationId xmlns:a16="http://schemas.microsoft.com/office/drawing/2014/main" id="{A4B4F4DE-27A9-6B69-85EE-3707C6B07299}"/>
                  </a:ext>
                </a:extLst>
              </p:cNvPr>
              <p:cNvPicPr preferRelativeResize="0"/>
              <p:nvPr/>
            </p:nvPicPr>
            <p:blipFill rotWithShape="1">
              <a:blip r:embed="rId13" cstate="hqprint">
                <a:alphaModFix/>
                <a:extLst>
                  <a:ext uri="{28A0092B-C50C-407E-A947-70E740481C1C}">
                    <a14:useLocalDpi xmlns:a14="http://schemas.microsoft.com/office/drawing/2010/main"/>
                  </a:ext>
                </a:extLst>
              </a:blip>
              <a:srcRect/>
              <a:stretch/>
            </p:blipFill>
            <p:spPr>
              <a:xfrm>
                <a:off x="4367918" y="5646716"/>
                <a:ext cx="505345" cy="201378"/>
              </a:xfrm>
              <a:prstGeom prst="rect">
                <a:avLst/>
              </a:prstGeom>
              <a:noFill/>
              <a:ln>
                <a:noFill/>
              </a:ln>
            </p:spPr>
          </p:pic>
          <p:pic>
            <p:nvPicPr>
              <p:cNvPr id="63" name="Google Shape;654;p13" descr="Oak Ridge National Laboratory">
                <a:extLst>
                  <a:ext uri="{FF2B5EF4-FFF2-40B4-BE49-F238E27FC236}">
                    <a16:creationId xmlns:a16="http://schemas.microsoft.com/office/drawing/2014/main" id="{DB16AF1C-F486-8BBB-B871-E9609EBFA3FF}"/>
                  </a:ext>
                </a:extLst>
              </p:cNvPr>
              <p:cNvPicPr preferRelativeResize="0"/>
              <p:nvPr/>
            </p:nvPicPr>
            <p:blipFill rotWithShape="1">
              <a:blip r:embed="rId14" cstate="hqprint">
                <a:alphaModFix/>
                <a:extLst>
                  <a:ext uri="{28A0092B-C50C-407E-A947-70E740481C1C}">
                    <a14:useLocalDpi xmlns:a14="http://schemas.microsoft.com/office/drawing/2010/main"/>
                  </a:ext>
                </a:extLst>
              </a:blip>
              <a:srcRect/>
              <a:stretch/>
            </p:blipFill>
            <p:spPr>
              <a:xfrm>
                <a:off x="1990474" y="5653804"/>
                <a:ext cx="704821" cy="187202"/>
              </a:xfrm>
              <a:prstGeom prst="rect">
                <a:avLst/>
              </a:prstGeom>
              <a:noFill/>
              <a:ln>
                <a:noFill/>
              </a:ln>
            </p:spPr>
          </p:pic>
          <p:pic>
            <p:nvPicPr>
              <p:cNvPr id="66" name="Google Shape;657;p13" descr="University of Oregon">
                <a:extLst>
                  <a:ext uri="{FF2B5EF4-FFF2-40B4-BE49-F238E27FC236}">
                    <a16:creationId xmlns:a16="http://schemas.microsoft.com/office/drawing/2014/main" id="{1E6835CC-DAD6-F8AE-1C22-EE03E8AE5D89}"/>
                  </a:ext>
                </a:extLst>
              </p:cNvPr>
              <p:cNvPicPr preferRelativeResize="0"/>
              <p:nvPr/>
            </p:nvPicPr>
            <p:blipFill rotWithShape="1">
              <a:blip r:embed="rId15" cstate="hqprint">
                <a:alphaModFix/>
                <a:extLst>
                  <a:ext uri="{28A0092B-C50C-407E-A947-70E740481C1C}">
                    <a14:useLocalDpi xmlns:a14="http://schemas.microsoft.com/office/drawing/2010/main"/>
                  </a:ext>
                </a:extLst>
              </a:blip>
              <a:srcRect/>
              <a:stretch/>
            </p:blipFill>
            <p:spPr>
              <a:xfrm>
                <a:off x="6106260" y="5688795"/>
                <a:ext cx="537462" cy="117220"/>
              </a:xfrm>
              <a:prstGeom prst="rect">
                <a:avLst/>
              </a:prstGeom>
              <a:noFill/>
              <a:ln>
                <a:noFill/>
              </a:ln>
            </p:spPr>
          </p:pic>
          <p:pic>
            <p:nvPicPr>
              <p:cNvPr id="67" name="Google Shape;659;p13">
                <a:extLst>
                  <a:ext uri="{FF2B5EF4-FFF2-40B4-BE49-F238E27FC236}">
                    <a16:creationId xmlns:a16="http://schemas.microsoft.com/office/drawing/2014/main" id="{C3D16736-5223-712F-7DFE-884B4733732B}"/>
                  </a:ext>
                </a:extLst>
              </p:cNvPr>
              <p:cNvPicPr preferRelativeResize="0"/>
              <p:nvPr/>
            </p:nvPicPr>
            <p:blipFill rotWithShape="1">
              <a:blip r:embed="rId16" cstate="hqprint">
                <a:alphaModFix/>
                <a:extLst>
                  <a:ext uri="{28A0092B-C50C-407E-A947-70E740481C1C}">
                    <a14:useLocalDpi xmlns:a14="http://schemas.microsoft.com/office/drawing/2010/main"/>
                  </a:ext>
                </a:extLst>
              </a:blip>
              <a:srcRect/>
              <a:stretch/>
            </p:blipFill>
            <p:spPr>
              <a:xfrm>
                <a:off x="2886897" y="5660320"/>
                <a:ext cx="524852" cy="174170"/>
              </a:xfrm>
              <a:prstGeom prst="rect">
                <a:avLst/>
              </a:prstGeom>
              <a:noFill/>
              <a:ln>
                <a:noFill/>
              </a:ln>
            </p:spPr>
          </p:pic>
          <p:pic>
            <p:nvPicPr>
              <p:cNvPr id="68" name="Google Shape;660;p13">
                <a:extLst>
                  <a:ext uri="{FF2B5EF4-FFF2-40B4-BE49-F238E27FC236}">
                    <a16:creationId xmlns:a16="http://schemas.microsoft.com/office/drawing/2014/main" id="{FA4B11A7-0A95-B52C-1137-288B861A0B3B}"/>
                  </a:ext>
                </a:extLst>
              </p:cNvPr>
              <p:cNvPicPr preferRelativeResize="0"/>
              <p:nvPr/>
            </p:nvPicPr>
            <p:blipFill rotWithShape="1">
              <a:blip r:embed="rId17" cstate="hqprint">
                <a:alphaModFix/>
                <a:extLst>
                  <a:ext uri="{28A0092B-C50C-407E-A947-70E740481C1C}">
                    <a14:useLocalDpi xmlns:a14="http://schemas.microsoft.com/office/drawing/2010/main"/>
                  </a:ext>
                </a:extLst>
              </a:blip>
              <a:srcRect/>
              <a:stretch/>
            </p:blipFill>
            <p:spPr>
              <a:xfrm>
                <a:off x="5086140" y="5616613"/>
                <a:ext cx="670450" cy="261585"/>
              </a:xfrm>
              <a:prstGeom prst="rect">
                <a:avLst/>
              </a:prstGeom>
              <a:noFill/>
              <a:ln>
                <a:noFill/>
              </a:ln>
            </p:spPr>
          </p:pic>
          <p:pic>
            <p:nvPicPr>
              <p:cNvPr id="71" name="Google Shape;663;p13">
                <a:extLst>
                  <a:ext uri="{FF2B5EF4-FFF2-40B4-BE49-F238E27FC236}">
                    <a16:creationId xmlns:a16="http://schemas.microsoft.com/office/drawing/2014/main" id="{0A2F52FC-651E-EE35-E238-415339095F80}"/>
                  </a:ext>
                </a:extLst>
              </p:cNvPr>
              <p:cNvPicPr preferRelativeResize="0"/>
              <p:nvPr/>
            </p:nvPicPr>
            <p:blipFill rotWithShape="1">
              <a:blip r:embed="rId18" cstate="hqprint">
                <a:alphaModFix/>
                <a:extLst>
                  <a:ext uri="{28A0092B-C50C-407E-A947-70E740481C1C}">
                    <a14:useLocalDpi xmlns:a14="http://schemas.microsoft.com/office/drawing/2010/main"/>
                  </a:ext>
                </a:extLst>
              </a:blip>
              <a:srcRect/>
              <a:stretch/>
            </p:blipFill>
            <p:spPr>
              <a:xfrm>
                <a:off x="3651464" y="5674856"/>
                <a:ext cx="503577" cy="145098"/>
              </a:xfrm>
              <a:prstGeom prst="rect">
                <a:avLst/>
              </a:prstGeom>
              <a:noFill/>
              <a:ln>
                <a:noFill/>
              </a:ln>
            </p:spPr>
          </p:pic>
          <p:pic>
            <p:nvPicPr>
              <p:cNvPr id="6" name="Google Shape;300;p1">
                <a:extLst>
                  <a:ext uri="{FF2B5EF4-FFF2-40B4-BE49-F238E27FC236}">
                    <a16:creationId xmlns:a16="http://schemas.microsoft.com/office/drawing/2014/main" id="{D160ADCE-A0E1-75DE-0509-9A68450A1F07}"/>
                  </a:ext>
                </a:extLst>
              </p:cNvPr>
              <p:cNvPicPr preferRelativeResize="0">
                <a:picLocks noChangeAspect="1"/>
              </p:cNvPicPr>
              <p:nvPr/>
            </p:nvPicPr>
            <p:blipFill rotWithShape="1">
              <a:blip r:embed="rId19">
                <a:alphaModFix/>
              </a:blip>
              <a:srcRect/>
              <a:stretch/>
            </p:blipFill>
            <p:spPr>
              <a:xfrm>
                <a:off x="1707697" y="5174360"/>
                <a:ext cx="704821" cy="244473"/>
              </a:xfrm>
              <a:prstGeom prst="rect">
                <a:avLst/>
              </a:prstGeom>
              <a:noFill/>
              <a:ln>
                <a:noFill/>
              </a:ln>
            </p:spPr>
          </p:pic>
        </p:grpSp>
        <p:sp>
          <p:nvSpPr>
            <p:cNvPr id="10" name="Rounded Rectangle 9">
              <a:extLst>
                <a:ext uri="{FF2B5EF4-FFF2-40B4-BE49-F238E27FC236}">
                  <a16:creationId xmlns:a16="http://schemas.microsoft.com/office/drawing/2014/main" id="{68164DBD-1BFF-EF0D-0E26-C40A92422A22}"/>
                </a:ext>
              </a:extLst>
            </p:cNvPr>
            <p:cNvSpPr/>
            <p:nvPr/>
          </p:nvSpPr>
          <p:spPr>
            <a:xfrm>
              <a:off x="131995" y="4994937"/>
              <a:ext cx="6723967" cy="118318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201699841"/>
      </p:ext>
    </p:extLst>
  </p:cSld>
  <p:clrMapOvr>
    <a:masterClrMapping/>
  </p:clrMapOvr>
  <p:transition/>
</p:sld>
</file>

<file path=ppt/theme/theme1.xml><?xml version="1.0" encoding="utf-8"?>
<a:theme xmlns:a="http://schemas.openxmlformats.org/drawingml/2006/main" name="7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0BF6F177D6D67458FBB47B7752A5A77" ma:contentTypeVersion="14" ma:contentTypeDescription="Create a new document." ma:contentTypeScope="" ma:versionID="511b56ef837cb8094633f79cbf6101bb">
  <xsd:schema xmlns:xsd="http://www.w3.org/2001/XMLSchema" xmlns:xs="http://www.w3.org/2001/XMLSchema" xmlns:p="http://schemas.microsoft.com/office/2006/metadata/properties" xmlns:ns2="d3abd939-9d94-49d1-925a-c93fb1ff4b6e" xmlns:ns3="bc761791-33a0-47b7-8145-9d3c2515a3a0" targetNamespace="http://schemas.microsoft.com/office/2006/metadata/properties" ma:root="true" ma:fieldsID="a0782334ac6122055466205749466095" ns2:_="" ns3:_="">
    <xsd:import namespace="d3abd939-9d94-49d1-925a-c93fb1ff4b6e"/>
    <xsd:import namespace="bc761791-33a0-47b7-8145-9d3c2515a3a0"/>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ObjectDetectorVersions" minOccurs="0"/>
                <xsd:element ref="ns2:MediaServiceSearchProperties" minOccurs="0"/>
                <xsd:element ref="ns2:SubjectTag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3abd939-9d94-49d1-925a-c93fb1ff4b6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SubjectTags" ma:index="14" nillable="true" ma:displayName="Subject Tags" ma:description="Insert any relevant topical areas or subjects" ma:format="Dropdown" ma:internalName="SubjectTags">
      <xsd:simpleType>
        <xsd:union memberTypes="dms:Text">
          <xsd:simpleType>
            <xsd:restriction base="dms:Choice">
              <xsd:enumeration value="ECRP"/>
              <xsd:enumeration value="AI"/>
              <xsd:enumeration value="EPSCOR"/>
              <xsd:enumeration value="SciDAC"/>
              <xsd:enumeration value="Data/Vis"/>
              <xsd:enumeration value="Computer Science"/>
              <xsd:enumeration value="Quantum"/>
              <xsd:enumeration value="Budget Related"/>
            </xsd:restriction>
          </xsd:simpleType>
        </xsd:unio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2dabcefd-7191-4d78-9d18-d223e822edaa" ma:termSetId="09814cd3-568e-fe90-9814-8d621ff8fb84" ma:anchorId="fba54fb3-c3e1-fe81-a776-ca4b69148c4d" ma:open="true" ma:isKeyword="false">
      <xsd:complexType>
        <xsd:sequence>
          <xsd:element ref="pc:Terms" minOccurs="0" maxOccurs="1"/>
        </xsd:sequence>
      </xsd:complex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c761791-33a0-47b7-8145-9d3c2515a3a0"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7" nillable="true" ma:displayName="Taxonomy Catch All Column" ma:hidden="true" ma:list="{0ba3bf2f-9f6a-42de-9806-f02ccdd7535d}" ma:internalName="TaxCatchAll" ma:showField="CatchAllData" ma:web="bc761791-33a0-47b7-8145-9d3c2515a3a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d3abd939-9d94-49d1-925a-c93fb1ff4b6e">
      <Terms xmlns="http://schemas.microsoft.com/office/infopath/2007/PartnerControls"/>
    </lcf76f155ced4ddcb4097134ff3c332f>
    <SubjectTags xmlns="d3abd939-9d94-49d1-925a-c93fb1ff4b6e" xsi:nil="true"/>
    <TaxCatchAll xmlns="bc761791-33a0-47b7-8145-9d3c2515a3a0" xsi:nil="true"/>
  </documentManagement>
</p:properties>
</file>

<file path=customXml/itemProps1.xml><?xml version="1.0" encoding="utf-8"?>
<ds:datastoreItem xmlns:ds="http://schemas.openxmlformats.org/officeDocument/2006/customXml" ds:itemID="{A9B585CC-6C58-4D0F-87F3-D826C458A20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3abd939-9d94-49d1-925a-c93fb1ff4b6e"/>
    <ds:schemaRef ds:uri="bc761791-33a0-47b7-8145-9d3c2515a3a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A8EE7F5-A494-4A3A-8402-D6EC287A4FD9}">
  <ds:schemaRefs>
    <ds:schemaRef ds:uri="http://schemas.microsoft.com/sharepoint/v3/contenttype/forms"/>
  </ds:schemaRefs>
</ds:datastoreItem>
</file>

<file path=customXml/itemProps3.xml><?xml version="1.0" encoding="utf-8"?>
<ds:datastoreItem xmlns:ds="http://schemas.openxmlformats.org/officeDocument/2006/customXml" ds:itemID="{B0A43E79-5F32-4471-8B9A-F8FE298C9716}">
  <ds:schemaRefs>
    <ds:schemaRef ds:uri="http://schemas.microsoft.com/office/2006/metadata/properties"/>
    <ds:schemaRef ds:uri="bc761791-33a0-47b7-8145-9d3c2515a3a0"/>
    <ds:schemaRef ds:uri="http://purl.org/dc/terms/"/>
    <ds:schemaRef ds:uri="http://schemas.microsoft.com/office/2006/documentManagement/types"/>
    <ds:schemaRef ds:uri="http://schemas.openxmlformats.org/package/2006/metadata/core-properties"/>
    <ds:schemaRef ds:uri="d3abd939-9d94-49d1-925a-c93fb1ff4b6e"/>
    <ds:schemaRef ds:uri="http://purl.org/dc/elements/1.1/"/>
    <ds:schemaRef ds:uri="http://schemas.microsoft.com/office/infopath/2007/PartnerControl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4228</TotalTime>
  <Words>867</Words>
  <Application>Microsoft Macintosh PowerPoint</Application>
  <PresentationFormat>Widescreen</PresentationFormat>
  <Paragraphs>41</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Aptos</vt:lpstr>
      <vt:lpstr>Arial</vt:lpstr>
      <vt:lpstr>AvenirNext LT Pro Regular</vt:lpstr>
      <vt:lpstr>Calibri</vt:lpstr>
      <vt:lpstr>Calibri Light</vt:lpstr>
      <vt:lpstr>Cambria</vt:lpstr>
      <vt:lpstr>7_office theme</vt:lpstr>
      <vt:lpstr>PESO Team Contributes to HPSF Growth and Impact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PESO Team Contributes to HPSF Growth and Impact</dc:title>
  <dc:subject>Highlight slide for DOE ASCR</dc:subject>
  <dc:creator>Michael Heroux</dc:creator>
  <cp:keywords/>
  <dc:description/>
  <cp:lastModifiedBy>Heroux, Michael</cp:lastModifiedBy>
  <cp:revision>41</cp:revision>
  <dcterms:created xsi:type="dcterms:W3CDTF">2025-01-02T22:07:27Z</dcterms:created>
  <dcterms:modified xsi:type="dcterms:W3CDTF">2025-06-24T14:21:14Z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0x010100D0BF6F177D6D67458FBB47B7752A5A77</vt:lpwstr>
  </property>
  <property fmtid="{D5CDD505-2E9C-101B-9397-08002B2CF9AE}" pid="3" name="MediaServiceImageTags">
    <vt:lpwstr/>
  </property>
</Properties>
</file>