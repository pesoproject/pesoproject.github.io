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 roundtripDataSignature="AMtx7miH5HylOdsqJ45oQiTXBR0uT46T2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977"/>
    <p:restoredTop sz="89033"/>
  </p:normalViewPr>
  <p:slideViewPr>
    <p:cSldViewPr snapToGrid="0">
      <p:cViewPr varScale="1">
        <p:scale>
          <a:sx n="90" d="100"/>
          <a:sy n="90" d="100"/>
        </p:scale>
        <p:origin x="240" y="448"/>
      </p:cViewPr>
      <p:guideLst/>
    </p:cSldViewPr>
  </p:slideViewPr>
  <p:notesTextViewPr>
    <p:cViewPr>
      <p:scale>
        <a:sx n="1" d="1"/>
        <a:sy n="1" d="1"/>
      </p:scale>
      <p:origin x="0" y="0"/>
    </p:cViewPr>
  </p:notesTextViewPr>
  <p:notesViewPr>
    <p:cSldViewPr snapToGrid="0">
      <p:cViewPr varScale="1">
        <p:scale>
          <a:sx n="85" d="100"/>
          <a:sy n="85" d="100"/>
        </p:scale>
        <p:origin x="4258" y="-12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customschemas.google.com/relationships/presentationmetadata" Target="metadata"/><Relationship Id="rId10" Type="http://schemas.openxmlformats.org/officeDocument/2006/relationships/tableStyles" Target="tableStyles.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 name="Google Shape;5;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6" name="Google Shape;6;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
        <p:nvSpPr>
          <p:cNvPr id="8" name="Google Shape;8;n"/>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mailto:curfman@anl.gov"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doi.org/10.6084/m9.figshare.31564060" TargetMode="External"/><Relationship Id="rId4" Type="http://schemas.openxmlformats.org/officeDocument/2006/relationships/hyperlink" Target="mailto:dfmartin@lbl.gov"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 name="Google Shape;34;p7:notes"/>
          <p:cNvSpPr txBox="1">
            <a:spLocks noGrp="1"/>
          </p:cNvSpPr>
          <p:nvPr>
            <p:ph type="body" idx="1"/>
          </p:nvPr>
        </p:nvSpPr>
        <p:spPr>
          <a:xfrm>
            <a:off x="685800" y="422910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Arial"/>
              <a:buNone/>
            </a:pPr>
            <a:r>
              <a:rPr lang="en-US" u="sng" dirty="0"/>
              <a:t>LOCAL LAB POC</a:t>
            </a:r>
            <a:r>
              <a:rPr lang="en-US" dirty="0"/>
              <a:t>:  Lois Curfman McInnes (ANL </a:t>
            </a:r>
            <a:r>
              <a:rPr lang="en-US" dirty="0">
                <a:hlinkClick r:id="rId3"/>
              </a:rPr>
              <a:t>curfman@anl.gov</a:t>
            </a:r>
            <a:r>
              <a:rPr lang="en-US" dirty="0"/>
              <a:t>), Dan Martin (LBNL </a:t>
            </a:r>
            <a:r>
              <a:rPr lang="en-US" dirty="0">
                <a:hlinkClick r:id="rId4"/>
              </a:rPr>
              <a:t>dfmartin@lbl.gov</a:t>
            </a:r>
            <a:r>
              <a:rPr lang="en-US" dirty="0"/>
              <a:t> )</a:t>
            </a:r>
            <a:endParaRPr u="sng" dirty="0"/>
          </a:p>
          <a:p>
            <a:pPr marL="0" lvl="0" indent="0" algn="l" rtl="0">
              <a:lnSpc>
                <a:spcPct val="100000"/>
              </a:lnSpc>
              <a:spcBef>
                <a:spcPts val="0"/>
              </a:spcBef>
              <a:spcAft>
                <a:spcPts val="0"/>
              </a:spcAft>
              <a:buClr>
                <a:schemeClr val="dk1"/>
              </a:buClr>
              <a:buSzPts val="1200"/>
              <a:buFont typeface="Arial"/>
              <a:buNone/>
            </a:pPr>
            <a:r>
              <a:rPr lang="en-US" u="sng" dirty="0"/>
              <a:t>TALKING POINTS:  </a:t>
            </a:r>
            <a:endParaRPr dirty="0"/>
          </a:p>
          <a:p>
            <a:pPr marL="171450" lvl="0" indent="-171450" algn="l" rtl="0">
              <a:lnSpc>
                <a:spcPct val="100000"/>
              </a:lnSpc>
              <a:spcBef>
                <a:spcPts val="0"/>
              </a:spcBef>
              <a:spcAft>
                <a:spcPts val="0"/>
              </a:spcAft>
              <a:buClr>
                <a:schemeClr val="dk1"/>
              </a:buClr>
              <a:buSzPts val="1200"/>
              <a:buFont typeface="Arial"/>
              <a:buChar char="•"/>
            </a:pPr>
            <a:r>
              <a:rPr lang="en-US" dirty="0"/>
              <a:t>Department of Energy National Laboratories are facing workforce challenges and need to develop more effective techniques to attract and sustain a full spectrum of talent.</a:t>
            </a:r>
          </a:p>
          <a:p>
            <a:pPr marL="171450" indent="-171450">
              <a:buClr>
                <a:schemeClr val="dk1"/>
              </a:buClr>
              <a:buSzPts val="1200"/>
              <a:buFont typeface="Arial"/>
              <a:buChar char="•"/>
            </a:pPr>
            <a:r>
              <a:rPr lang="en-US" dirty="0"/>
              <a:t>SRP expands the pathways to DOE Labs by introducing lab staff to faculty and students who likely would not otherwise collaborate with the labs</a:t>
            </a:r>
          </a:p>
          <a:p>
            <a:pPr marL="171450" lvl="0" indent="-171450" algn="l" rtl="0">
              <a:lnSpc>
                <a:spcPct val="100000"/>
              </a:lnSpc>
              <a:spcBef>
                <a:spcPts val="0"/>
              </a:spcBef>
              <a:spcAft>
                <a:spcPts val="0"/>
              </a:spcAft>
              <a:buClr>
                <a:schemeClr val="dk1"/>
              </a:buClr>
              <a:buSzPts val="1200"/>
              <a:buFont typeface="Arial"/>
              <a:buChar char="•"/>
            </a:pPr>
            <a:r>
              <a:rPr lang="en-US" dirty="0"/>
              <a:t>Led by Sustainable Horizons Institute (Mary </a:t>
            </a:r>
            <a:r>
              <a:rPr lang="en-US"/>
              <a:t>Ann Leung) and </a:t>
            </a:r>
            <a:r>
              <a:rPr lang="en-US" dirty="0"/>
              <a:t>funded by the DOE PESO project, the Sustainable Research Pathways (SRP) program matched 9 DOE Lab researchers at 4 labs with 20 new faculty and students for summer 2026 collaborations</a:t>
            </a:r>
            <a:endParaRPr dirty="0"/>
          </a:p>
          <a:p>
            <a:pPr marL="0" lvl="0" indent="0" algn="l" rtl="0">
              <a:lnSpc>
                <a:spcPct val="100000"/>
              </a:lnSpc>
              <a:spcBef>
                <a:spcPts val="0"/>
              </a:spcBef>
              <a:spcAft>
                <a:spcPts val="0"/>
              </a:spcAft>
              <a:buClr>
                <a:schemeClr val="dk1"/>
              </a:buClr>
              <a:buSzPts val="1200"/>
              <a:buFont typeface="Arial"/>
              <a:buNone/>
            </a:pPr>
            <a:r>
              <a:rPr lang="en-US" u="sng" dirty="0"/>
              <a:t>METADATA: </a:t>
            </a:r>
            <a:endParaRPr dirty="0"/>
          </a:p>
          <a:p>
            <a:pPr marL="0" lvl="0" indent="0" algn="l" rtl="0">
              <a:lnSpc>
                <a:spcPct val="100000"/>
              </a:lnSpc>
              <a:spcBef>
                <a:spcPts val="0"/>
              </a:spcBef>
              <a:spcAft>
                <a:spcPts val="0"/>
              </a:spcAft>
              <a:buClr>
                <a:schemeClr val="dk1"/>
              </a:buClr>
              <a:buSzPts val="1200"/>
              <a:buFont typeface="Arial"/>
              <a:buNone/>
            </a:pPr>
            <a:r>
              <a:rPr lang="en-US" dirty="0"/>
              <a:t>Name of the associated awarded project:  PESO</a:t>
            </a:r>
            <a:endParaRPr dirty="0"/>
          </a:p>
          <a:p>
            <a:pPr marL="0" lvl="0" indent="0" algn="l" rtl="0">
              <a:lnSpc>
                <a:spcPct val="100000"/>
              </a:lnSpc>
              <a:spcBef>
                <a:spcPts val="0"/>
              </a:spcBef>
              <a:spcAft>
                <a:spcPts val="0"/>
              </a:spcAft>
              <a:buClr>
                <a:schemeClr val="dk1"/>
              </a:buClr>
              <a:buSzPts val="1200"/>
              <a:buFont typeface="Arial"/>
              <a:buNone/>
            </a:pPr>
            <a:r>
              <a:rPr lang="en-US" dirty="0"/>
              <a:t>PI name(s):  Lois Curfman McInnes</a:t>
            </a:r>
            <a:endParaRPr dirty="0"/>
          </a:p>
          <a:p>
            <a:pPr marL="0" lvl="0" indent="0" algn="l" rtl="0">
              <a:lnSpc>
                <a:spcPct val="100000"/>
              </a:lnSpc>
              <a:spcBef>
                <a:spcPts val="0"/>
              </a:spcBef>
              <a:spcAft>
                <a:spcPts val="0"/>
              </a:spcAft>
              <a:buClr>
                <a:schemeClr val="dk1"/>
              </a:buClr>
              <a:buSzPts val="1200"/>
              <a:buFont typeface="Arial"/>
              <a:buNone/>
            </a:pPr>
            <a:r>
              <a:rPr lang="en-US" dirty="0"/>
              <a:t>Name of the program manager:  David Rabson</a:t>
            </a:r>
            <a:endParaRPr dirty="0"/>
          </a:p>
          <a:p>
            <a:pPr marL="0" lvl="0" indent="0" algn="l" rtl="0">
              <a:lnSpc>
                <a:spcPct val="100000"/>
              </a:lnSpc>
              <a:spcBef>
                <a:spcPts val="0"/>
              </a:spcBef>
              <a:spcAft>
                <a:spcPts val="0"/>
              </a:spcAft>
              <a:buClr>
                <a:schemeClr val="dk1"/>
              </a:buClr>
              <a:buSzPts val="1200"/>
              <a:buFont typeface="Arial"/>
              <a:buNone/>
            </a:pPr>
            <a:r>
              <a:rPr lang="en-US" u="sng" dirty="0"/>
              <a:t>CITATIONS:</a:t>
            </a:r>
            <a:endParaRPr dirty="0"/>
          </a:p>
          <a:p>
            <a:pPr marL="228600" indent="0"/>
            <a:r>
              <a:rPr lang="en-US" b="1" u="sng" dirty="0">
                <a:hlinkClick r:id="rId5"/>
              </a:rPr>
              <a:t>Iterative Co-Design, Co-Development and Co-Delivery: Accelerating American S&amp;T Productivity through Public-Private Partnerships</a:t>
            </a:r>
            <a:endParaRPr lang="en-US" dirty="0"/>
          </a:p>
          <a:p>
            <a:pPr marL="0" lvl="0" indent="0" algn="l" rtl="0">
              <a:lnSpc>
                <a:spcPct val="100000"/>
              </a:lnSpc>
              <a:spcBef>
                <a:spcPts val="0"/>
              </a:spcBef>
              <a:spcAft>
                <a:spcPts val="0"/>
              </a:spcAft>
              <a:buClr>
                <a:schemeClr val="dk1"/>
              </a:buClr>
              <a:buSzPts val="1200"/>
              <a:buFont typeface="Arial"/>
              <a:buNone/>
            </a:pPr>
            <a:endParaRPr dirty="0"/>
          </a:p>
          <a:p>
            <a:pPr marL="0" lvl="0" indent="0" algn="l" rtl="0">
              <a:lnSpc>
                <a:spcPct val="100000"/>
              </a:lnSpc>
              <a:spcBef>
                <a:spcPts val="0"/>
              </a:spcBef>
              <a:spcAft>
                <a:spcPts val="0"/>
              </a:spcAft>
              <a:buClr>
                <a:schemeClr val="dk1"/>
              </a:buClr>
              <a:buSzPts val="1200"/>
              <a:buFont typeface="Arial"/>
              <a:buNone/>
            </a:pPr>
            <a:r>
              <a:rPr lang="en-US" u="sng" dirty="0"/>
              <a:t>BACKGROUND:</a:t>
            </a:r>
            <a:r>
              <a:rPr lang="en-US" dirty="0"/>
              <a:t>  </a:t>
            </a:r>
            <a:endParaRPr dirty="0"/>
          </a:p>
          <a:p>
            <a:pPr marL="0" lvl="0" indent="0" algn="l" rtl="0">
              <a:lnSpc>
                <a:spcPct val="100000"/>
              </a:lnSpc>
              <a:spcBef>
                <a:spcPts val="0"/>
              </a:spcBef>
              <a:spcAft>
                <a:spcPts val="0"/>
              </a:spcAft>
              <a:buClr>
                <a:schemeClr val="dk1"/>
              </a:buClr>
              <a:buSzPts val="1200"/>
              <a:buFont typeface="Arial"/>
              <a:buNone/>
            </a:pPr>
            <a:r>
              <a:rPr lang="en-US" dirty="0"/>
              <a:t>The SRP was established over 10 years ago at Berkeley Lab.  With ECP support SRP expanded to a multi-lab program that has placed over 300 faculty and students into internships at 10 DOE labs. As a result, a number of SRP participants are currently employed at DOE labs, have received joint research funding with DOE researchers, and have received prestigious awards such CSFG, SSGF, NSF GRF, and the Presidential Awards for Excellence in Science, Mathematics and Engineering Mentoring (PASEM) </a:t>
            </a:r>
            <a:endParaRPr dirty="0"/>
          </a:p>
          <a:p>
            <a:pPr marL="0" lvl="0" indent="0" algn="l" rtl="0">
              <a:lnSpc>
                <a:spcPct val="100000"/>
              </a:lnSpc>
              <a:spcBef>
                <a:spcPts val="0"/>
              </a:spcBef>
              <a:spcAft>
                <a:spcPts val="0"/>
              </a:spcAft>
              <a:buSzPts val="1400"/>
              <a:buNone/>
            </a:pPr>
            <a:endParaRPr dirty="0"/>
          </a:p>
        </p:txBody>
      </p:sp>
      <p:sp>
        <p:nvSpPr>
          <p:cNvPr id="35" name="Google Shape;35;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cientific Achievement Slide">
  <p:cSld name="Scientific Achievement Slide">
    <p:spTree>
      <p:nvGrpSpPr>
        <p:cNvPr id="1" name="Shape 17"/>
        <p:cNvGrpSpPr/>
        <p:nvPr/>
      </p:nvGrpSpPr>
      <p:grpSpPr>
        <a:xfrm>
          <a:off x="0" y="0"/>
          <a:ext cx="0" cy="0"/>
          <a:chOff x="0" y="0"/>
          <a:chExt cx="0" cy="0"/>
        </a:xfrm>
      </p:grpSpPr>
      <p:sp>
        <p:nvSpPr>
          <p:cNvPr id="18" name="Google Shape;18;p11"/>
          <p:cNvSpPr txBox="1">
            <a:spLocks noGrp="1"/>
          </p:cNvSpPr>
          <p:nvPr>
            <p:ph type="body" idx="1"/>
          </p:nvPr>
        </p:nvSpPr>
        <p:spPr>
          <a:xfrm>
            <a:off x="227980" y="1300598"/>
            <a:ext cx="5920930" cy="441815"/>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300"/>
              </a:spcBef>
              <a:spcAft>
                <a:spcPts val="0"/>
              </a:spcAft>
              <a:buClr>
                <a:srgbClr val="000000"/>
              </a:buClr>
              <a:buSzPts val="1800"/>
              <a:buFont typeface="Arial"/>
              <a:buNone/>
              <a:defRPr sz="1800" b="1" i="0" u="none" strike="noStrike" cap="none">
                <a:solidFill>
                  <a:srgbClr val="0C2B45"/>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9pPr>
          </a:lstStyle>
          <a:p>
            <a:endParaRPr/>
          </a:p>
        </p:txBody>
      </p:sp>
      <p:sp>
        <p:nvSpPr>
          <p:cNvPr id="19" name="Google Shape;19;p11"/>
          <p:cNvSpPr txBox="1">
            <a:spLocks noGrp="1"/>
          </p:cNvSpPr>
          <p:nvPr>
            <p:ph type="body" idx="2"/>
          </p:nvPr>
        </p:nvSpPr>
        <p:spPr>
          <a:xfrm>
            <a:off x="217589" y="2935048"/>
            <a:ext cx="5920929" cy="394254"/>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300"/>
              </a:spcBef>
              <a:spcAft>
                <a:spcPts val="0"/>
              </a:spcAft>
              <a:buClr>
                <a:srgbClr val="000000"/>
              </a:buClr>
              <a:buSzPts val="1800"/>
              <a:buFont typeface="Arial"/>
              <a:buNone/>
              <a:defRPr sz="1800" b="1" i="0" u="none" strike="noStrike" cap="none">
                <a:solidFill>
                  <a:srgbClr val="0C2B45"/>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9pPr>
          </a:lstStyle>
          <a:p>
            <a:endParaRPr/>
          </a:p>
        </p:txBody>
      </p:sp>
      <p:sp>
        <p:nvSpPr>
          <p:cNvPr id="20" name="Google Shape;20;p11"/>
          <p:cNvSpPr txBox="1">
            <a:spLocks noGrp="1"/>
          </p:cNvSpPr>
          <p:nvPr>
            <p:ph type="body" idx="3"/>
          </p:nvPr>
        </p:nvSpPr>
        <p:spPr>
          <a:xfrm>
            <a:off x="216966" y="4558820"/>
            <a:ext cx="5931424" cy="518264"/>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800"/>
              <a:buFont typeface="Arial"/>
              <a:buNone/>
              <a:defRPr sz="1800" b="1" i="0" u="none" strike="noStrike" cap="none">
                <a:solidFill>
                  <a:srgbClr val="0C2B45"/>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9pPr>
          </a:lstStyle>
          <a:p>
            <a:endParaRPr/>
          </a:p>
        </p:txBody>
      </p:sp>
      <p:sp>
        <p:nvSpPr>
          <p:cNvPr id="21" name="Google Shape;21;p11"/>
          <p:cNvSpPr txBox="1">
            <a:spLocks noGrp="1"/>
          </p:cNvSpPr>
          <p:nvPr>
            <p:ph type="body" idx="4"/>
          </p:nvPr>
        </p:nvSpPr>
        <p:spPr>
          <a:xfrm>
            <a:off x="217589" y="3300525"/>
            <a:ext cx="5920929" cy="1244948"/>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300"/>
              </a:spcBef>
              <a:spcAft>
                <a:spcPts val="0"/>
              </a:spcAft>
              <a:buClr>
                <a:srgbClr val="146737"/>
              </a:buClr>
              <a:buSzPts val="2400"/>
              <a:buFont typeface="Arial"/>
              <a:buNone/>
              <a:defRPr sz="1400" b="0" i="0" u="none" strike="noStrike" cap="none">
                <a:solidFill>
                  <a:srgbClr val="262626"/>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None/>
              <a:defRPr sz="1800"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9pPr>
          </a:lstStyle>
          <a:p>
            <a:endParaRPr/>
          </a:p>
        </p:txBody>
      </p:sp>
      <p:sp>
        <p:nvSpPr>
          <p:cNvPr id="22" name="Google Shape;22;p11"/>
          <p:cNvSpPr>
            <a:spLocks noGrp="1"/>
          </p:cNvSpPr>
          <p:nvPr>
            <p:ph type="pic" idx="5"/>
          </p:nvPr>
        </p:nvSpPr>
        <p:spPr>
          <a:xfrm>
            <a:off x="6409435" y="895353"/>
            <a:ext cx="5546485" cy="2869656"/>
          </a:xfrm>
          <a:prstGeom prst="rect">
            <a:avLst/>
          </a:prstGeom>
          <a:noFill/>
          <a:ln>
            <a:noFill/>
          </a:ln>
        </p:spPr>
        <p:txBody>
          <a:bodyPr/>
          <a:lstStyle/>
          <a:p>
            <a:endParaRPr lang="en-US"/>
          </a:p>
        </p:txBody>
      </p:sp>
      <p:sp>
        <p:nvSpPr>
          <p:cNvPr id="23" name="Google Shape;23;p11"/>
          <p:cNvSpPr txBox="1">
            <a:spLocks noGrp="1"/>
          </p:cNvSpPr>
          <p:nvPr>
            <p:ph type="body" idx="6"/>
          </p:nvPr>
        </p:nvSpPr>
        <p:spPr>
          <a:xfrm>
            <a:off x="6399043" y="3776630"/>
            <a:ext cx="5546485" cy="1007404"/>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300"/>
              </a:spcBef>
              <a:spcAft>
                <a:spcPts val="0"/>
              </a:spcAft>
              <a:buClr>
                <a:srgbClr val="000000"/>
              </a:buClr>
              <a:buSzPts val="1200"/>
              <a:buFont typeface="Arial"/>
              <a:buNone/>
              <a:defRPr sz="1200" b="0" i="1" u="none" strike="noStrike" cap="none">
                <a:solidFill>
                  <a:srgbClr val="3F3F3F"/>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None/>
              <a:defRPr sz="1800"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9pPr>
          </a:lstStyle>
          <a:p>
            <a:endParaRPr/>
          </a:p>
        </p:txBody>
      </p:sp>
      <p:sp>
        <p:nvSpPr>
          <p:cNvPr id="24" name="Google Shape;24;p11"/>
          <p:cNvSpPr txBox="1">
            <a:spLocks noGrp="1"/>
          </p:cNvSpPr>
          <p:nvPr>
            <p:ph type="body" idx="7"/>
          </p:nvPr>
        </p:nvSpPr>
        <p:spPr>
          <a:xfrm>
            <a:off x="227980" y="1663821"/>
            <a:ext cx="5920929" cy="1244948"/>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300"/>
              </a:spcBef>
              <a:spcAft>
                <a:spcPts val="0"/>
              </a:spcAft>
              <a:buClr>
                <a:srgbClr val="146737"/>
              </a:buClr>
              <a:buSzPts val="2400"/>
              <a:buFont typeface="Arial"/>
              <a:buNone/>
              <a:defRPr sz="1400" b="0" i="0" u="none" strike="noStrike" cap="none">
                <a:solidFill>
                  <a:srgbClr val="262626"/>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None/>
              <a:defRPr sz="1800"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9pPr>
          </a:lstStyle>
          <a:p>
            <a:endParaRPr/>
          </a:p>
        </p:txBody>
      </p:sp>
      <p:sp>
        <p:nvSpPr>
          <p:cNvPr id="25" name="Google Shape;25;p11"/>
          <p:cNvSpPr txBox="1">
            <a:spLocks noGrp="1"/>
          </p:cNvSpPr>
          <p:nvPr>
            <p:ph type="title"/>
          </p:nvPr>
        </p:nvSpPr>
        <p:spPr>
          <a:xfrm>
            <a:off x="227981" y="192855"/>
            <a:ext cx="7471683" cy="522103"/>
          </a:xfrm>
          <a:prstGeom prst="rect">
            <a:avLst/>
          </a:prstGeom>
          <a:noFill/>
          <a:ln>
            <a:noFill/>
          </a:ln>
        </p:spPr>
        <p:txBody>
          <a:bodyPr spcFirstLastPara="1" wrap="square" lIns="91150" tIns="45575" rIns="91150" bIns="45575" anchor="ctr" anchorCtr="0">
            <a:noAutofit/>
          </a:bodyPr>
          <a:lstStyle>
            <a:lvl1pPr lvl="0" algn="l">
              <a:lnSpc>
                <a:spcPct val="100000"/>
              </a:lnSpc>
              <a:spcBef>
                <a:spcPts val="0"/>
              </a:spcBef>
              <a:spcAft>
                <a:spcPts val="0"/>
              </a:spcAft>
              <a:buClr>
                <a:srgbClr val="0C2B45"/>
              </a:buClr>
              <a:buSzPts val="1400"/>
              <a:buFont typeface="Arial"/>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6" name="Google Shape;26;p11"/>
          <p:cNvSpPr txBox="1">
            <a:spLocks noGrp="1"/>
          </p:cNvSpPr>
          <p:nvPr>
            <p:ph type="body" idx="8"/>
          </p:nvPr>
        </p:nvSpPr>
        <p:spPr>
          <a:xfrm>
            <a:off x="6420447" y="4892911"/>
            <a:ext cx="5553963" cy="1289679"/>
          </a:xfrm>
          <a:prstGeom prst="rect">
            <a:avLst/>
          </a:prstGeom>
          <a:solidFill>
            <a:srgbClr val="F2F2F2"/>
          </a:solid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C2B45"/>
              </a:buClr>
              <a:buSzPts val="1400"/>
              <a:buNone/>
              <a:defRPr sz="1100" b="0" i="0" u="none" strike="noStrike" cap="none">
                <a:solidFill>
                  <a:srgbClr val="0C2B45"/>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None/>
              <a:defRPr sz="1800"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9pPr>
          </a:lstStyle>
          <a:p>
            <a:endParaRPr/>
          </a:p>
        </p:txBody>
      </p:sp>
      <p:sp>
        <p:nvSpPr>
          <p:cNvPr id="27" name="Google Shape;27;p11"/>
          <p:cNvSpPr txBox="1">
            <a:spLocks noGrp="1"/>
          </p:cNvSpPr>
          <p:nvPr>
            <p:ph type="body" idx="9"/>
          </p:nvPr>
        </p:nvSpPr>
        <p:spPr>
          <a:xfrm>
            <a:off x="217590" y="5030934"/>
            <a:ext cx="5930800" cy="1151656"/>
          </a:xfrm>
          <a:prstGeom prst="rect">
            <a:avLst/>
          </a:prstGeom>
          <a:noFill/>
          <a:ln>
            <a:noFill/>
          </a:ln>
        </p:spPr>
        <p:txBody>
          <a:bodyPr spcFirstLastPara="1" wrap="square" lIns="91425" tIns="45700" rIns="91425" bIns="45700" anchor="t" anchorCtr="0">
            <a:noAutofit/>
          </a:bodyPr>
          <a:lstStyle>
            <a:lvl1pPr marL="457200" marR="0" lvl="0"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None/>
              <a:defRPr sz="1800"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4pPr>
            <a:lvl5pPr marL="2286000" marR="0" lvl="4" indent="-317500" algn="l">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9pPr>
          </a:lstStyle>
          <a:p>
            <a:endParaRPr/>
          </a:p>
        </p:txBody>
      </p:sp>
      <p:sp>
        <p:nvSpPr>
          <p:cNvPr id="28" name="Google Shape;28;p11"/>
          <p:cNvSpPr txBox="1">
            <a:spLocks noGrp="1"/>
          </p:cNvSpPr>
          <p:nvPr>
            <p:ph type="body" idx="13"/>
          </p:nvPr>
        </p:nvSpPr>
        <p:spPr>
          <a:xfrm>
            <a:off x="236080" y="844062"/>
            <a:ext cx="4676775" cy="2488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C2B45"/>
              </a:buClr>
              <a:buSzPts val="1400"/>
              <a:buNone/>
              <a:defRPr sz="1600" b="0" i="0" u="none" strike="noStrike" cap="none">
                <a:solidFill>
                  <a:srgbClr val="0C2B45"/>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None/>
              <a:defRPr sz="1800"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4pPr>
            <a:lvl5pPr marL="2286000" marR="0" lvl="4" indent="-228600" algn="ctr">
              <a:lnSpc>
                <a:spcPct val="100000"/>
              </a:lnSpc>
              <a:spcBef>
                <a:spcPts val="0"/>
              </a:spcBef>
              <a:spcAft>
                <a:spcPts val="0"/>
              </a:spcAft>
              <a:buClr>
                <a:srgbClr val="0F6536"/>
              </a:buClr>
              <a:buSzPts val="1400"/>
              <a:buNone/>
              <a:defRPr sz="1100" b="0" i="0" u="none" strike="noStrike" cap="none">
                <a:solidFill>
                  <a:srgbClr val="0F6536"/>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None/>
              <a:defRPr sz="1400" b="0" i="0" u="none" strike="noStrike" cap="none">
                <a:solidFill>
                  <a:srgbClr val="000000"/>
                </a:solidFill>
                <a:latin typeface="Arial"/>
                <a:ea typeface="Arial"/>
                <a:cs typeface="Arial"/>
                <a:sym typeface="Arial"/>
              </a:defRPr>
            </a:lvl9pPr>
          </a:lstStyle>
          <a:p>
            <a:endParaRPr/>
          </a:p>
        </p:txBody>
      </p:sp>
      <p:sp>
        <p:nvSpPr>
          <p:cNvPr id="29" name="Google Shape;29;p11"/>
          <p:cNvSpPr>
            <a:spLocks noGrp="1"/>
          </p:cNvSpPr>
          <p:nvPr>
            <p:ph type="pic" idx="14"/>
          </p:nvPr>
        </p:nvSpPr>
        <p:spPr>
          <a:xfrm>
            <a:off x="7782792" y="192854"/>
            <a:ext cx="1230569" cy="510483"/>
          </a:xfrm>
          <a:prstGeom prst="rect">
            <a:avLst/>
          </a:prstGeom>
          <a:noFill/>
          <a:ln>
            <a:noFill/>
          </a:ln>
        </p:spPr>
        <p:txBody>
          <a:bodyPr/>
          <a:lstStyle/>
          <a:p>
            <a:endParaRPr lang="en-US"/>
          </a:p>
        </p:txBody>
      </p:sp>
      <p:pic>
        <p:nvPicPr>
          <p:cNvPr id="30" name="Google Shape;30;p11" descr="A close-up of a logo&#10;&#10;AI-generated content may be incorrect."/>
          <p:cNvPicPr preferRelativeResize="0"/>
          <p:nvPr/>
        </p:nvPicPr>
        <p:blipFill rotWithShape="1">
          <a:blip r:embed="rId2">
            <a:alphaModFix/>
          </a:blip>
          <a:srcRect/>
          <a:stretch/>
        </p:blipFill>
        <p:spPr>
          <a:xfrm>
            <a:off x="10151919" y="192855"/>
            <a:ext cx="1825419" cy="549110"/>
          </a:xfrm>
          <a:prstGeom prst="rect">
            <a:avLst/>
          </a:prstGeom>
          <a:noFill/>
          <a:ln>
            <a:noFill/>
          </a:ln>
        </p:spPr>
      </p:pic>
      <p:sp>
        <p:nvSpPr>
          <p:cNvPr id="31" name="Google Shape;31;p11"/>
          <p:cNvSpPr>
            <a:spLocks noGrp="1"/>
          </p:cNvSpPr>
          <p:nvPr>
            <p:ph type="pic" idx="15"/>
          </p:nvPr>
        </p:nvSpPr>
        <p:spPr>
          <a:xfrm>
            <a:off x="9070486" y="196038"/>
            <a:ext cx="1091824" cy="510483"/>
          </a:xfrm>
          <a:prstGeom prst="rect">
            <a:avLst/>
          </a:prstGeom>
          <a:noFill/>
          <a:ln>
            <a:noFill/>
          </a:ln>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C2B45"/>
              </a:buClr>
              <a:buSzPts val="3200"/>
              <a:buFont typeface="Arial"/>
              <a:buNone/>
              <a:defRPr sz="3200" b="1" i="0" u="none" strike="noStrike" cap="none">
                <a:solidFill>
                  <a:srgbClr val="0C2B4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0C2B45"/>
              </a:buClr>
              <a:buSzPts val="2800"/>
              <a:buFont typeface="Arial"/>
              <a:buChar char="•"/>
              <a:defRPr sz="2800" b="0" i="0" u="none" strike="noStrike" cap="none">
                <a:solidFill>
                  <a:srgbClr val="0C2B45"/>
                </a:solidFill>
                <a:latin typeface="Arial"/>
                <a:ea typeface="Arial"/>
                <a:cs typeface="Arial"/>
                <a:sym typeface="Arial"/>
              </a:defRPr>
            </a:lvl1pPr>
            <a:lvl2pPr marL="914400" marR="0" lvl="1" indent="-381000" algn="l" rtl="0">
              <a:lnSpc>
                <a:spcPct val="90000"/>
              </a:lnSpc>
              <a:spcBef>
                <a:spcPts val="500"/>
              </a:spcBef>
              <a:spcAft>
                <a:spcPts val="0"/>
              </a:spcAft>
              <a:buClr>
                <a:srgbClr val="0C2B45"/>
              </a:buClr>
              <a:buSzPts val="2400"/>
              <a:buFont typeface="Arial"/>
              <a:buChar char="•"/>
              <a:defRPr sz="2400" b="0" i="0" u="none" strike="noStrike" cap="none">
                <a:solidFill>
                  <a:srgbClr val="0C2B45"/>
                </a:solidFill>
                <a:latin typeface="Arial"/>
                <a:ea typeface="Arial"/>
                <a:cs typeface="Arial"/>
                <a:sym typeface="Arial"/>
              </a:defRPr>
            </a:lvl2pPr>
            <a:lvl3pPr marL="1371600" marR="0" lvl="2" indent="-355600" algn="l" rtl="0">
              <a:lnSpc>
                <a:spcPct val="90000"/>
              </a:lnSpc>
              <a:spcBef>
                <a:spcPts val="500"/>
              </a:spcBef>
              <a:spcAft>
                <a:spcPts val="0"/>
              </a:spcAft>
              <a:buClr>
                <a:srgbClr val="0C2B45"/>
              </a:buClr>
              <a:buSzPts val="2000"/>
              <a:buFont typeface="Arial"/>
              <a:buChar char="•"/>
              <a:defRPr sz="2000" b="0" i="0" u="none" strike="noStrike" cap="none">
                <a:solidFill>
                  <a:srgbClr val="0C2B45"/>
                </a:solidFill>
                <a:latin typeface="Arial"/>
                <a:ea typeface="Arial"/>
                <a:cs typeface="Arial"/>
                <a:sym typeface="Arial"/>
              </a:defRPr>
            </a:lvl3pPr>
            <a:lvl4pPr marL="1828800" marR="0" lvl="3" indent="-342900" algn="l" rtl="0">
              <a:lnSpc>
                <a:spcPct val="90000"/>
              </a:lnSpc>
              <a:spcBef>
                <a:spcPts val="500"/>
              </a:spcBef>
              <a:spcAft>
                <a:spcPts val="0"/>
              </a:spcAft>
              <a:buClr>
                <a:srgbClr val="0C2B45"/>
              </a:buClr>
              <a:buSzPts val="1800"/>
              <a:buFont typeface="Arial"/>
              <a:buChar char="•"/>
              <a:defRPr sz="1800" b="0" i="0" u="none" strike="noStrike" cap="none">
                <a:solidFill>
                  <a:srgbClr val="0C2B45"/>
                </a:solidFill>
                <a:latin typeface="Arial"/>
                <a:ea typeface="Arial"/>
                <a:cs typeface="Arial"/>
                <a:sym typeface="Arial"/>
              </a:defRPr>
            </a:lvl4pPr>
            <a:lvl5pPr marL="2286000" marR="0" lvl="4" indent="-342900" algn="l" rtl="0">
              <a:lnSpc>
                <a:spcPct val="90000"/>
              </a:lnSpc>
              <a:spcBef>
                <a:spcPts val="500"/>
              </a:spcBef>
              <a:spcAft>
                <a:spcPts val="0"/>
              </a:spcAft>
              <a:buClr>
                <a:srgbClr val="0C2B45"/>
              </a:buClr>
              <a:buSzPts val="1800"/>
              <a:buFont typeface="Arial"/>
              <a:buChar char="•"/>
              <a:defRPr sz="1800" b="0" i="0" u="none" strike="noStrike" cap="none">
                <a:solidFill>
                  <a:srgbClr val="0C2B45"/>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12" name="Google Shape;12;p9"/>
          <p:cNvGrpSpPr/>
          <p:nvPr/>
        </p:nvGrpSpPr>
        <p:grpSpPr>
          <a:xfrm>
            <a:off x="0" y="6320118"/>
            <a:ext cx="12192000" cy="537882"/>
            <a:chOff x="0" y="6320118"/>
            <a:chExt cx="12192000" cy="537882"/>
          </a:xfrm>
        </p:grpSpPr>
        <p:sp>
          <p:nvSpPr>
            <p:cNvPr id="13" name="Google Shape;13;p9"/>
            <p:cNvSpPr/>
            <p:nvPr/>
          </p:nvSpPr>
          <p:spPr>
            <a:xfrm>
              <a:off x="0" y="6320118"/>
              <a:ext cx="12192000" cy="537882"/>
            </a:xfrm>
            <a:prstGeom prst="rect">
              <a:avLst/>
            </a:prstGeom>
            <a:solidFill>
              <a:srgbClr val="0B2C4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 name="Google Shape;14;p9"/>
            <p:cNvSpPr txBox="1"/>
            <p:nvPr/>
          </p:nvSpPr>
          <p:spPr>
            <a:xfrm>
              <a:off x="9943949" y="6398798"/>
              <a:ext cx="2248051" cy="36933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venir"/>
                  <a:ea typeface="Avenir"/>
                  <a:cs typeface="Avenir"/>
                  <a:sym typeface="Avenir"/>
                </a:rPr>
                <a:t>Energy.gov/science</a:t>
              </a:r>
              <a:endParaRPr sz="1400" b="0" i="0" u="none" strike="noStrike" cap="none">
                <a:solidFill>
                  <a:srgbClr val="000000"/>
                </a:solidFill>
                <a:latin typeface="Arial"/>
                <a:ea typeface="Arial"/>
                <a:cs typeface="Arial"/>
                <a:sym typeface="Arial"/>
              </a:endParaRPr>
            </a:p>
          </p:txBody>
        </p:sp>
        <p:pic>
          <p:nvPicPr>
            <p:cNvPr id="15" name="Google Shape;15;p9" descr="Text&#10;&#10;AI-generated content may be incorrect."/>
            <p:cNvPicPr preferRelativeResize="0"/>
            <p:nvPr/>
          </p:nvPicPr>
          <p:blipFill rotWithShape="1">
            <a:blip r:embed="rId3">
              <a:alphaModFix/>
            </a:blip>
            <a:srcRect/>
            <a:stretch/>
          </p:blipFill>
          <p:spPr>
            <a:xfrm>
              <a:off x="212667" y="6399105"/>
              <a:ext cx="2148840" cy="379440"/>
            </a:xfrm>
            <a:prstGeom prst="rect">
              <a:avLst/>
            </a:prstGeom>
            <a:noFill/>
            <a:ln>
              <a:noFill/>
            </a:ln>
          </p:spPr>
        </p:pic>
      </p:grpSp>
      <p:pic>
        <p:nvPicPr>
          <p:cNvPr id="16" name="Google Shape;16;p9" descr="A close-up of a logo&#10;&#10;AI-generated content may be incorrect."/>
          <p:cNvPicPr preferRelativeResize="0"/>
          <p:nvPr/>
        </p:nvPicPr>
        <p:blipFill rotWithShape="1">
          <a:blip r:embed="rId4">
            <a:alphaModFix/>
          </a:blip>
          <a:srcRect/>
          <a:stretch/>
        </p:blipFill>
        <p:spPr>
          <a:xfrm>
            <a:off x="10155264" y="110652"/>
            <a:ext cx="1825419" cy="54911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3.pn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hyperlink" Target="https://doi.org/10.6084/m9.figshare.31564060" TargetMode="External"/><Relationship Id="rId4" Type="http://schemas.openxmlformats.org/officeDocument/2006/relationships/hyperlink" Target="https://pesoproject.org/" TargetMode="External"/><Relationship Id="rId9"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7"/>
          <p:cNvSpPr txBox="1">
            <a:spLocks noGrp="1"/>
          </p:cNvSpPr>
          <p:nvPr>
            <p:ph type="body" idx="1"/>
          </p:nvPr>
        </p:nvSpPr>
        <p:spPr>
          <a:xfrm>
            <a:off x="151881" y="1011632"/>
            <a:ext cx="5996509" cy="51061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300"/>
              </a:spcBef>
              <a:spcAft>
                <a:spcPts val="0"/>
              </a:spcAft>
              <a:buClr>
                <a:srgbClr val="000000"/>
              </a:buClr>
              <a:buSzPts val="1800"/>
              <a:buFont typeface="Arial"/>
              <a:buNone/>
            </a:pPr>
            <a:r>
              <a:rPr lang="en-US" u="none" strike="noStrike" cap="none">
                <a:latin typeface="Calibri" panose="020F0502020204030204" pitchFamily="34" charset="0"/>
                <a:cs typeface="Calibri" panose="020F0502020204030204" pitchFamily="34" charset="0"/>
              </a:rPr>
              <a:t>Scientific Workforce Achievement</a:t>
            </a:r>
            <a:endParaRPr sz="1200" b="0" u="none" strike="noStrike" cap="none">
              <a:latin typeface="Calibri" panose="020F0502020204030204" pitchFamily="34" charset="0"/>
              <a:cs typeface="Calibri" panose="020F0502020204030204" pitchFamily="34" charset="0"/>
            </a:endParaRPr>
          </a:p>
          <a:p>
            <a:pPr marL="0" marR="0" lvl="0" indent="0" algn="l" rtl="0">
              <a:lnSpc>
                <a:spcPct val="100000"/>
              </a:lnSpc>
              <a:spcBef>
                <a:spcPts val="300"/>
              </a:spcBef>
              <a:spcAft>
                <a:spcPts val="0"/>
              </a:spcAft>
              <a:buClr>
                <a:srgbClr val="000000"/>
              </a:buClr>
              <a:buSzPts val="1800"/>
              <a:buFont typeface="Arial"/>
              <a:buNone/>
            </a:pPr>
            <a:endParaRPr>
              <a:latin typeface="Calibri" panose="020F0502020204030204" pitchFamily="34" charset="0"/>
              <a:cs typeface="Calibri" panose="020F0502020204030204" pitchFamily="34" charset="0"/>
            </a:endParaRPr>
          </a:p>
        </p:txBody>
      </p:sp>
      <p:sp>
        <p:nvSpPr>
          <p:cNvPr id="38" name="Google Shape;38;p7"/>
          <p:cNvSpPr txBox="1">
            <a:spLocks noGrp="1"/>
          </p:cNvSpPr>
          <p:nvPr>
            <p:ph type="body" idx="2"/>
          </p:nvPr>
        </p:nvSpPr>
        <p:spPr>
          <a:xfrm>
            <a:off x="151881" y="2038349"/>
            <a:ext cx="6048739" cy="39425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300"/>
              </a:spcBef>
              <a:spcAft>
                <a:spcPts val="0"/>
              </a:spcAft>
              <a:buClr>
                <a:srgbClr val="000000"/>
              </a:buClr>
              <a:buSzPts val="1800"/>
              <a:buFont typeface="Arial"/>
              <a:buNone/>
            </a:pPr>
            <a:r>
              <a:rPr lang="en-US" sz="1800" b="1" i="0" u="none" strike="noStrike" cap="none"/>
              <a:t>Significance and Impact</a:t>
            </a:r>
            <a:endParaRPr sz="1200" b="0" i="0" u="none" strike="noStrike" cap="none"/>
          </a:p>
          <a:p>
            <a:pPr marL="0" marR="0" lvl="0" indent="0" algn="l" rtl="0">
              <a:lnSpc>
                <a:spcPct val="100000"/>
              </a:lnSpc>
              <a:spcBef>
                <a:spcPts val="300"/>
              </a:spcBef>
              <a:spcAft>
                <a:spcPts val="0"/>
              </a:spcAft>
              <a:buClr>
                <a:srgbClr val="000000"/>
              </a:buClr>
              <a:buSzPts val="1800"/>
              <a:buFont typeface="Arial"/>
              <a:buNone/>
            </a:pPr>
            <a:endParaRPr/>
          </a:p>
        </p:txBody>
      </p:sp>
      <p:sp>
        <p:nvSpPr>
          <p:cNvPr id="39" name="Google Shape;39;p7"/>
          <p:cNvSpPr txBox="1">
            <a:spLocks noGrp="1"/>
          </p:cNvSpPr>
          <p:nvPr>
            <p:ph type="body" idx="3"/>
          </p:nvPr>
        </p:nvSpPr>
        <p:spPr>
          <a:xfrm>
            <a:off x="216966" y="4532330"/>
            <a:ext cx="5931424" cy="5058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a:t>Technical Approach </a:t>
            </a:r>
            <a:endParaRPr/>
          </a:p>
        </p:txBody>
      </p:sp>
      <p:sp>
        <p:nvSpPr>
          <p:cNvPr id="40" name="Google Shape;40;p7"/>
          <p:cNvSpPr txBox="1">
            <a:spLocks noGrp="1"/>
          </p:cNvSpPr>
          <p:nvPr>
            <p:ph type="body" idx="4"/>
          </p:nvPr>
        </p:nvSpPr>
        <p:spPr>
          <a:xfrm>
            <a:off x="151881" y="2404593"/>
            <a:ext cx="6113824" cy="2069115"/>
          </a:xfrm>
          <a:prstGeom prst="rect">
            <a:avLst/>
          </a:prstGeom>
          <a:noFill/>
          <a:ln>
            <a:noFill/>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000000"/>
              </a:buClr>
              <a:buSzPts val="1400"/>
              <a:buFont typeface="Arial"/>
              <a:buChar char="•"/>
            </a:pPr>
            <a:r>
              <a:rPr lang="en-US" u="none" strike="noStrike" cap="none" dirty="0">
                <a:latin typeface="Calibri" panose="020F0502020204030204" pitchFamily="34" charset="0"/>
                <a:cs typeface="Calibri" panose="020F0502020204030204" pitchFamily="34" charset="0"/>
              </a:rPr>
              <a:t>SRP expands the pathways to DOE Labs by introducing lab staff to faculty and students </a:t>
            </a:r>
            <a:r>
              <a:rPr lang="en-US" b="1" i="1" u="none" strike="noStrike" cap="none" dirty="0">
                <a:latin typeface="Calibri" panose="020F0502020204030204" pitchFamily="34" charset="0"/>
                <a:cs typeface="Calibri" panose="020F0502020204030204" pitchFamily="34" charset="0"/>
              </a:rPr>
              <a:t>who likely would not otherwise collaborate with the labs</a:t>
            </a:r>
            <a:endParaRPr dirty="0">
              <a:latin typeface="Calibri" panose="020F0502020204030204" pitchFamily="34" charset="0"/>
              <a:cs typeface="Calibri" panose="020F0502020204030204" pitchFamily="34" charset="0"/>
            </a:endParaRPr>
          </a:p>
          <a:p>
            <a:pPr marL="285750" marR="0" lvl="0" indent="-285750" algn="l" rtl="0">
              <a:lnSpc>
                <a:spcPct val="100000"/>
              </a:lnSpc>
              <a:spcBef>
                <a:spcPts val="0"/>
              </a:spcBef>
              <a:spcAft>
                <a:spcPts val="0"/>
              </a:spcAft>
              <a:buClr>
                <a:srgbClr val="000000"/>
              </a:buClr>
              <a:buSzPts val="1400"/>
              <a:buFont typeface="Arial"/>
              <a:buChar char="•"/>
            </a:pPr>
            <a:r>
              <a:rPr lang="en-US" u="none" strike="noStrike" cap="none" dirty="0">
                <a:latin typeface="Calibri" panose="020F0502020204030204" pitchFamily="34" charset="0"/>
                <a:cs typeface="Calibri" panose="020F0502020204030204" pitchFamily="34" charset="0"/>
              </a:rPr>
              <a:t>Since 2015, SRP has facilitated matching DOE mentors with 500 students and 171 faculty from 261 universities who now work in DOE labs, academia, &amp; industry</a:t>
            </a:r>
            <a:endParaRPr dirty="0">
              <a:latin typeface="Calibri" panose="020F0502020204030204" pitchFamily="34" charset="0"/>
              <a:cs typeface="Calibri" panose="020F0502020204030204" pitchFamily="34" charset="0"/>
            </a:endParaRPr>
          </a:p>
          <a:p>
            <a:pPr marL="285750" lvl="0" indent="-285750" algn="l" rtl="0">
              <a:lnSpc>
                <a:spcPct val="100000"/>
              </a:lnSpc>
              <a:spcBef>
                <a:spcPts val="0"/>
              </a:spcBef>
              <a:spcAft>
                <a:spcPts val="0"/>
              </a:spcAft>
              <a:buClr>
                <a:srgbClr val="000000"/>
              </a:buClr>
              <a:buSzPts val="1400"/>
              <a:buFont typeface="Arial"/>
              <a:buChar char="•"/>
            </a:pPr>
            <a:r>
              <a:rPr lang="en-US" dirty="0">
                <a:latin typeface="Calibri" panose="020F0502020204030204" pitchFamily="34" charset="0"/>
                <a:cs typeface="Calibri" panose="020F0502020204030204" pitchFamily="34" charset="0"/>
              </a:rPr>
              <a:t>18 DOE lab researchers at 6 labs applied to match with faculty and students; 15 DOE staff matched with 37 faculty and/or students; 9 staff with 20 faculty and students were funded, leaving 17 unfunded matches</a:t>
            </a:r>
            <a:endParaRPr dirty="0">
              <a:latin typeface="Calibri" panose="020F0502020204030204" pitchFamily="34" charset="0"/>
              <a:cs typeface="Calibri" panose="020F0502020204030204" pitchFamily="34" charset="0"/>
            </a:endParaRPr>
          </a:p>
          <a:p>
            <a:pPr marL="285750" lvl="0" indent="-285750" algn="l" rtl="0">
              <a:lnSpc>
                <a:spcPct val="100000"/>
              </a:lnSpc>
              <a:spcBef>
                <a:spcPts val="0"/>
              </a:spcBef>
              <a:spcAft>
                <a:spcPts val="0"/>
              </a:spcAft>
              <a:buClr>
                <a:srgbClr val="000000"/>
              </a:buClr>
              <a:buSzPts val="1400"/>
              <a:buFont typeface="Arial"/>
              <a:buChar char="•"/>
            </a:pPr>
            <a:r>
              <a:rPr lang="en-US" dirty="0">
                <a:latin typeface="Calibri" panose="020F0502020204030204" pitchFamily="34" charset="0"/>
                <a:cs typeface="Calibri" panose="020F0502020204030204" pitchFamily="34" charset="0"/>
              </a:rPr>
              <a:t>SRP has produced lasting and repeat interactions with DOE labs </a:t>
            </a:r>
            <a:endParaRPr dirty="0">
              <a:latin typeface="Calibri" panose="020F0502020204030204" pitchFamily="34" charset="0"/>
              <a:cs typeface="Calibri" panose="020F0502020204030204" pitchFamily="34" charset="0"/>
            </a:endParaRPr>
          </a:p>
          <a:p>
            <a:pPr marL="285750" marR="0" lvl="0" indent="-196850" algn="l" rtl="0">
              <a:lnSpc>
                <a:spcPct val="100000"/>
              </a:lnSpc>
              <a:spcBef>
                <a:spcPts val="0"/>
              </a:spcBef>
              <a:spcAft>
                <a:spcPts val="0"/>
              </a:spcAft>
              <a:buClr>
                <a:srgbClr val="000000"/>
              </a:buClr>
              <a:buSzPts val="1400"/>
              <a:buFont typeface="Arial"/>
              <a:buNone/>
            </a:pPr>
            <a:endParaRPr u="none" strike="noStrike" cap="none" dirty="0">
              <a:latin typeface="Calibri" panose="020F0502020204030204" pitchFamily="34" charset="0"/>
              <a:cs typeface="Calibri" panose="020F0502020204030204" pitchFamily="34" charset="0"/>
            </a:endParaRPr>
          </a:p>
          <a:p>
            <a:pPr marL="0" marR="0" lvl="0" indent="0" algn="l" rtl="0">
              <a:lnSpc>
                <a:spcPct val="100000"/>
              </a:lnSpc>
              <a:spcBef>
                <a:spcPts val="300"/>
              </a:spcBef>
              <a:spcAft>
                <a:spcPts val="0"/>
              </a:spcAft>
              <a:buClr>
                <a:srgbClr val="146737"/>
              </a:buClr>
              <a:buSzPts val="2400"/>
              <a:buFont typeface="Arial"/>
              <a:buNone/>
            </a:pPr>
            <a:endParaRPr dirty="0">
              <a:latin typeface="Calibri" panose="020F0502020204030204" pitchFamily="34" charset="0"/>
              <a:cs typeface="Calibri" panose="020F0502020204030204" pitchFamily="34" charset="0"/>
            </a:endParaRPr>
          </a:p>
        </p:txBody>
      </p:sp>
      <p:pic>
        <p:nvPicPr>
          <p:cNvPr id="41" name="Google Shape;41;p7" descr="careers in AI, high performance computing, and computational &amp; data sciences.&#10;&#10;AI-generated content may be incorrect."/>
          <p:cNvPicPr preferRelativeResize="0">
            <a:picLocks noGrp="1"/>
          </p:cNvPicPr>
          <p:nvPr>
            <p:ph type="pic" idx="5"/>
          </p:nvPr>
        </p:nvPicPr>
        <p:blipFill rotWithShape="1">
          <a:blip r:embed="rId3">
            <a:alphaModFix/>
          </a:blip>
          <a:srcRect t="13773" b="13773"/>
          <a:stretch/>
        </p:blipFill>
        <p:spPr>
          <a:xfrm>
            <a:off x="6175779" y="802223"/>
            <a:ext cx="3111798" cy="1609990"/>
          </a:xfrm>
          <a:prstGeom prst="rect">
            <a:avLst/>
          </a:prstGeom>
          <a:noFill/>
          <a:ln>
            <a:noFill/>
          </a:ln>
        </p:spPr>
      </p:pic>
      <p:sp>
        <p:nvSpPr>
          <p:cNvPr id="42" name="Google Shape;42;p7"/>
          <p:cNvSpPr txBox="1">
            <a:spLocks noGrp="1"/>
          </p:cNvSpPr>
          <p:nvPr>
            <p:ph type="body" idx="7"/>
          </p:nvPr>
        </p:nvSpPr>
        <p:spPr>
          <a:xfrm>
            <a:off x="151881" y="1336802"/>
            <a:ext cx="6048739" cy="1244948"/>
          </a:xfrm>
          <a:prstGeom prst="rect">
            <a:avLst/>
          </a:prstGeom>
          <a:noFill/>
          <a:ln>
            <a:noFill/>
          </a:ln>
        </p:spPr>
        <p:txBody>
          <a:bodyPr spcFirstLastPara="1" wrap="square" lIns="91425" tIns="45700" rIns="91425" bIns="45700" anchor="t" anchorCtr="0">
            <a:noAutofit/>
          </a:bodyPr>
          <a:lstStyle/>
          <a:p>
            <a:pPr marL="285750" lvl="0" indent="-285750" algn="l" rtl="0">
              <a:lnSpc>
                <a:spcPct val="100000"/>
              </a:lnSpc>
              <a:spcBef>
                <a:spcPts val="300"/>
              </a:spcBef>
              <a:spcAft>
                <a:spcPts val="0"/>
              </a:spcAft>
              <a:buClr>
                <a:srgbClr val="000000"/>
              </a:buClr>
              <a:buSzPts val="1400"/>
              <a:buFont typeface="Arial"/>
              <a:buChar char="•"/>
            </a:pPr>
            <a:r>
              <a:rPr lang="en-US" dirty="0">
                <a:latin typeface="Calibri" panose="020F0502020204030204" pitchFamily="34" charset="0"/>
                <a:cs typeface="Calibri" panose="020F0502020204030204" pitchFamily="34" charset="0"/>
              </a:rPr>
              <a:t>Led by Sustainable Horizons Institute, the Sustainable Research Pathways (SRP) program </a:t>
            </a:r>
            <a:r>
              <a:rPr lang="en-US" b="1" dirty="0">
                <a:latin typeface="Calibri" panose="020F0502020204030204" pitchFamily="34" charset="0"/>
                <a:cs typeface="Calibri" panose="020F0502020204030204" pitchFamily="34" charset="0"/>
              </a:rPr>
              <a:t>matched 9 DOE Lab researchers at 4 labs with 20 new faculty and students for summer 2026 collaborations</a:t>
            </a:r>
            <a:endParaRPr dirty="0">
              <a:latin typeface="Calibri" panose="020F0502020204030204" pitchFamily="34" charset="0"/>
              <a:cs typeface="Calibri" panose="020F0502020204030204" pitchFamily="34" charset="0"/>
            </a:endParaRPr>
          </a:p>
        </p:txBody>
      </p:sp>
      <p:sp>
        <p:nvSpPr>
          <p:cNvPr id="43" name="Google Shape;43;p7"/>
          <p:cNvSpPr txBox="1">
            <a:spLocks noGrp="1"/>
          </p:cNvSpPr>
          <p:nvPr>
            <p:ph type="title"/>
          </p:nvPr>
        </p:nvSpPr>
        <p:spPr>
          <a:xfrm>
            <a:off x="151881" y="192855"/>
            <a:ext cx="8606357" cy="522103"/>
          </a:xfrm>
          <a:prstGeom prst="rect">
            <a:avLst/>
          </a:prstGeom>
          <a:noFill/>
          <a:ln>
            <a:noFill/>
          </a:ln>
        </p:spPr>
        <p:txBody>
          <a:bodyPr spcFirstLastPara="1" wrap="square" lIns="91150" tIns="45575" rIns="91150" bIns="45575" anchor="ctr" anchorCtr="0">
            <a:noAutofit/>
          </a:bodyPr>
          <a:lstStyle/>
          <a:p>
            <a:pPr marL="0" lvl="0" indent="0" algn="l" rtl="0">
              <a:lnSpc>
                <a:spcPct val="100000"/>
              </a:lnSpc>
              <a:spcBef>
                <a:spcPts val="0"/>
              </a:spcBef>
              <a:spcAft>
                <a:spcPts val="0"/>
              </a:spcAft>
              <a:buClr>
                <a:srgbClr val="0C2B45"/>
              </a:buClr>
              <a:buSzPts val="1400"/>
              <a:buFont typeface="Arial"/>
              <a:buNone/>
            </a:pPr>
            <a:r>
              <a:rPr lang="en-US" sz="2600" dirty="0">
                <a:latin typeface="Calibri" panose="020F0502020204030204" pitchFamily="34" charset="0"/>
                <a:cs typeface="Calibri" panose="020F0502020204030204" pitchFamily="34" charset="0"/>
              </a:rPr>
              <a:t>PESO Support Expands Pathways to DOE Labs through SRP</a:t>
            </a:r>
            <a:endParaRPr sz="2600" dirty="0">
              <a:latin typeface="Calibri" panose="020F0502020204030204" pitchFamily="34" charset="0"/>
              <a:cs typeface="Calibri" panose="020F0502020204030204" pitchFamily="34" charset="0"/>
            </a:endParaRPr>
          </a:p>
        </p:txBody>
      </p:sp>
      <p:sp>
        <p:nvSpPr>
          <p:cNvPr id="44" name="Google Shape;44;p7"/>
          <p:cNvSpPr txBox="1">
            <a:spLocks noGrp="1"/>
          </p:cNvSpPr>
          <p:nvPr>
            <p:ph type="body" idx="8"/>
          </p:nvPr>
        </p:nvSpPr>
        <p:spPr>
          <a:xfrm>
            <a:off x="6265700" y="4982825"/>
            <a:ext cx="5854200" cy="1245000"/>
          </a:xfrm>
          <a:prstGeom prst="rect">
            <a:avLst/>
          </a:prstGeom>
          <a:solidFill>
            <a:srgbClr val="F2F2F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200" b="1" i="0" u="none" strike="noStrike" cap="none" dirty="0">
                <a:latin typeface="Calibri" panose="020F0502020204030204" pitchFamily="34" charset="0"/>
                <a:cs typeface="Calibri" panose="020F0502020204030204" pitchFamily="34" charset="0"/>
              </a:rPr>
              <a:t>PI(s): </a:t>
            </a:r>
            <a:r>
              <a:rPr lang="en-US" sz="1200" dirty="0">
                <a:latin typeface="Calibri" panose="020F0502020204030204" pitchFamily="34" charset="0"/>
                <a:cs typeface="Calibri" panose="020F0502020204030204" pitchFamily="34" charset="0"/>
              </a:rPr>
              <a:t>Lois Curfman McInnes (ANL), Dan Martin (LBNL)</a:t>
            </a:r>
            <a:endParaRPr sz="1200" dirty="0">
              <a:latin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rgbClr val="000000"/>
              </a:buClr>
              <a:buSzPts val="1100"/>
              <a:buFont typeface="Arial"/>
              <a:buNone/>
            </a:pPr>
            <a:r>
              <a:rPr lang="en-US" sz="1200" b="1" i="0" u="none" strike="noStrike" cap="none" dirty="0">
                <a:latin typeface="Calibri" panose="020F0502020204030204" pitchFamily="34" charset="0"/>
                <a:cs typeface="Calibri" panose="020F0502020204030204" pitchFamily="34" charset="0"/>
              </a:rPr>
              <a:t>Collaborating Institutions:</a:t>
            </a:r>
            <a:r>
              <a:rPr lang="en-US" sz="1200" b="0" i="0" u="none" strike="noStrike" cap="none" dirty="0">
                <a:latin typeface="Calibri" panose="020F0502020204030204" pitchFamily="34" charset="0"/>
                <a:cs typeface="Calibri" panose="020F0502020204030204" pitchFamily="34" charset="0"/>
              </a:rPr>
              <a:t> </a:t>
            </a:r>
            <a:r>
              <a:rPr lang="en-US" sz="1200" dirty="0">
                <a:latin typeface="Calibri" panose="020F0502020204030204" pitchFamily="34" charset="0"/>
                <a:cs typeface="Calibri" panose="020F0502020204030204" pitchFamily="34" charset="0"/>
              </a:rPr>
              <a:t>Sustainable Horizons Institute, BNL, LANL, LLNL, ORNL, SNL</a:t>
            </a:r>
            <a:endParaRPr sz="1200" dirty="0">
              <a:latin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rgbClr val="000000"/>
              </a:buClr>
              <a:buSzPts val="1100"/>
              <a:buFont typeface="Arial"/>
              <a:buNone/>
            </a:pPr>
            <a:r>
              <a:rPr lang="en-US" sz="1200" b="1" i="0" u="none" strike="noStrike" cap="none" dirty="0">
                <a:latin typeface="Calibri" panose="020F0502020204030204" pitchFamily="34" charset="0"/>
                <a:cs typeface="Calibri" panose="020F0502020204030204" pitchFamily="34" charset="0"/>
              </a:rPr>
              <a:t>ASCR Program: </a:t>
            </a:r>
            <a:r>
              <a:rPr lang="en-US" sz="1200" dirty="0">
                <a:latin typeface="Calibri" panose="020F0502020204030204" pitchFamily="34" charset="0"/>
                <a:cs typeface="Calibri" panose="020F0502020204030204" pitchFamily="34" charset="0"/>
              </a:rPr>
              <a:t>NGSST (PESO Project: </a:t>
            </a:r>
            <a:r>
              <a:rPr lang="en-US" sz="1200" u="sng" dirty="0">
                <a:solidFill>
                  <a:schemeClr val="hlink"/>
                </a:solidFill>
                <a:latin typeface="Calibri" panose="020F0502020204030204" pitchFamily="34" charset="0"/>
                <a:cs typeface="Calibri" panose="020F0502020204030204" pitchFamily="34" charset="0"/>
                <a:hlinkClick r:id="rId4"/>
              </a:rPr>
              <a:t>https://pesoproject.org</a:t>
            </a:r>
            <a:r>
              <a:rPr lang="en-US" sz="1200" dirty="0">
                <a:latin typeface="Calibri" panose="020F0502020204030204" pitchFamily="34" charset="0"/>
                <a:cs typeface="Calibri" panose="020F0502020204030204" pitchFamily="34" charset="0"/>
              </a:rPr>
              <a:t>)</a:t>
            </a:r>
            <a:endParaRPr sz="1200" dirty="0">
              <a:latin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rgbClr val="000000"/>
              </a:buClr>
              <a:buSzPts val="1100"/>
              <a:buFont typeface="Arial"/>
              <a:buNone/>
            </a:pPr>
            <a:r>
              <a:rPr lang="en-US" sz="1200" b="1" i="0" u="none" strike="noStrike" cap="none" dirty="0">
                <a:latin typeface="Calibri" panose="020F0502020204030204" pitchFamily="34" charset="0"/>
                <a:cs typeface="Calibri" panose="020F0502020204030204" pitchFamily="34" charset="0"/>
              </a:rPr>
              <a:t>ASCR PM: </a:t>
            </a:r>
            <a:r>
              <a:rPr lang="en-US" sz="1200" dirty="0">
                <a:latin typeface="Calibri" panose="020F0502020204030204" pitchFamily="34" charset="0"/>
                <a:cs typeface="Calibri" panose="020F0502020204030204" pitchFamily="34" charset="0"/>
              </a:rPr>
              <a:t>David Rabson</a:t>
            </a:r>
            <a:endParaRPr sz="1200" dirty="0">
              <a:latin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rgbClr val="000000"/>
              </a:buClr>
              <a:buSzPts val="1100"/>
              <a:buFont typeface="Arial"/>
              <a:buNone/>
            </a:pPr>
            <a:r>
              <a:rPr lang="en-US" sz="1200" b="1" i="0" u="none" strike="noStrike" cap="none" dirty="0">
                <a:latin typeface="Calibri" panose="020F0502020204030204" pitchFamily="34" charset="0"/>
                <a:cs typeface="Calibri" panose="020F0502020204030204" pitchFamily="34" charset="0"/>
              </a:rPr>
              <a:t>Publication</a:t>
            </a:r>
            <a:r>
              <a:rPr lang="en-US" sz="1200" b="1" dirty="0">
                <a:latin typeface="Calibri" panose="020F0502020204030204" pitchFamily="34" charset="0"/>
                <a:cs typeface="Calibri" panose="020F0502020204030204" pitchFamily="34" charset="0"/>
              </a:rPr>
              <a:t> </a:t>
            </a:r>
            <a:r>
              <a:rPr lang="en-US" sz="1200" b="1" i="0" u="none" strike="noStrike" cap="none" dirty="0">
                <a:latin typeface="Calibri" panose="020F0502020204030204" pitchFamily="34" charset="0"/>
                <a:cs typeface="Calibri" panose="020F0502020204030204" pitchFamily="34" charset="0"/>
              </a:rPr>
              <a:t>for this work: </a:t>
            </a:r>
            <a:r>
              <a:rPr lang="en-US" sz="1200" b="1" i="0" u="sng" strike="noStrike" cap="none" dirty="0">
                <a:solidFill>
                  <a:schemeClr val="hlink"/>
                </a:solidFill>
                <a:latin typeface="Calibri" panose="020F0502020204030204" pitchFamily="34" charset="0"/>
                <a:cs typeface="Calibri" panose="020F0502020204030204" pitchFamily="34" charset="0"/>
                <a:hlinkClick r:id="rId5"/>
              </a:rPr>
              <a:t>Iterative Co-Design, Co-Development and Co-Delivery: Accelerating American S&amp;T Productivity through Public-Private Partnerships</a:t>
            </a:r>
            <a:r>
              <a:rPr lang="en-US" sz="1200" b="1" i="0" u="none" strike="noStrike" cap="none" dirty="0">
                <a:latin typeface="Calibri" panose="020F0502020204030204" pitchFamily="34" charset="0"/>
                <a:cs typeface="Calibri" panose="020F0502020204030204" pitchFamily="34" charset="0"/>
              </a:rPr>
              <a:t>, </a:t>
            </a:r>
            <a:endParaRPr sz="1200" dirty="0">
              <a:latin typeface="Calibri" panose="020F0502020204030204" pitchFamily="34" charset="0"/>
              <a:cs typeface="Calibri" panose="020F0502020204030204" pitchFamily="34" charset="0"/>
            </a:endParaRPr>
          </a:p>
        </p:txBody>
      </p:sp>
      <p:sp>
        <p:nvSpPr>
          <p:cNvPr id="45" name="Google Shape;45;p7"/>
          <p:cNvSpPr txBox="1">
            <a:spLocks noGrp="1"/>
          </p:cNvSpPr>
          <p:nvPr>
            <p:ph type="body" idx="9"/>
          </p:nvPr>
        </p:nvSpPr>
        <p:spPr>
          <a:xfrm>
            <a:off x="151881" y="4897058"/>
            <a:ext cx="6048739" cy="1448563"/>
          </a:xfrm>
          <a:prstGeom prst="rect">
            <a:avLst/>
          </a:prstGeom>
          <a:noFill/>
          <a:ln>
            <a:noFill/>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000000"/>
              </a:buClr>
              <a:buSzPts val="1400"/>
              <a:buFont typeface="Arial"/>
              <a:buChar char="•"/>
            </a:pPr>
            <a:r>
              <a:rPr lang="en-US" u="none" strike="noStrike" cap="none" dirty="0">
                <a:latin typeface="Calibri" panose="020F0502020204030204" pitchFamily="34" charset="0"/>
                <a:cs typeface="Calibri" panose="020F0502020204030204" pitchFamily="34" charset="0"/>
              </a:rPr>
              <a:t>SRP conducts extensive outreach and recruitment across the U.S., with a focus on non-R1 institutions</a:t>
            </a:r>
            <a:endParaRPr u="none" strike="noStrike" cap="none" dirty="0">
              <a:latin typeface="Calibri" panose="020F0502020204030204" pitchFamily="34" charset="0"/>
              <a:cs typeface="Calibri" panose="020F0502020204030204" pitchFamily="34" charset="0"/>
            </a:endParaRPr>
          </a:p>
          <a:p>
            <a:pPr marL="285750" lvl="0" indent="-285750" algn="l" rtl="0">
              <a:lnSpc>
                <a:spcPct val="100000"/>
              </a:lnSpc>
              <a:spcBef>
                <a:spcPts val="0"/>
              </a:spcBef>
              <a:spcAft>
                <a:spcPts val="0"/>
              </a:spcAft>
              <a:buClr>
                <a:srgbClr val="000000"/>
              </a:buClr>
              <a:buSzPts val="1400"/>
              <a:buFont typeface="Arial"/>
              <a:buChar char="•"/>
            </a:pPr>
            <a:r>
              <a:rPr lang="en-US" dirty="0">
                <a:latin typeface="Calibri" panose="020F0502020204030204" pitchFamily="34" charset="0"/>
                <a:cs typeface="Calibri" panose="020F0502020204030204" pitchFamily="34" charset="0"/>
              </a:rPr>
              <a:t>SRP has been refined over the years to provide multiple opportunities to facilitate genuine and otherwise unlikely connections</a:t>
            </a:r>
            <a:endParaRPr dirty="0">
              <a:latin typeface="Calibri" panose="020F0502020204030204" pitchFamily="34" charset="0"/>
              <a:cs typeface="Calibri" panose="020F0502020204030204" pitchFamily="34" charset="0"/>
            </a:endParaRPr>
          </a:p>
          <a:p>
            <a:pPr marL="285750" lvl="0" indent="-285750" algn="l" rtl="0">
              <a:lnSpc>
                <a:spcPct val="100000"/>
              </a:lnSpc>
              <a:spcBef>
                <a:spcPts val="0"/>
              </a:spcBef>
              <a:spcAft>
                <a:spcPts val="0"/>
              </a:spcAft>
              <a:buClr>
                <a:srgbClr val="000000"/>
              </a:buClr>
              <a:buSzPts val="1400"/>
              <a:buFont typeface="Arial"/>
              <a:buChar char="•"/>
            </a:pPr>
            <a:r>
              <a:rPr lang="en-US" dirty="0">
                <a:latin typeface="Calibri" panose="020F0502020204030204" pitchFamily="34" charset="0"/>
                <a:cs typeface="Calibri" panose="020F0502020204030204" pitchFamily="34" charset="0"/>
              </a:rPr>
              <a:t>Hallmarks include a finely tuned virtual matching workshop and the use of machine learning and other innovative techniques</a:t>
            </a:r>
            <a:endParaRPr dirty="0">
              <a:latin typeface="Calibri" panose="020F0502020204030204" pitchFamily="34" charset="0"/>
              <a:cs typeface="Calibri" panose="020F0502020204030204" pitchFamily="34" charset="0"/>
            </a:endParaRPr>
          </a:p>
        </p:txBody>
      </p:sp>
      <p:sp>
        <p:nvSpPr>
          <p:cNvPr id="46" name="Google Shape;46;p7"/>
          <p:cNvSpPr txBox="1">
            <a:spLocks noGrp="1"/>
          </p:cNvSpPr>
          <p:nvPr>
            <p:ph type="body" idx="13"/>
          </p:nvPr>
        </p:nvSpPr>
        <p:spPr>
          <a:xfrm>
            <a:off x="151881" y="657084"/>
            <a:ext cx="4866472" cy="35454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C2B45"/>
              </a:buClr>
              <a:buSzPts val="1400"/>
              <a:buNone/>
            </a:pPr>
            <a:r>
              <a:rPr lang="en-US" sz="2000" b="1">
                <a:latin typeface="Calibri" panose="020F0502020204030204" pitchFamily="34" charset="0"/>
                <a:cs typeface="Calibri" panose="020F0502020204030204" pitchFamily="34" charset="0"/>
              </a:rPr>
              <a:t>Sustainable Research Pathways (SRP)</a:t>
            </a:r>
            <a:endParaRPr sz="2000" b="1">
              <a:latin typeface="Calibri" panose="020F0502020204030204" pitchFamily="34" charset="0"/>
              <a:cs typeface="Calibri" panose="020F0502020204030204" pitchFamily="34" charset="0"/>
            </a:endParaRPr>
          </a:p>
        </p:txBody>
      </p:sp>
      <p:pic>
        <p:nvPicPr>
          <p:cNvPr id="47" name="Google Shape;47;p7" descr="The image depicts the logo of the Sustainable Horizons Institute, characterized by a circular design with a blue and teal gradient.&#10;&#10;AI-generated content may be incorrect."/>
          <p:cNvPicPr preferRelativeResize="0"/>
          <p:nvPr/>
        </p:nvPicPr>
        <p:blipFill rotWithShape="1">
          <a:blip r:embed="rId6">
            <a:alphaModFix/>
          </a:blip>
          <a:srcRect/>
          <a:stretch/>
        </p:blipFill>
        <p:spPr>
          <a:xfrm>
            <a:off x="8913411" y="233871"/>
            <a:ext cx="1205993" cy="481087"/>
          </a:xfrm>
          <a:prstGeom prst="rect">
            <a:avLst/>
          </a:prstGeom>
          <a:noFill/>
          <a:ln>
            <a:noFill/>
          </a:ln>
        </p:spPr>
      </p:pic>
      <p:pic>
        <p:nvPicPr>
          <p:cNvPr id="48" name="Google Shape;48;p7" descr="The image shows a poster or presentation slide featuring a scientific study on AMReX (Automated Modeling Framework for Reconfigurable Extensible eXtensible) base codes, device parameters, and machine learning applications, specifically focusing on ferroelectric and dielectric materials.&#10;&#10;AI-generated content may be incorrect."/>
          <p:cNvPicPr preferRelativeResize="0"/>
          <p:nvPr/>
        </p:nvPicPr>
        <p:blipFill rotWithShape="1">
          <a:blip r:embed="rId7">
            <a:alphaModFix/>
          </a:blip>
          <a:srcRect l="14946" r="7849" b="23441"/>
          <a:stretch/>
        </p:blipFill>
        <p:spPr>
          <a:xfrm>
            <a:off x="6265705" y="2953555"/>
            <a:ext cx="2556388" cy="1901268"/>
          </a:xfrm>
          <a:prstGeom prst="rect">
            <a:avLst/>
          </a:prstGeom>
          <a:noFill/>
          <a:ln>
            <a:noFill/>
          </a:ln>
        </p:spPr>
      </p:pic>
      <p:pic>
        <p:nvPicPr>
          <p:cNvPr id="49" name="Google Shape;49;p7" descr="Optimization Formulations for LAB Workforce Self-Driving Inorganic Materials Design, Development &amp; Education&#10;&#10;AI-generated content may be incorrect."/>
          <p:cNvPicPr preferRelativeResize="0"/>
          <p:nvPr/>
        </p:nvPicPr>
        <p:blipFill rotWithShape="1">
          <a:blip r:embed="rId8">
            <a:alphaModFix/>
          </a:blip>
          <a:srcRect l="7635" t="9868" r="9785" b="9119"/>
          <a:stretch/>
        </p:blipFill>
        <p:spPr>
          <a:xfrm>
            <a:off x="9262736" y="2959198"/>
            <a:ext cx="2568699" cy="1889982"/>
          </a:xfrm>
          <a:prstGeom prst="rect">
            <a:avLst/>
          </a:prstGeom>
          <a:noFill/>
          <a:ln>
            <a:noFill/>
          </a:ln>
        </p:spPr>
      </p:pic>
      <p:pic>
        <p:nvPicPr>
          <p:cNvPr id="50" name="Google Shape;50;p7" descr="Exploring Algorithmic Efficiency for DFT Calculations: Library Approach&#10;&#10;AI-generated content may be incorrect."/>
          <p:cNvPicPr preferRelativeResize="0"/>
          <p:nvPr/>
        </p:nvPicPr>
        <p:blipFill rotWithShape="1">
          <a:blip r:embed="rId9">
            <a:alphaModFix/>
          </a:blip>
          <a:srcRect t="4867" r="3029"/>
          <a:stretch/>
        </p:blipFill>
        <p:spPr>
          <a:xfrm>
            <a:off x="9262736" y="781859"/>
            <a:ext cx="2568698" cy="1889980"/>
          </a:xfrm>
          <a:prstGeom prst="rect">
            <a:avLst/>
          </a:prstGeom>
          <a:noFill/>
          <a:ln>
            <a:noFill/>
          </a:ln>
        </p:spPr>
      </p:pic>
      <p:sp>
        <p:nvSpPr>
          <p:cNvPr id="51" name="Google Shape;51;p7"/>
          <p:cNvSpPr txBox="1"/>
          <p:nvPr/>
        </p:nvSpPr>
        <p:spPr>
          <a:xfrm>
            <a:off x="7762315" y="2647752"/>
            <a:ext cx="25602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1" u="none" strike="noStrike" cap="none" dirty="0">
                <a:solidFill>
                  <a:srgbClr val="000000"/>
                </a:solidFill>
                <a:latin typeface="Arial"/>
                <a:ea typeface="Arial"/>
                <a:cs typeface="Arial"/>
                <a:sym typeface="Arial"/>
              </a:rPr>
              <a:t>SRP student poster session</a:t>
            </a:r>
            <a:endParaRPr dirty="0"/>
          </a:p>
        </p:txBody>
      </p:sp>
    </p:spTree>
  </p:cSld>
  <p:clrMapOvr>
    <a:masterClrMapping/>
  </p:clrMapOvr>
</p:sld>
</file>

<file path=ppt/theme/theme1.xml><?xml version="1.0" encoding="utf-8"?>
<a:theme xmlns:a="http://schemas.openxmlformats.org/drawingml/2006/main" name="7_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TotalTime>
  <Words>548</Words>
  <Application>Microsoft Macintosh PowerPoint</Application>
  <PresentationFormat>Widescreen</PresentationFormat>
  <Paragraphs>34</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Avenir</vt:lpstr>
      <vt:lpstr>Calibri</vt:lpstr>
      <vt:lpstr>7_office theme</vt:lpstr>
      <vt:lpstr>PESO Support Expands Pathways to DOE Labs through SRP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Fornari, Marco</dc:creator>
  <cp:lastModifiedBy>McInnes, Lois Curfman</cp:lastModifiedBy>
  <cp:revision>4</cp:revision>
  <dcterms:created xsi:type="dcterms:W3CDTF">2025-01-02T22:07:27Z</dcterms:created>
  <dcterms:modified xsi:type="dcterms:W3CDTF">2026-08-04T15:47:35Z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0x010100D0BF6F177D6D67458FBB47B7752A5A77</vt:lpwstr>
  </property>
  <property fmtid="{D5CDD505-2E9C-101B-9397-08002B2CF9AE}" pid="3" name="MediaServiceImageTags">
    <vt:lpwstr/>
  </property>
</Properties>
</file>