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4"/>
  </p:sldMasterIdLst>
  <p:notesMasterIdLst>
    <p:notesMasterId r:id="rId6"/>
  </p:notesMasterIdLst>
  <p:sldIdLst>
    <p:sldId id="25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81BD"/>
    <a:srgbClr val="0000FF"/>
    <a:srgbClr val="020079"/>
    <a:srgbClr val="EEEE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67" autoAdjust="0"/>
    <p:restoredTop sz="71986" autoAdjust="0"/>
  </p:normalViewPr>
  <p:slideViewPr>
    <p:cSldViewPr snapToGrid="0">
      <p:cViewPr varScale="1">
        <p:scale>
          <a:sx n="85" d="100"/>
          <a:sy n="85" d="100"/>
        </p:scale>
        <p:origin x="1440" y="16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134BE1-65F2-4435-8B51-6A5EBDF683AE}" type="datetimeFigureOut">
              <a:rPr lang="en-US" smtClean="0"/>
              <a:t>8/3/26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04650E-E198-4FA3-A1E8-C9B561D8C60E}" type="slidenum">
              <a:rPr lang="en-US" smtClean="0"/>
              <a:t>‹#›</a:t>
            </a:fld>
            <a:endParaRPr lang="en-US"/>
          </a:p>
        </p:txBody>
      </p:sp>
    </p:spTree>
    <p:extLst>
      <p:ext uri="{BB962C8B-B14F-4D97-AF65-F5344CB8AC3E}">
        <p14:creationId xmlns:p14="http://schemas.microsoft.com/office/powerpoint/2010/main" val="336581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t>LOCAL LAB POC:</a:t>
            </a:r>
          </a:p>
          <a:p>
            <a:r>
              <a:rPr/>
              <a:t>Johanna (Hannah) Cohoon, Lawrence Berkeley National Laboratory, hcohoon@lbl.gov</a:t>
            </a:r>
          </a:p>
          <a:p/>
          <a:p>
            <a:r>
              <a:rPr/>
              <a:t>TALKING POINTS:</a:t>
            </a:r>
          </a:p>
          <a:p>
            <a:r>
              <a:rPr/>
              <a:t>Scientific software succeeds or fails on whether people can actually use it. A library can be fast, correct, and well engineered and still go unused because installing it is confusing, the documentation assumes knowledge the reader does not have, or nobody can tell who to ask when something breaks. Those are user experience problems, and they are as real a barrier as any technical one.</a:t>
            </a:r>
          </a:p>
          <a:p>
            <a:r>
              <a:rPr/>
              <a:t>PESO treats them as such. The user and developer experience effort, UDX, applies established methods from user experience research — interviews, heuristic evaluations, and collaborative exercises — to the software the project builds and stewards. The goal is not to study users in the abstract, but to change specific tools.</a:t>
            </a:r>
          </a:p>
          <a:p>
            <a:r>
              <a:rPr/>
              <a:t>Here is what that looks like in practice. The team interviewed E4S stakeholders about how they themselves approach stewardship and usability work. A clear pattern emerged: abstraction is genuinely valuable, because hiding complexity is what lets a newcomer get started at all. But the same abstraction can backfire. When a user only ever sees the top-level interface, they may have no idea which member package is responsible for the behavior they are seeing, or who to contact about it.</a:t>
            </a:r>
          </a:p>
          <a:p>
            <a:r>
              <a:rPr/>
              <a:t>The recommendation follows directly. Create routes for users to reach the individual E4S member packages when they need to, and document and promote the ways users can send feedback to E4S. That is a concrete, actionable change to how a major DOE software product presents itself, produced by asking people how they work rather than by guessing.</a:t>
            </a:r>
          </a:p>
          <a:p>
            <a:r>
              <a:rPr/>
              <a:t>The same effort builds shared capacity across the community. UDX webinars and discussion hours alternate month by month, talks are archived publicly, and slides are deposited in a Zenodo community so they outlast the meeting. A partnership between CASS and The Good Docs Project is now pairing professional technical writers with volunteering software teams to audit their documentation. The through-line is PESO's stated strategy: empower and assist developers rather than work around them.</a:t>
            </a:r>
          </a:p>
          <a:p/>
          <a:p>
            <a:r>
              <a:rPr/>
              <a:t>METADATA:</a:t>
            </a:r>
          </a:p>
          <a:p>
            <a:r>
              <a:rPr/>
              <a:t>Name of the associated awarded project: PESO, Consortium for the Advancement of Scientific Software (CASS)</a:t>
            </a:r>
          </a:p>
          <a:p>
            <a:r>
              <a:rPr/>
              <a:t>PI names: Michael Heroux (ParaTools, Inc.), Lois Curfman McInnes (Argonne National Laboratory)</a:t>
            </a:r>
          </a:p>
          <a:p>
            <a:r>
              <a:rPr/>
              <a:t>UDX lead: Johanna (Hannah) Cohoon (Lawrence Berkeley National Laboratory)</a:t>
            </a:r>
          </a:p>
          <a:p>
            <a:r>
              <a:rPr/>
              <a:t>Name of the program manager: David Rabson, ASCR Next-Generation Scientific Software Technologies</a:t>
            </a:r>
          </a:p>
          <a:p>
            <a:r>
              <a:rPr/>
              <a:t>Presented at the DOE ASCR Computer Science Principal Investigators Meeting, Rockville, MD, July 2026</a:t>
            </a:r>
          </a:p>
          <a:p/>
          <a:p>
            <a:r>
              <a:rPr/>
              <a:t>CITATIONS:</a:t>
            </a:r>
          </a:p>
          <a:p>
            <a:r>
              <a:rPr/>
              <a:t>[NEEDS ATTENTION] The source poster cites no PESO publication for this work. The template requires at least one publication citation on the slide face; add one before submission, with full citation and DOI in these notes, and confirm any accepted manuscript has been submitted to OSTI.</a:t>
            </a:r>
          </a:p>
          <a:p>
            <a:r>
              <a:rPr/>
              <a:t>Works cited by the poster (references, not PESO outputs): Jakob Nielsen (1994, April 24), 10 Usability Heuristics for User Interface Design, Nielsen Norman Group, https://www.nngroup.com/articles/ten-usability-heuristics/ ; The Good Docs Project (2025, September 2), From code to clarity: What makes good docs?, Zenodo, https://doi.org/10.5281/zenodo.17049866</a:t>
            </a:r>
          </a:p>
          <a:p>
            <a:r>
              <a:rPr/>
              <a:t>Community resources: UDX webinar archive, https://go.lbl.gov/udx-webinars ; UX in Science Zenodo community.</a:t>
            </a:r>
          </a:p>
          <a:p/>
          <a:p>
            <a:r>
              <a:rPr/>
              <a:t>AWARDS:</a:t>
            </a:r>
          </a:p>
          <a:p>
            <a:r>
              <a:rPr/>
              <a:t>[none noted; add if applicable]</a:t>
            </a:r>
          </a:p>
          <a:p/>
          <a:p>
            <a:r>
              <a:rPr/>
              <a:t>REPRODUCIBILITY:</a:t>
            </a:r>
          </a:p>
          <a:p>
            <a:r>
              <a:rPr/>
              <a:t>Qualitative interview work rather than computational results, so reproducibility here means methodological transparency: heuristic evaluations follow Nielsen's published ten principles, and webinar materials are deposited in a public Zenodo community. If interview protocols or anonymized findings are being published, cite them here.</a:t>
            </a:r>
          </a:p>
          <a:p/>
          <a:p>
            <a:r>
              <a:rPr/>
              <a:t>BACKGROUND AND CONTEXT INFORMATION:</a:t>
            </a:r>
          </a:p>
          <a:p>
            <a:r>
              <a:rPr/>
              <a:t>Terminology: UDX is user and developer experience — deliberately broader than UX, because PESO's audience includes the people building the software as well as the people running it. Define it on first use in any talk.</a:t>
            </a:r>
          </a:p>
          <a:p>
            <a:r>
              <a:rPr/>
              <a:t>A heuristic evaluation is a structured usability assessment in which an evaluator checks a design or tool against a fixed set of established principles. The poster uses Jakob Nielsen's ten usability heuristics, first published in 1994 and still the standard reference. This is a low-cost method: a small number of trained evaluators can surface a large share of usability problems without running a full user study.</a:t>
            </a:r>
          </a:p>
          <a:p>
            <a:r>
              <a:rPr/>
              <a:t>Recruiting note from the poster: to adapt standard design guidelines for HPC settings, the team is seeking volunteers who will conduct a heuristic evaluation of a software product's usability and then be interviewed about the experience. Worth mentioning if the audience includes potential participants.</a:t>
            </a:r>
          </a:p>
          <a:p>
            <a:r>
              <a:rPr/>
              <a:t>Meeting cadence: webinars on the first Tuesday of odd-numbered months at 12pm Eastern, discussion hours on the first Tuesday of even-numbered months at the same time. The poster notes the next webinar as September 1 and the next discussion hour as October 6, with August cancelled; check current dates before presenting.</a:t>
            </a:r>
          </a:p>
        </p:txBody>
      </p:sp>
      <p:sp>
        <p:nvSpPr>
          <p:cNvPr id="4" name="Slide Number Placeholder 3"/>
          <p:cNvSpPr>
            <a:spLocks noGrp="1"/>
          </p:cNvSpPr>
          <p:nvPr>
            <p:ph type="sldNum" sz="quarter" idx="5"/>
          </p:nvPr>
        </p:nvSpPr>
        <p:spPr/>
        <p:txBody>
          <a:bodyPr/>
          <a:lstStyle/>
          <a:p>
            <a:fld id="{AA04650E-E198-4FA3-A1E8-C9B561D8C60E}" type="slidenum">
              <a:rPr lang="en-US" smtClean="0"/>
              <a:t>1</a:t>
            </a:fld>
            <a:endParaRPr lang="en-US"/>
          </a:p>
        </p:txBody>
      </p:sp>
    </p:spTree>
    <p:extLst>
      <p:ext uri="{BB962C8B-B14F-4D97-AF65-F5344CB8AC3E}">
        <p14:creationId xmlns:p14="http://schemas.microsoft.com/office/powerpoint/2010/main" val="721232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8/3/26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66660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38299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8/3/26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0535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8/3/26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615177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8/3/26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3560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8/3/26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58690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8/3/26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844317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993823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58560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53786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1754874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4" name="Rectangle 3">
            <a:extLst>
              <a:ext uri="{FF2B5EF4-FFF2-40B4-BE49-F238E27FC236}">
                <a16:creationId xmlns:a16="http://schemas.microsoft.com/office/drawing/2014/main" id="{9D265990-C2AC-43F4-A5F5-C94F93DD392D}"/>
              </a:ext>
            </a:extLst>
          </p:cNvPr>
          <p:cNvSpPr/>
          <p:nvPr userDrawn="1"/>
        </p:nvSpPr>
        <p:spPr>
          <a:xfrm>
            <a:off x="0" y="6320118"/>
            <a:ext cx="12192000" cy="537882"/>
          </a:xfrm>
          <a:prstGeom prst="rect">
            <a:avLst/>
          </a:prstGeom>
          <a:solidFill>
            <a:srgbClr val="0B2C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p:cNvSpPr>
            <a:spLocks noGrp="1"/>
          </p:cNvSpPr>
          <p:nvPr>
            <p:ph type="sldNum" sz="quarter" idx="4"/>
          </p:nvPr>
        </p:nvSpPr>
        <p:spPr>
          <a:xfrm>
            <a:off x="4724400" y="6403005"/>
            <a:ext cx="2743200" cy="365125"/>
          </a:xfrm>
          <a:prstGeom prst="rect">
            <a:avLst/>
          </a:prstGeom>
        </p:spPr>
        <p:txBody>
          <a:bodyPr vert="horz" lIns="91440" tIns="45720" rIns="91440" bIns="45720" rtlCol="0" anchor="ctr"/>
          <a:lstStyle>
            <a:lvl1pPr algn="ctr">
              <a:defRPr sz="1400">
                <a:solidFill>
                  <a:schemeClr val="bg1"/>
                </a:solidFill>
                <a:latin typeface="AvenirNext LT Pro Regular" panose="020B0504020202020204" pitchFamily="34" charset="0"/>
              </a:defRPr>
            </a:lvl1pPr>
          </a:lstStyle>
          <a:p>
            <a:fld id="{835B6AD7-18B8-4C9C-AA70-ABD830A869AC}" type="slidenum">
              <a:rPr lang="en-US" smtClean="0"/>
              <a:t>‹#›</a:t>
            </a:fld>
            <a:endParaRPr lang="en-US"/>
          </a:p>
        </p:txBody>
      </p:sp>
      <p:pic>
        <p:nvPicPr>
          <p:cNvPr id="6" name="Picture 5"/>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12667" y="6373156"/>
            <a:ext cx="2149533" cy="394974"/>
          </a:xfrm>
          <a:prstGeom prst="rect">
            <a:avLst/>
          </a:prstGeom>
        </p:spPr>
      </p:pic>
      <p:sp>
        <p:nvSpPr>
          <p:cNvPr id="7" name="TextBox 6"/>
          <p:cNvSpPr txBox="1"/>
          <p:nvPr userDrawn="1"/>
        </p:nvSpPr>
        <p:spPr>
          <a:xfrm>
            <a:off x="9943949" y="6398798"/>
            <a:ext cx="2248051" cy="369332"/>
          </a:xfrm>
          <a:prstGeom prst="rect">
            <a:avLst/>
          </a:prstGeom>
          <a:noFill/>
        </p:spPr>
        <p:txBody>
          <a:bodyPr wrap="none" rtlCol="0">
            <a:spAutoFit/>
          </a:bodyPr>
          <a:lstStyle/>
          <a:p>
            <a:pPr algn="r"/>
            <a:r>
              <a:rPr lang="en-US">
                <a:solidFill>
                  <a:schemeClr val="bg1"/>
                </a:solidFill>
                <a:latin typeface="AvenirNext LT Pro Regular" panose="020B0504020202020204" pitchFamily="34" charset="0"/>
              </a:rPr>
              <a:t>Energy.gov/science</a:t>
            </a:r>
          </a:p>
        </p:txBody>
      </p:sp>
    </p:spTree>
    <p:extLst>
      <p:ext uri="{BB962C8B-B14F-4D97-AF65-F5344CB8AC3E}">
        <p14:creationId xmlns:p14="http://schemas.microsoft.com/office/powerpoint/2010/main" val="2441954933"/>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0" y="0"/>
            <a:ext cx="12192000" cy="762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0F6636"/>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3"/>
          <p:cNvSpPr txBox="1">
            <a:spLocks noGrp="1"/>
          </p:cNvSpPr>
          <p:nvPr>
            <p:ph type="sldNum" idx="12"/>
          </p:nvPr>
        </p:nvSpPr>
        <p:spPr>
          <a:xfrm>
            <a:off x="11218333" y="6351591"/>
            <a:ext cx="5080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3224947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8/3/26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269098563"/>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s://pesoproject.org/" TargetMode="External"/><Relationship Id="rId4" Type="http://schemas.openxmlformats.org/officeDocument/2006/relationships/hyperlink" Target="https://e4s.io/" TargetMode="External"/><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 Id="rId11" Type="http://schemas.openxmlformats.org/officeDocument/2006/relationships/image" Target="../media/image8.png"/><Relationship Id="rId12" Type="http://schemas.openxmlformats.org/officeDocument/2006/relationships/image" Target="../media/image9.png"/><Relationship Id="rId13" Type="http://schemas.openxmlformats.org/officeDocument/2006/relationships/image" Target="../media/image10.png"/><Relationship Id="rId14" Type="http://schemas.openxmlformats.org/officeDocument/2006/relationships/image" Target="../media/image11.png"/><Relationship Id="rId15" Type="http://schemas.openxmlformats.org/officeDocument/2006/relationships/image" Target="../media/image12.png"/><Relationship Id="rId16" Type="http://schemas.openxmlformats.org/officeDocument/2006/relationships/image" Target="../media/image13.png"/><Relationship Id="rId17" Type="http://schemas.openxmlformats.org/officeDocument/2006/relationships/image" Target="../media/image14.png"/><Relationship Id="rId18" Type="http://schemas.openxmlformats.org/officeDocument/2006/relationships/image" Target="../media/image15.png"/><Relationship Id="rId19" Type="http://schemas.openxmlformats.org/officeDocument/2006/relationships/image" Target="../media/image16.png"/><Relationship Id="rId20" Type="http://schemas.openxmlformats.org/officeDocument/2006/relationships/hyperlink" Target="https://go.lbl.gov/udx-webinars" TargetMode="External"/><Relationship Id="rId21" Type="http://schemas.openxmlformats.org/officeDocument/2006/relationships/hyperlink" Target="https://pesoproject.org" TargetMode="External"/><Relationship Id="rId22" Type="http://schemas.openxmlformats.org/officeDocument/2006/relationships/hyperlink" Target="https://cass.commun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6110527-3D5E-DE8A-91D6-0E66981F1564}"/>
              </a:ext>
            </a:extLst>
          </p:cNvPr>
          <p:cNvSpPr/>
          <p:nvPr/>
        </p:nvSpPr>
        <p:spPr>
          <a:xfrm>
            <a:off x="7057342" y="4720433"/>
            <a:ext cx="4864420" cy="1348384"/>
          </a:xfrm>
          <a:prstGeom prst="rect">
            <a:avLst/>
          </a:prstGeom>
          <a:solidFill>
            <a:srgbClr val="8281BD">
              <a:alpha val="12941"/>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7CB983-3D4F-3FB4-37F0-5EBAA0E93936}"/>
              </a:ext>
            </a:extLst>
          </p:cNvPr>
          <p:cNvSpPr>
            <a:spLocks noGrp="1"/>
          </p:cNvSpPr>
          <p:nvPr>
            <p:ph type="title"/>
          </p:nvPr>
        </p:nvSpPr>
        <p:spPr>
          <a:xfrm>
            <a:off x="152774" y="23094"/>
            <a:ext cx="9043791" cy="608950"/>
          </a:xfrm>
        </p:spPr>
        <p:txBody>
          <a:bodyPr>
            <a:noAutofit/>
          </a:bodyPr>
          <a:lstStyle/>
          <a:p>
            <a:r>
              <a:rPr lang="en-US" sz="2800" b="1" kern="0" dirty="0">
                <a:solidFill>
                  <a:srgbClr val="000000"/>
                </a:solidFill>
                <a:ea typeface="Arial"/>
                <a:cs typeface="Arial"/>
                <a:sym typeface="Arial"/>
              </a:rPr>
              <a:t>Designing HPC Software for People</a:t>
            </a:r>
          </a:p>
        </p:txBody>
      </p:sp>
      <p:sp>
        <p:nvSpPr>
          <p:cNvPr id="7" name="Google Shape;25;p1">
            <a:extLst>
              <a:ext uri="{FF2B5EF4-FFF2-40B4-BE49-F238E27FC236}">
                <a16:creationId xmlns:a16="http://schemas.microsoft.com/office/drawing/2014/main" id="{35E5E467-2727-969B-98F3-BA95D001A982}"/>
              </a:ext>
            </a:extLst>
          </p:cNvPr>
          <p:cNvSpPr/>
          <p:nvPr/>
        </p:nvSpPr>
        <p:spPr>
          <a:xfrm>
            <a:off x="237744" y="512064"/>
            <a:ext cx="6858000" cy="119146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1" kern="0" dirty="0">
                <a:solidFill>
                  <a:srgbClr val="000000"/>
                </a:solidFill>
                <a:ea typeface="Arial"/>
                <a:cs typeface="Arial"/>
                <a:sym typeface="Arial"/>
              </a:rPr>
              <a:t>Scientific Achievement</a:t>
            </a:r>
          </a:p>
          <a:p>
            <a:pPr marL="285750" indent="-285750">
              <a:buClr>
                <a:srgbClr val="000000"/>
              </a:buClr>
              <a:buFont typeface="Arial" panose="020B0604020202020204" pitchFamily="34" charset="0"/>
              <a:buChar char="•"/>
              <a:defRPr/>
            </a:pPr>
            <a:r>
              <a:rPr lang="en-US" sz="1400" b="1" kern="0" dirty="0">
                <a:solidFill>
                  <a:srgbClr val="000000"/>
                </a:solidFill>
                <a:ea typeface="Arial"/>
                <a:cs typeface="Arial"/>
                <a:sym typeface="Arial"/>
              </a:rPr>
              <a:t>PESO UDX:</a:t>
            </a:r>
            <a:r>
              <a:rPr lang="en-US" sz="1400" b="0" kern="0" dirty="0">
                <a:solidFill>
                  <a:srgbClr val="000000"/>
                </a:solidFill>
                <a:ea typeface="Arial"/>
                <a:cs typeface="Arial"/>
                <a:sym typeface="Arial"/>
              </a:rPr>
              <a:t xml:space="preserve"> user experience methods applied to PESO and CASS software</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Interviews asked how E4S stakeholders approach stewardship and usability work</a:t>
            </a:r>
          </a:p>
          <a:p>
            <a:pPr marL="285750" indent="-285750">
              <a:buClr>
                <a:srgbClr val="000000"/>
              </a:buClr>
              <a:buFont typeface="Arial" panose="020B0604020202020204" pitchFamily="34" charset="0"/>
              <a:buChar char="•"/>
              <a:defRPr/>
            </a:pPr>
            <a:r>
              <a:rPr lang="en-US" sz="1400" b="1" kern="0" dirty="0">
                <a:solidFill>
                  <a:srgbClr val="000000"/>
                </a:solidFill>
                <a:ea typeface="Arial"/>
                <a:cs typeface="Arial"/>
                <a:sym typeface="Arial"/>
              </a:rPr>
              <a:t>Finding: abstraction lowers barriers but can obscure who is responsible</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Recommendation: create routes for users to reach E4S member packages</a:t>
            </a:r>
          </a:p>
        </p:txBody>
      </p:sp>
      <p:sp>
        <p:nvSpPr>
          <p:cNvPr id="8" name="Google Shape;26;p1">
            <a:extLst>
              <a:ext uri="{FF2B5EF4-FFF2-40B4-BE49-F238E27FC236}">
                <a16:creationId xmlns:a16="http://schemas.microsoft.com/office/drawing/2014/main" id="{0607B843-0CBD-294A-51EC-D86D699F90C2}"/>
              </a:ext>
            </a:extLst>
          </p:cNvPr>
          <p:cNvSpPr/>
          <p:nvPr/>
        </p:nvSpPr>
        <p:spPr>
          <a:xfrm>
            <a:off x="237744" y="1794967"/>
            <a:ext cx="6858000" cy="119146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1" kern="0" dirty="0">
                <a:solidFill>
                  <a:srgbClr val="000000"/>
                </a:solidFill>
                <a:ea typeface="Arial"/>
                <a:cs typeface="Arial"/>
                <a:sym typeface="Arial"/>
              </a:rPr>
              <a:t>Significance and Impact</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Usability problems hinder adoption and make development unnecessarily difficult</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Findings feed back into E4S, showing users the teams behind each package</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CASS and The Good Docs Project pair technical writers with software teams</a:t>
            </a:r>
          </a:p>
          <a:p>
            <a:pPr marL="285750" indent="-285750">
              <a:buClr>
                <a:srgbClr val="000000"/>
              </a:buClr>
              <a:buFont typeface="Arial" panose="020B0604020202020204" pitchFamily="34" charset="0"/>
              <a:buChar char="•"/>
              <a:defRPr/>
            </a:pPr>
            <a:r>
              <a:rPr lang="en-US" sz="1400" b="1" kern="0" dirty="0">
                <a:solidFill>
                  <a:srgbClr val="000000"/>
                </a:solidFill>
                <a:ea typeface="Arial"/>
                <a:cs typeface="Arial"/>
                <a:sym typeface="Arial"/>
              </a:rPr>
              <a:t>PESO's strategy is to empower and assist developers, not work around them</a:t>
            </a:r>
          </a:p>
        </p:txBody>
      </p:sp>
      <p:sp>
        <p:nvSpPr>
          <p:cNvPr id="9" name="Google Shape;27;p1">
            <a:extLst>
              <a:ext uri="{FF2B5EF4-FFF2-40B4-BE49-F238E27FC236}">
                <a16:creationId xmlns:a16="http://schemas.microsoft.com/office/drawing/2014/main" id="{34B9808A-90A5-22A7-F1DB-47BF387DC938}"/>
              </a:ext>
            </a:extLst>
          </p:cNvPr>
          <p:cNvSpPr txBox="1"/>
          <p:nvPr/>
        </p:nvSpPr>
        <p:spPr>
          <a:xfrm>
            <a:off x="7168896" y="3200400"/>
            <a:ext cx="4956048" cy="146303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1" kern="0" dirty="0">
                <a:solidFill>
                  <a:srgbClr val="000000"/>
                </a:solidFill>
                <a:ea typeface="Arial"/>
                <a:cs typeface="Arial"/>
                <a:sym typeface="Arial"/>
              </a:rPr>
              <a:t>PESO's UDX work turns user experience methods into concrete changes to scientific software. Interviews with E4S stakeholders about how they approach stewardship found that abstraction, while it lowers barriers to entry, can leave users unsure who is responsible for a given package — and yielded specific recommendations for restoring those connections.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1" kern="0" dirty="0">
                <a:solidFill>
                  <a:srgbClr val="000000"/>
                </a:solidFill>
                <a:ea typeface="Arial"/>
                <a:cs typeface="Arial"/>
                <a:sym typeface="Arial"/>
              </a:rPr>
              <a:t xml:space="preserve">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1" kern="0" dirty="0">
                <a:solidFill>
                  <a:srgbClr val="000000"/>
                </a:solidFill>
                <a:ea typeface="Arial"/>
                <a:cs typeface="Arial"/>
                <a:sym typeface="Arial"/>
              </a:rPr>
              <a:t>Community resources extend the same work. UDX webinars run the first Tuesday of odd months and discussion hours the first Tuesday of even months, with past talks archived at go.lbl.gov/udx-webinars and slides deposited in the UX in Science Zenodo community.</a:t>
            </a:r>
          </a:p>
        </p:txBody>
      </p:sp>
      <p:sp>
        <p:nvSpPr>
          <p:cNvPr id="11" name="Google Shape;29;p1">
            <a:extLst>
              <a:ext uri="{FF2B5EF4-FFF2-40B4-BE49-F238E27FC236}">
                <a16:creationId xmlns:a16="http://schemas.microsoft.com/office/drawing/2014/main" id="{F719EDE8-762E-1830-067F-4414F9F31C7C}"/>
              </a:ext>
            </a:extLst>
          </p:cNvPr>
          <p:cNvSpPr/>
          <p:nvPr/>
        </p:nvSpPr>
        <p:spPr>
          <a:xfrm>
            <a:off x="237744" y="3077870"/>
            <a:ext cx="6858000" cy="119146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1" kern="0" dirty="0">
                <a:solidFill>
                  <a:srgbClr val="000000"/>
                </a:solidFill>
                <a:ea typeface="Arial"/>
                <a:cs typeface="Arial"/>
                <a:sym typeface="Arial"/>
              </a:rPr>
              <a:t>Technical Approach</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Interviews, heuristic evaluations, and collaborative exercises as assessment tools</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Heuristic evaluation checks a tool against Nielsen's ten usability principles</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UDX webinars and discussion hours alternate monthly, upskilling the community</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Talks archived on the CASS channel; slides in the UX in Science Zenodo community</a:t>
            </a:r>
          </a:p>
        </p:txBody>
      </p:sp>
      <p:sp>
        <p:nvSpPr>
          <p:cNvPr id="15" name="TextBox 14">
            <a:extLst>
              <a:ext uri="{FF2B5EF4-FFF2-40B4-BE49-F238E27FC236}">
                <a16:creationId xmlns:a16="http://schemas.microsoft.com/office/drawing/2014/main" id="{1C742054-4F8C-D401-63CE-FEFFCD6C2810}"/>
              </a:ext>
            </a:extLst>
          </p:cNvPr>
          <p:cNvSpPr txBox="1"/>
          <p:nvPr/>
        </p:nvSpPr>
        <p:spPr>
          <a:xfrm>
            <a:off x="7175041" y="4791544"/>
            <a:ext cx="4884963"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PIs: Michael Heroux, (ParaTools, Inc.), Lois Curfman McInnes (Argonne)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UDX lead: Johanna (Hannah) Cohoon (LBNL), hcohoon@lbl.gov</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Collaborating: LBNL, CASS, The Good Docs Project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ASCR Program: Next-Generation Scientific Software Technologies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ASCR PM: David Rabson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 xml:space="preserve">UDX webinars: </a:t>
            </a:r>
            <a:r>
              <a:rPr lang="en-US" sz="1100" b="0" kern="0" dirty="0">
                <a:solidFill>
                  <a:srgbClr val="000000"/>
                </a:solidFill>
                <a:hlinkClick r:id="rId20"/>
                <a:ea typeface="Arial"/>
                <a:cs typeface="Arial"/>
                <a:sym typeface="Arial"/>
              </a:rPr>
              <a:t>https://go.lbl.gov/udx-webinars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 xml:space="preserve">PESO: </a:t>
            </a:r>
            <a:r>
              <a:rPr lang="en-US" sz="1100" b="0" kern="0" dirty="0">
                <a:solidFill>
                  <a:srgbClr val="000000"/>
                </a:solidFill>
                <a:hlinkClick r:id="rId21"/>
                <a:ea typeface="Arial"/>
                <a:cs typeface="Arial"/>
                <a:sym typeface="Arial"/>
              </a:rPr>
              <a:t>https://pesoproject.org</a:t>
            </a:r>
            <a:r>
              <a:rPr lang="en-US" sz="1100" b="0" kern="0" dirty="0">
                <a:solidFill>
                  <a:srgbClr val="000000"/>
                </a:solidFill>
                <a:ea typeface="Arial"/>
                <a:cs typeface="Arial"/>
                <a:sym typeface="Arial"/>
              </a:rPr>
              <a:t xml:space="preserve">   CASS: </a:t>
            </a:r>
            <a:r>
              <a:rPr lang="en-US" sz="1100" b="0" kern="0" dirty="0">
                <a:solidFill>
                  <a:srgbClr val="000000"/>
                </a:solidFill>
                <a:hlinkClick r:id="rId22"/>
                <a:ea typeface="Arial"/>
                <a:cs typeface="Arial"/>
                <a:sym typeface="Arial"/>
              </a:rPr>
              <a:t>https://cass.community</a:t>
            </a:r>
          </a:p>
        </p:txBody>
      </p:sp>
      <p:grpSp>
        <p:nvGrpSpPr>
          <p:cNvPr id="17" name="Group 16">
            <a:extLst>
              <a:ext uri="{FF2B5EF4-FFF2-40B4-BE49-F238E27FC236}">
                <a16:creationId xmlns:a16="http://schemas.microsoft.com/office/drawing/2014/main" id="{C924034C-6666-2D6C-3754-A1C2013A1AB4}"/>
              </a:ext>
            </a:extLst>
          </p:cNvPr>
          <p:cNvGrpSpPr/>
          <p:nvPr/>
        </p:nvGrpSpPr>
        <p:grpSpPr>
          <a:xfrm>
            <a:off x="46133" y="4994937"/>
            <a:ext cx="6809829" cy="1219473"/>
            <a:chOff x="46133" y="4994937"/>
            <a:chExt cx="6809829" cy="1219473"/>
          </a:xfrm>
        </p:grpSpPr>
        <p:sp>
          <p:nvSpPr>
            <p:cNvPr id="47" name="TextBox 46">
              <a:extLst>
                <a:ext uri="{FF2B5EF4-FFF2-40B4-BE49-F238E27FC236}">
                  <a16:creationId xmlns:a16="http://schemas.microsoft.com/office/drawing/2014/main" id="{9DF756B8-22F7-0A6B-262E-22DCD05C26DA}"/>
                </a:ext>
              </a:extLst>
            </p:cNvPr>
            <p:cNvSpPr txBox="1"/>
            <p:nvPr/>
          </p:nvSpPr>
          <p:spPr>
            <a:xfrm>
              <a:off x="204870" y="5914328"/>
              <a:ext cx="6567952" cy="300082"/>
            </a:xfrm>
            <a:prstGeom prst="rect">
              <a:avLst/>
            </a:prstGeom>
            <a:noFill/>
          </p:spPr>
          <p:txBody>
            <a:bodyPr wrap="none" rtlCol="0">
              <a:spAutoFit/>
            </a:bodyPr>
            <a:lstStyle/>
            <a:p>
              <a:r>
                <a:rPr lang="en-US" sz="1350" i="1" dirty="0"/>
                <a:t>Stewarding and advancing the current and future ecosystem of HPC-AI computing software</a:t>
              </a:r>
            </a:p>
          </p:txBody>
        </p:sp>
        <p:grpSp>
          <p:nvGrpSpPr>
            <p:cNvPr id="12" name="Group 11">
              <a:extLst>
                <a:ext uri="{FF2B5EF4-FFF2-40B4-BE49-F238E27FC236}">
                  <a16:creationId xmlns:a16="http://schemas.microsoft.com/office/drawing/2014/main" id="{44BAA8EE-49E8-A7BD-F7B7-EE6957FE1C02}"/>
                </a:ext>
              </a:extLst>
            </p:cNvPr>
            <p:cNvGrpSpPr/>
            <p:nvPr/>
          </p:nvGrpSpPr>
          <p:grpSpPr>
            <a:xfrm>
              <a:off x="46133" y="5085479"/>
              <a:ext cx="1688848" cy="932420"/>
              <a:chOff x="46133" y="5085479"/>
              <a:chExt cx="1688848" cy="932420"/>
            </a:xfrm>
          </p:grpSpPr>
          <p:sp>
            <p:nvSpPr>
              <p:cNvPr id="72" name="Google Shape;791;p15">
                <a:extLst>
                  <a:ext uri="{FF2B5EF4-FFF2-40B4-BE49-F238E27FC236}">
                    <a16:creationId xmlns:a16="http://schemas.microsoft.com/office/drawing/2014/main" id="{1F9FE1DA-404D-04E7-D349-D448AF731D57}"/>
                  </a:ext>
                </a:extLst>
              </p:cNvPr>
              <p:cNvSpPr txBox="1"/>
              <p:nvPr/>
            </p:nvSpPr>
            <p:spPr>
              <a:xfrm>
                <a:off x="46133" y="5773426"/>
                <a:ext cx="1688848" cy="244473"/>
              </a:xfrm>
              <a:prstGeom prst="rect">
                <a:avLst/>
              </a:prstGeom>
              <a:noFill/>
              <a:ln>
                <a:noFill/>
              </a:ln>
            </p:spPr>
            <p:txBody>
              <a:bodyPr spcFirstLastPara="1" wrap="square" lIns="0" tIns="0" rIns="0" bIns="0" anchor="t" anchorCtr="0">
                <a:noAutofit/>
              </a:bodyPr>
              <a:lstStyle>
                <a:defPPr>
                  <a:defRPr lang="en-US"/>
                </a:defPPr>
                <a:lvl1pPr algn="r">
                  <a:lnSpc>
                    <a:spcPct val="90000"/>
                  </a:lnSpc>
                  <a:defRPr sz="600" b="1" spc="-20">
                    <a:solidFill>
                      <a:schemeClr val="bg1">
                        <a:lumMod val="50000"/>
                      </a:schemeClr>
                    </a:solidFill>
                    <a:latin typeface="Arial"/>
                    <a:ea typeface="Arial"/>
                    <a:cs typeface="Arial"/>
                  </a:defRPr>
                </a:lvl1pPr>
              </a:lstStyle>
              <a:p>
                <a:pPr algn="ctr" defTabSz="609585">
                  <a:buClrTx/>
                </a:pPr>
                <a:r>
                  <a:rPr lang="en-US" sz="1100" b="0" kern="1200" spc="-27" dirty="0">
                    <a:solidFill>
                      <a:srgbClr val="FFFFFF">
                        <a:lumMod val="50000"/>
                      </a:srgbClr>
                    </a:solidFill>
                    <a:hlinkClick r:id="rId3"/>
                  </a:rPr>
                  <a:t>https://pesoproject.org</a:t>
                </a:r>
                <a:r>
                  <a:rPr lang="en-US" sz="1100" b="0" kern="1200" spc="-27" dirty="0">
                    <a:solidFill>
                      <a:srgbClr val="FFFFFF">
                        <a:lumMod val="50000"/>
                      </a:srgbClr>
                    </a:solidFill>
                  </a:rPr>
                  <a:t> </a:t>
                </a:r>
                <a:endParaRPr sz="1100" b="0" kern="1200" spc="-27" dirty="0">
                  <a:solidFill>
                    <a:srgbClr val="FFFFFF">
                      <a:lumMod val="50000"/>
                    </a:srgbClr>
                  </a:solidFill>
                </a:endParaRPr>
              </a:p>
            </p:txBody>
          </p:sp>
          <p:pic>
            <p:nvPicPr>
              <p:cNvPr id="45" name="Google Shape;916;p18" descr="A picture containing graphics, logo, font, symbol&#10;&#10;Description automatically generated">
                <a:extLst>
                  <a:ext uri="{FF2B5EF4-FFF2-40B4-BE49-F238E27FC236}">
                    <a16:creationId xmlns:a16="http://schemas.microsoft.com/office/drawing/2014/main" id="{1219AE27-ACBF-8385-BC88-643F8607C46F}"/>
                  </a:ext>
                </a:extLst>
              </p:cNvPr>
              <p:cNvPicPr preferRelativeResize="0">
                <a:picLocks noChangeAspect="1"/>
              </p:cNvPicPr>
              <p:nvPr/>
            </p:nvPicPr>
            <p:blipFill rotWithShape="1">
              <a:blip r:embed="rId5">
                <a:alphaModFix/>
              </a:blip>
              <a:srcRect r="-585"/>
              <a:stretch/>
            </p:blipFill>
            <p:spPr>
              <a:xfrm>
                <a:off x="333357" y="5085479"/>
                <a:ext cx="968422" cy="628201"/>
              </a:xfrm>
              <a:prstGeom prst="rect">
                <a:avLst/>
              </a:prstGeom>
              <a:noFill/>
              <a:ln>
                <a:noFill/>
              </a:ln>
            </p:spPr>
          </p:pic>
        </p:grpSp>
        <p:grpSp>
          <p:nvGrpSpPr>
            <p:cNvPr id="14" name="Group 13">
              <a:extLst>
                <a:ext uri="{FF2B5EF4-FFF2-40B4-BE49-F238E27FC236}">
                  <a16:creationId xmlns:a16="http://schemas.microsoft.com/office/drawing/2014/main" id="{CFF8EDA8-3983-DE89-74FF-8AB76A3FC654}"/>
                </a:ext>
              </a:extLst>
            </p:cNvPr>
            <p:cNvGrpSpPr/>
            <p:nvPr/>
          </p:nvGrpSpPr>
          <p:grpSpPr>
            <a:xfrm>
              <a:off x="1707697" y="5141051"/>
              <a:ext cx="4936025" cy="737147"/>
              <a:chOff x="1707697" y="5141051"/>
              <a:chExt cx="4936025" cy="737147"/>
            </a:xfrm>
          </p:grpSpPr>
          <p:pic>
            <p:nvPicPr>
              <p:cNvPr id="49" name="Google Shape;651;p13" descr="Lawrence Livermore National Laboratory">
                <a:extLst>
                  <a:ext uri="{FF2B5EF4-FFF2-40B4-BE49-F238E27FC236}">
                    <a16:creationId xmlns:a16="http://schemas.microsoft.com/office/drawing/2014/main" id="{7AA3743E-E747-8934-7CD3-6A52AE426687}"/>
                  </a:ext>
                </a:extLst>
              </p:cNvPr>
              <p:cNvPicPr preferRelativeResize="0">
                <a:picLocks noChangeAspect="1"/>
              </p:cNvPicPr>
              <p:nvPr/>
            </p:nvPicPr>
            <p:blipFill rotWithShape="1">
              <a:blip r:embed="rId6" cstate="hqprint">
                <a:alphaModFix/>
                <a:extLst>
                  <a:ext uri="{28A0092B-C50C-407E-A947-70E740481C1C}">
                    <a14:useLocalDpi xmlns:a14="http://schemas.microsoft.com/office/drawing/2010/main"/>
                  </a:ext>
                </a:extLst>
              </a:blip>
              <a:srcRect/>
              <a:stretch/>
            </p:blipFill>
            <p:spPr>
              <a:xfrm>
                <a:off x="4803462" y="5207688"/>
                <a:ext cx="898608" cy="177817"/>
              </a:xfrm>
              <a:prstGeom prst="rect">
                <a:avLst/>
              </a:prstGeom>
              <a:noFill/>
              <a:ln>
                <a:noFill/>
              </a:ln>
            </p:spPr>
          </p:pic>
          <p:pic>
            <p:nvPicPr>
              <p:cNvPr id="52" name="Google Shape;655;p13" descr="Los Alamos National Laboratory">
                <a:extLst>
                  <a:ext uri="{FF2B5EF4-FFF2-40B4-BE49-F238E27FC236}">
                    <a16:creationId xmlns:a16="http://schemas.microsoft.com/office/drawing/2014/main" id="{AC4811EE-4B1A-0DF8-6AA7-B2DB9B26842C}"/>
                  </a:ext>
                </a:extLst>
              </p:cNvPr>
              <p:cNvPicPr preferRelativeResize="0"/>
              <p:nvPr/>
            </p:nvPicPr>
            <p:blipFill rotWithShape="1">
              <a:blip r:embed="rId7" cstate="hqprint">
                <a:alphaModFix/>
                <a:extLst>
                  <a:ext uri="{28A0092B-C50C-407E-A947-70E740481C1C}">
                    <a14:useLocalDpi xmlns:a14="http://schemas.microsoft.com/office/drawing/2010/main"/>
                  </a:ext>
                </a:extLst>
              </a:blip>
              <a:srcRect/>
              <a:stretch/>
            </p:blipFill>
            <p:spPr>
              <a:xfrm>
                <a:off x="5893408" y="5218465"/>
                <a:ext cx="775760" cy="156263"/>
              </a:xfrm>
              <a:prstGeom prst="rect">
                <a:avLst/>
              </a:prstGeom>
              <a:noFill/>
              <a:ln>
                <a:noFill/>
              </a:ln>
            </p:spPr>
          </p:pic>
          <p:pic>
            <p:nvPicPr>
              <p:cNvPr id="53" name="Google Shape;656;p13" descr="Kitware">
                <a:extLst>
                  <a:ext uri="{FF2B5EF4-FFF2-40B4-BE49-F238E27FC236}">
                    <a16:creationId xmlns:a16="http://schemas.microsoft.com/office/drawing/2014/main" id="{C9A3FA12-E29B-E088-701D-0E3545150844}"/>
                  </a:ext>
                </a:extLst>
              </p:cNvPr>
              <p:cNvPicPr preferRelativeResize="0"/>
              <p:nvPr/>
            </p:nvPicPr>
            <p:blipFill rotWithShape="1">
              <a:blip r:embed="rId8" cstate="hqprint">
                <a:alphaModFix/>
                <a:extLst>
                  <a:ext uri="{28A0092B-C50C-407E-A947-70E740481C1C}">
                    <a14:useLocalDpi xmlns:a14="http://schemas.microsoft.com/office/drawing/2010/main"/>
                  </a:ext>
                </a:extLst>
              </a:blip>
              <a:srcRect/>
              <a:stretch/>
            </p:blipFill>
            <p:spPr>
              <a:xfrm>
                <a:off x="4145906" y="5245312"/>
                <a:ext cx="466217" cy="102568"/>
              </a:xfrm>
              <a:prstGeom prst="rect">
                <a:avLst/>
              </a:prstGeom>
              <a:noFill/>
              <a:ln>
                <a:noFill/>
              </a:ln>
            </p:spPr>
          </p:pic>
          <p:pic>
            <p:nvPicPr>
              <p:cNvPr id="57" name="Google Shape;661;p13" descr="BerkeleyLabLogo">
                <a:extLst>
                  <a:ext uri="{FF2B5EF4-FFF2-40B4-BE49-F238E27FC236}">
                    <a16:creationId xmlns:a16="http://schemas.microsoft.com/office/drawing/2014/main" id="{00DC9E7D-B2C4-06AC-00B2-28CE94221741}"/>
                  </a:ext>
                </a:extLst>
              </p:cNvPr>
              <p:cNvPicPr preferRelativeResize="0"/>
              <p:nvPr/>
            </p:nvPicPr>
            <p:blipFill rotWithShape="1">
              <a:blip r:embed="rId9" cstate="hqprint">
                <a:alphaModFix/>
                <a:extLst>
                  <a:ext uri="{28A0092B-C50C-407E-A947-70E740481C1C}">
                    <a14:useLocalDpi xmlns:a14="http://schemas.microsoft.com/office/drawing/2010/main"/>
                  </a:ext>
                </a:extLst>
              </a:blip>
              <a:srcRect/>
              <a:stretch/>
            </p:blipFill>
            <p:spPr>
              <a:xfrm>
                <a:off x="2656868" y="5141051"/>
                <a:ext cx="411132" cy="311090"/>
              </a:xfrm>
              <a:prstGeom prst="rect">
                <a:avLst/>
              </a:prstGeom>
              <a:noFill/>
              <a:ln>
                <a:noFill/>
              </a:ln>
            </p:spPr>
          </p:pic>
          <p:pic>
            <p:nvPicPr>
              <p:cNvPr id="58" name="Google Shape;662;p13">
                <a:extLst>
                  <a:ext uri="{FF2B5EF4-FFF2-40B4-BE49-F238E27FC236}">
                    <a16:creationId xmlns:a16="http://schemas.microsoft.com/office/drawing/2014/main" id="{AC5E7A36-A55F-9934-7231-11DA9B2E018D}"/>
                  </a:ext>
                </a:extLst>
              </p:cNvPr>
              <p:cNvPicPr preferRelativeResize="0"/>
              <p:nvPr/>
            </p:nvPicPr>
            <p:blipFill rotWithShape="1">
              <a:blip r:embed="rId10" cstate="hqprint">
                <a:alphaModFix/>
                <a:extLst>
                  <a:ext uri="{28A0092B-C50C-407E-A947-70E740481C1C}">
                    <a14:useLocalDpi xmlns:a14="http://schemas.microsoft.com/office/drawing/2010/main"/>
                  </a:ext>
                </a:extLst>
              </a:blip>
              <a:srcRect/>
              <a:stretch/>
            </p:blipFill>
            <p:spPr>
              <a:xfrm>
                <a:off x="3259339" y="5209511"/>
                <a:ext cx="695228" cy="174170"/>
              </a:xfrm>
              <a:prstGeom prst="rect">
                <a:avLst/>
              </a:prstGeom>
              <a:noFill/>
              <a:ln>
                <a:noFill/>
              </a:ln>
            </p:spPr>
          </p:pic>
          <p:pic>
            <p:nvPicPr>
              <p:cNvPr id="62" name="Google Shape;652;p13" descr="Sandia National Laboratories">
                <a:extLst>
                  <a:ext uri="{FF2B5EF4-FFF2-40B4-BE49-F238E27FC236}">
                    <a16:creationId xmlns:a16="http://schemas.microsoft.com/office/drawing/2014/main" id="{A4B4F4DE-27A9-6B69-85EE-3707C6B07299}"/>
                  </a:ext>
                </a:extLst>
              </p:cNvPr>
              <p:cNvPicPr preferRelativeResize="0"/>
              <p:nvPr/>
            </p:nvPicPr>
            <p:blipFill rotWithShape="1">
              <a:blip r:embed="rId11" cstate="hqprint">
                <a:alphaModFix/>
                <a:extLst>
                  <a:ext uri="{28A0092B-C50C-407E-A947-70E740481C1C}">
                    <a14:useLocalDpi xmlns:a14="http://schemas.microsoft.com/office/drawing/2010/main"/>
                  </a:ext>
                </a:extLst>
              </a:blip>
              <a:srcRect/>
              <a:stretch/>
            </p:blipFill>
            <p:spPr>
              <a:xfrm>
                <a:off x="4004086" y="5641758"/>
                <a:ext cx="505345" cy="201378"/>
              </a:xfrm>
              <a:prstGeom prst="rect">
                <a:avLst/>
              </a:prstGeom>
              <a:noFill/>
              <a:ln>
                <a:noFill/>
              </a:ln>
            </p:spPr>
          </p:pic>
          <p:pic>
            <p:nvPicPr>
              <p:cNvPr id="63" name="Google Shape;654;p13" descr="Oak Ridge National Laboratory">
                <a:extLst>
                  <a:ext uri="{FF2B5EF4-FFF2-40B4-BE49-F238E27FC236}">
                    <a16:creationId xmlns:a16="http://schemas.microsoft.com/office/drawing/2014/main" id="{DB16AF1C-F486-8BBB-B871-E9609EBFA3FF}"/>
                  </a:ext>
                </a:extLst>
              </p:cNvPr>
              <p:cNvPicPr preferRelativeResize="0"/>
              <p:nvPr/>
            </p:nvPicPr>
            <p:blipFill rotWithShape="1">
              <a:blip r:embed="rId12" cstate="hqprint">
                <a:alphaModFix/>
                <a:extLst>
                  <a:ext uri="{28A0092B-C50C-407E-A947-70E740481C1C}">
                    <a14:useLocalDpi xmlns:a14="http://schemas.microsoft.com/office/drawing/2010/main"/>
                  </a:ext>
                </a:extLst>
              </a:blip>
              <a:srcRect/>
              <a:stretch/>
            </p:blipFill>
            <p:spPr>
              <a:xfrm>
                <a:off x="1844701" y="5648846"/>
                <a:ext cx="704821" cy="187202"/>
              </a:xfrm>
              <a:prstGeom prst="rect">
                <a:avLst/>
              </a:prstGeom>
              <a:noFill/>
              <a:ln>
                <a:noFill/>
              </a:ln>
            </p:spPr>
          </p:pic>
          <p:pic>
            <p:nvPicPr>
              <p:cNvPr id="66" name="Google Shape;657;p13" descr="University of Oregon">
                <a:extLst>
                  <a:ext uri="{FF2B5EF4-FFF2-40B4-BE49-F238E27FC236}">
                    <a16:creationId xmlns:a16="http://schemas.microsoft.com/office/drawing/2014/main" id="{1E6835CC-DAD6-F8AE-1C22-EE03E8AE5D89}"/>
                  </a:ext>
                </a:extLst>
              </p:cNvPr>
              <p:cNvPicPr preferRelativeResize="0"/>
              <p:nvPr/>
            </p:nvPicPr>
            <p:blipFill rotWithShape="1">
              <a:blip r:embed="rId13" cstate="hqprint">
                <a:alphaModFix/>
                <a:extLst>
                  <a:ext uri="{28A0092B-C50C-407E-A947-70E740481C1C}">
                    <a14:useLocalDpi xmlns:a14="http://schemas.microsoft.com/office/drawing/2010/main"/>
                  </a:ext>
                </a:extLst>
              </a:blip>
              <a:srcRect/>
              <a:stretch/>
            </p:blipFill>
            <p:spPr>
              <a:xfrm>
                <a:off x="6106260" y="5683837"/>
                <a:ext cx="537462" cy="117220"/>
              </a:xfrm>
              <a:prstGeom prst="rect">
                <a:avLst/>
              </a:prstGeom>
              <a:noFill/>
              <a:ln>
                <a:noFill/>
              </a:ln>
            </p:spPr>
          </p:pic>
          <p:pic>
            <p:nvPicPr>
              <p:cNvPr id="67" name="Google Shape;659;p13">
                <a:extLst>
                  <a:ext uri="{FF2B5EF4-FFF2-40B4-BE49-F238E27FC236}">
                    <a16:creationId xmlns:a16="http://schemas.microsoft.com/office/drawing/2014/main" id="{C3D16736-5223-712F-7DFE-884B4733732B}"/>
                  </a:ext>
                </a:extLst>
              </p:cNvPr>
              <p:cNvPicPr preferRelativeResize="0"/>
              <p:nvPr/>
            </p:nvPicPr>
            <p:blipFill rotWithShape="1">
              <a:blip r:embed="rId14" cstate="hqprint">
                <a:alphaModFix/>
                <a:extLst>
                  <a:ext uri="{28A0092B-C50C-407E-A947-70E740481C1C}">
                    <a14:useLocalDpi xmlns:a14="http://schemas.microsoft.com/office/drawing/2010/main"/>
                  </a:ext>
                </a:extLst>
              </a:blip>
              <a:srcRect/>
              <a:stretch/>
            </p:blipFill>
            <p:spPr>
              <a:xfrm>
                <a:off x="2691567" y="5655362"/>
                <a:ext cx="524852" cy="174170"/>
              </a:xfrm>
              <a:prstGeom prst="rect">
                <a:avLst/>
              </a:prstGeom>
              <a:noFill/>
              <a:ln>
                <a:noFill/>
              </a:ln>
            </p:spPr>
          </p:pic>
          <p:pic>
            <p:nvPicPr>
              <p:cNvPr id="68" name="Google Shape;660;p13">
                <a:extLst>
                  <a:ext uri="{FF2B5EF4-FFF2-40B4-BE49-F238E27FC236}">
                    <a16:creationId xmlns:a16="http://schemas.microsoft.com/office/drawing/2014/main" id="{FA4B11A7-0A95-B52C-1137-288B861A0B3B}"/>
                  </a:ext>
                </a:extLst>
              </p:cNvPr>
              <p:cNvPicPr preferRelativeResize="0"/>
              <p:nvPr/>
            </p:nvPicPr>
            <p:blipFill rotWithShape="1">
              <a:blip r:embed="rId15" cstate="hqprint">
                <a:alphaModFix/>
                <a:extLst>
                  <a:ext uri="{28A0092B-C50C-407E-A947-70E740481C1C}">
                    <a14:useLocalDpi xmlns:a14="http://schemas.microsoft.com/office/drawing/2010/main"/>
                  </a:ext>
                </a:extLst>
              </a:blip>
              <a:srcRect/>
              <a:stretch/>
            </p:blipFill>
            <p:spPr>
              <a:xfrm>
                <a:off x="4651476" y="5611655"/>
                <a:ext cx="670450" cy="261585"/>
              </a:xfrm>
              <a:prstGeom prst="rect">
                <a:avLst/>
              </a:prstGeom>
              <a:noFill/>
              <a:ln>
                <a:noFill/>
              </a:ln>
            </p:spPr>
          </p:pic>
          <p:pic>
            <p:nvPicPr>
              <p:cNvPr id="71" name="Google Shape;663;p13">
                <a:extLst>
                  <a:ext uri="{FF2B5EF4-FFF2-40B4-BE49-F238E27FC236}">
                    <a16:creationId xmlns:a16="http://schemas.microsoft.com/office/drawing/2014/main" id="{0A2F52FC-651E-EE35-E238-415339095F80}"/>
                  </a:ext>
                </a:extLst>
              </p:cNvPr>
              <p:cNvPicPr preferRelativeResize="0"/>
              <p:nvPr/>
            </p:nvPicPr>
            <p:blipFill rotWithShape="1">
              <a:blip r:embed="rId16" cstate="hqprint">
                <a:alphaModFix/>
                <a:extLst>
                  <a:ext uri="{28A0092B-C50C-407E-A947-70E740481C1C}">
                    <a14:useLocalDpi xmlns:a14="http://schemas.microsoft.com/office/drawing/2010/main"/>
                  </a:ext>
                </a:extLst>
              </a:blip>
              <a:srcRect/>
              <a:stretch/>
            </p:blipFill>
            <p:spPr>
              <a:xfrm>
                <a:off x="3358464" y="5669898"/>
                <a:ext cx="503577" cy="145098"/>
              </a:xfrm>
              <a:prstGeom prst="rect">
                <a:avLst/>
              </a:prstGeom>
              <a:noFill/>
              <a:ln>
                <a:noFill/>
              </a:ln>
            </p:spPr>
          </p:pic>
          <p:pic>
            <p:nvPicPr>
              <p:cNvPr id="6" name="Google Shape;300;p1">
                <a:extLst>
                  <a:ext uri="{FF2B5EF4-FFF2-40B4-BE49-F238E27FC236}">
                    <a16:creationId xmlns:a16="http://schemas.microsoft.com/office/drawing/2014/main" id="{D160ADCE-A0E1-75DE-0509-9A68450A1F07}"/>
                  </a:ext>
                </a:extLst>
              </p:cNvPr>
              <p:cNvPicPr preferRelativeResize="0">
                <a:picLocks noChangeAspect="1"/>
              </p:cNvPicPr>
              <p:nvPr/>
            </p:nvPicPr>
            <p:blipFill rotWithShape="1">
              <a:blip r:embed="rId17">
                <a:alphaModFix/>
              </a:blip>
              <a:srcRect/>
              <a:stretch/>
            </p:blipFill>
            <p:spPr>
              <a:xfrm>
                <a:off x="1760708" y="5174360"/>
                <a:ext cx="704821" cy="244473"/>
              </a:xfrm>
              <a:prstGeom prst="rect">
                <a:avLst/>
              </a:prstGeom>
              <a:noFill/>
              <a:ln>
                <a:noFill/>
              </a:ln>
            </p:spPr>
          </p:pic>
        </p:grpSp>
        <p:sp>
          <p:nvSpPr>
            <p:cNvPr id="10" name="Rounded Rectangle 9">
              <a:extLst>
                <a:ext uri="{FF2B5EF4-FFF2-40B4-BE49-F238E27FC236}">
                  <a16:creationId xmlns:a16="http://schemas.microsoft.com/office/drawing/2014/main" id="{68164DBD-1BFF-EF0D-0E26-C40A92422A22}"/>
                </a:ext>
              </a:extLst>
            </p:cNvPr>
            <p:cNvSpPr/>
            <p:nvPr/>
          </p:nvSpPr>
          <p:spPr>
            <a:xfrm>
              <a:off x="131995" y="4994937"/>
              <a:ext cx="6723967" cy="118318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3" name="Picture 72" descr="Team Libra logo"/>
            <p:cNvPicPr>
              <a:picLocks noChangeAspect="1"/>
            </p:cNvPicPr>
            <p:nvPr/>
          </p:nvPicPr>
          <p:blipFill>
            <a:blip r:embed="rId19"/>
            <a:stretch>
              <a:fillRect/>
            </a:stretch>
          </p:blipFill>
          <p:spPr>
            <a:xfrm>
              <a:off x="5463971" y="5645054"/>
              <a:ext cx="500246" cy="194786"/>
            </a:xfrm>
            <a:prstGeom prst="rect">
              <a:avLst/>
            </a:prstGeom>
          </p:spPr>
        </p:pic>
      </p:grpSp>
      <p:pic>
        <p:nvPicPr>
          <p:cNvPr id="3" name="Google Shape;28;p1" descr="A picture containing graphical user interface&#10;&#10;Description automatically generated">
            <a:extLst>
              <a:ext uri="{FF2B5EF4-FFF2-40B4-BE49-F238E27FC236}">
                <a16:creationId xmlns:a16="http://schemas.microsoft.com/office/drawing/2014/main" id="{0E4F6B09-331B-6AAD-F1AB-59333EA90562}"/>
              </a:ext>
            </a:extLst>
          </p:cNvPr>
          <p:cNvPicPr preferRelativeResize="0"/>
          <p:nvPr/>
        </p:nvPicPr>
        <p:blipFill rotWithShape="1">
          <a:blip r:embed="rId18">
            <a:alphaModFix/>
          </a:blip>
          <a:srcRect/>
          <a:stretch/>
        </p:blipFill>
        <p:spPr>
          <a:xfrm>
            <a:off x="7187184" y="256032"/>
            <a:ext cx="4873306" cy="2834640"/>
          </a:xfrm>
          <a:prstGeom prst="rect">
            <a:avLst/>
          </a:prstGeom>
          <a:noFill/>
          <a:ln w="9525" cap="flat" cmpd="sng">
            <a:solidFill>
              <a:srgbClr val="7F7F7F"/>
            </a:solidFill>
            <a:prstDash val="solid"/>
            <a:round/>
            <a:headEnd type="none" w="sm" len="sm"/>
            <a:tailEnd type="none" w="sm" len="sm"/>
          </a:ln>
        </p:spPr>
      </p:pic>
    </p:spTree>
    <p:extLst>
      <p:ext uri="{BB962C8B-B14F-4D97-AF65-F5344CB8AC3E}">
        <p14:creationId xmlns:p14="http://schemas.microsoft.com/office/powerpoint/2010/main" val="3201699841"/>
      </p:ext>
    </p:extLst>
  </p:cSld>
  <p:clrMapOvr>
    <a:masterClrMapping/>
  </p:clrMapOvr>
  <p:transition/>
</p:sld>
</file>

<file path=ppt/theme/theme1.xml><?xml version="1.0" encoding="utf-8"?>
<a:theme xmlns:a="http://schemas.openxmlformats.org/drawingml/2006/main" name="7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0BF6F177D6D67458FBB47B7752A5A77" ma:contentTypeVersion="14" ma:contentTypeDescription="Create a new document." ma:contentTypeScope="" ma:versionID="511b56ef837cb8094633f79cbf6101bb">
  <xsd:schema xmlns:xsd="http://www.w3.org/2001/XMLSchema" xmlns:xs="http://www.w3.org/2001/XMLSchema" xmlns:p="http://schemas.microsoft.com/office/2006/metadata/properties" xmlns:ns2="d3abd939-9d94-49d1-925a-c93fb1ff4b6e" xmlns:ns3="bc761791-33a0-47b7-8145-9d3c2515a3a0" targetNamespace="http://schemas.microsoft.com/office/2006/metadata/properties" ma:root="true" ma:fieldsID="a0782334ac6122055466205749466095" ns2:_="" ns3:_="">
    <xsd:import namespace="d3abd939-9d94-49d1-925a-c93fb1ff4b6e"/>
    <xsd:import namespace="bc761791-33a0-47b7-8145-9d3c2515a3a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SubjectTag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abd939-9d94-49d1-925a-c93fb1ff4b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SubjectTags" ma:index="14" nillable="true" ma:displayName="Subject Tags" ma:description="Insert any relevant topical areas or subjects" ma:format="Dropdown" ma:internalName="SubjectTags">
      <xsd:simpleType>
        <xsd:union memberTypes="dms:Text">
          <xsd:simpleType>
            <xsd:restriction base="dms:Choice">
              <xsd:enumeration value="ECRP"/>
              <xsd:enumeration value="AI"/>
              <xsd:enumeration value="EPSCOR"/>
              <xsd:enumeration value="SciDAC"/>
              <xsd:enumeration value="Data/Vis"/>
              <xsd:enumeration value="Computer Science"/>
              <xsd:enumeration value="Quantum"/>
              <xsd:enumeration value="Budget Related"/>
            </xsd:restriction>
          </xsd:simpleType>
        </xsd:unio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2dabcefd-7191-4d78-9d18-d223e822edaa" ma:termSetId="09814cd3-568e-fe90-9814-8d621ff8fb84" ma:anchorId="fba54fb3-c3e1-fe81-a776-ca4b69148c4d" ma:open="true" ma:isKeyword="false">
      <xsd:complexType>
        <xsd:sequence>
          <xsd:element ref="pc:Terms" minOccurs="0" maxOccurs="1"/>
        </xsd:sequence>
      </xsd:complex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c761791-33a0-47b7-8145-9d3c2515a3a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0ba3bf2f-9f6a-42de-9806-f02ccdd7535d}" ma:internalName="TaxCatchAll" ma:showField="CatchAllData" ma:web="bc761791-33a0-47b7-8145-9d3c2515a3a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3abd939-9d94-49d1-925a-c93fb1ff4b6e">
      <Terms xmlns="http://schemas.microsoft.com/office/infopath/2007/PartnerControls"/>
    </lcf76f155ced4ddcb4097134ff3c332f>
    <SubjectTags xmlns="d3abd939-9d94-49d1-925a-c93fb1ff4b6e" xsi:nil="true"/>
    <TaxCatchAll xmlns="bc761791-33a0-47b7-8145-9d3c2515a3a0" xsi:nil="true"/>
  </documentManagement>
</p:properties>
</file>

<file path=customXml/itemProps1.xml><?xml version="1.0" encoding="utf-8"?>
<ds:datastoreItem xmlns:ds="http://schemas.openxmlformats.org/officeDocument/2006/customXml" ds:itemID="{AA8EE7F5-A494-4A3A-8402-D6EC287A4FD9}">
  <ds:schemaRefs>
    <ds:schemaRef ds:uri="http://schemas.microsoft.com/sharepoint/v3/contenttype/forms"/>
  </ds:schemaRefs>
</ds:datastoreItem>
</file>

<file path=customXml/itemProps2.xml><?xml version="1.0" encoding="utf-8"?>
<ds:datastoreItem xmlns:ds="http://schemas.openxmlformats.org/officeDocument/2006/customXml" ds:itemID="{A9B585CC-6C58-4D0F-87F3-D826C458A2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3abd939-9d94-49d1-925a-c93fb1ff4b6e"/>
    <ds:schemaRef ds:uri="bc761791-33a0-47b7-8145-9d3c2515a3a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0A43E79-5F32-4471-8B9A-F8FE298C9716}">
  <ds:schemaRefs>
    <ds:schemaRef ds:uri="http://schemas.microsoft.com/office/2006/metadata/properties"/>
    <ds:schemaRef ds:uri="bc761791-33a0-47b7-8145-9d3c2515a3a0"/>
    <ds:schemaRef ds:uri="http://purl.org/dc/terms/"/>
    <ds:schemaRef ds:uri="http://schemas.microsoft.com/office/2006/documentManagement/types"/>
    <ds:schemaRef ds:uri="http://schemas.openxmlformats.org/package/2006/metadata/core-properties"/>
    <ds:schemaRef ds:uri="d3abd939-9d94-49d1-925a-c93fb1ff4b6e"/>
    <ds:schemaRef ds:uri="http://purl.org/dc/elements/1.1/"/>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4239</TotalTime>
  <Words>573</Words>
  <Application>Microsoft Macintosh PowerPoint</Application>
  <PresentationFormat>Widescreen</PresentationFormat>
  <Paragraphs>42</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AvenirNext LT Pro Regular</vt:lpstr>
      <vt:lpstr>Calibri</vt:lpstr>
      <vt:lpstr>Calibri Light</vt:lpstr>
      <vt:lpstr>7_office theme</vt:lpstr>
      <vt:lpstr>Highlight Title – Should be short, catchy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PESO Team Contributes to HPSF Growth and Impact</dc:title>
  <dc:subject>Highlight slide for DOE ASCR</dc:subject>
  <dc:creator>Michael Heroux</dc:creator>
  <cp:keywords/>
  <dc:description/>
  <cp:lastModifiedBy>Michael Heroux</cp:lastModifiedBy>
  <cp:revision>43</cp:revision>
  <dcterms:created xsi:type="dcterms:W3CDTF">2025-01-02T22:07:27Z</dcterms:created>
  <dcterms:modified xsi:type="dcterms:W3CDTF">2026-08-03T21:00:48Z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0x010100D0BF6F177D6D67458FBB47B7752A5A77</vt:lpwstr>
  </property>
  <property fmtid="{D5CDD505-2E9C-101B-9397-08002B2CF9AE}" pid="3" name="MediaServiceImageTags">
    <vt:lpwstr/>
  </property>
</Properties>
</file>