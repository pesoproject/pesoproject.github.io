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4"/>
  </p:sldMasterIdLst>
  <p:notesMasterIdLst>
    <p:notesMasterId r:id="rId6"/>
  </p:notesMasterIdLst>
  <p:sldIdLst>
    <p:sldId id="25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281BD"/>
    <a:srgbClr val="0000FF"/>
    <a:srgbClr val="020079"/>
    <a:srgbClr val="EEEE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467" autoAdjust="0"/>
    <p:restoredTop sz="71986" autoAdjust="0"/>
  </p:normalViewPr>
  <p:slideViewPr>
    <p:cSldViewPr snapToGrid="0">
      <p:cViewPr varScale="1">
        <p:scale>
          <a:sx n="85" d="100"/>
          <a:sy n="85" d="100"/>
        </p:scale>
        <p:origin x="1792" y="16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134BE1-65F2-4435-8B51-6A5EBDF683AE}" type="datetimeFigureOut">
              <a:rPr lang="en-US" smtClean="0"/>
              <a:t>8/4/26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04650E-E198-4FA3-A1E8-C9B561D8C60E}" type="slidenum">
              <a:rPr lang="en-US" smtClean="0"/>
              <a:t>‹#›</a:t>
            </a:fld>
            <a:endParaRPr lang="en-US"/>
          </a:p>
        </p:txBody>
      </p:sp>
    </p:spTree>
    <p:extLst>
      <p:ext uri="{BB962C8B-B14F-4D97-AF65-F5344CB8AC3E}">
        <p14:creationId xmlns:p14="http://schemas.microsoft.com/office/powerpoint/2010/main" val="336581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LOCAL LAB POC:</a:t>
            </a:r>
          </a:p>
          <a:p>
            <a:r>
              <a:t>[add name and contact]</a:t>
            </a:r>
          </a:p>
          <a:p>
            <a:endParaRPr/>
          </a:p>
          <a:p>
            <a:r>
              <a:t>TALKING POINTS:</a:t>
            </a:r>
          </a:p>
          <a:p>
            <a:r>
              <a:t>DOE's HPC software ecosystem depends on dozens of independently maintained open-source libraries and tools — ParaView, ADIOS2, HDF5, HPCToolkit, PAPI, and more — that all need to stay secure, interoperable, and deployable across every DOE computing facility. That sustainability burden is more than any single upstream team can carry alone.</a:t>
            </a:r>
          </a:p>
          <a:p>
            <a:r>
              <a:t>The PESO project's DAV and TOOLS Integrations supply shared infrastructure instead: per-product continuous integration across GitHub and GitLab, Spack recipes that define how each package is built, and a security-hardening layer built on the OpenSSF Best Practices Badge and Scorecard frameworks, all tracked on a shared CLOMonitor dashboard fork.</a:t>
            </a:r>
          </a:p>
          <a:p>
            <a:r>
              <a:t>The results are concrete. ADIOS2's OpenSSF Scorecard rose from 7.1 to 8.6 out of 10, enough to pass the Best Practices badge. New security policies now cover ADIOS2, Viskores, ZFP, Darshan, and PAPI. Supply-chain hardening — hashed CI dependencies, minimal workflow-token permissions, branch protection — has closed vulnerabilities across many of the products, and the same curated Spack environments are automatically deployed and refreshed on the Frontier exascale system, with Perlmutter and Aurora coming next.</a:t>
            </a:r>
          </a:p>
          <a:p>
            <a:r>
              <a:t>This matters beyond convenience. Quality and security work done once, centrally, by the DAV and TOOLS Integrations reaches every DOE facility and every downstream user through E4S, rather than being repeated — or skipped — by each individual product team separately.</a:t>
            </a:r>
          </a:p>
          <a:p>
            <a:r>
              <a:t>That is DOE software investment being turned into a more trustworthy, more sustainable exascale software ecosystem, in coordination with RAPIDS, STEP, E4S, FASTMath, and DOE facility partners.</a:t>
            </a:r>
          </a:p>
          <a:p>
            <a:endParaRPr/>
          </a:p>
          <a:p>
            <a:r>
              <a:t>METADATA:</a:t>
            </a:r>
          </a:p>
          <a:p>
            <a:r>
              <a:t>Name of the associated awarded project: PESO, Consortium for the Advancement of Scientific Software (CASS)</a:t>
            </a:r>
          </a:p>
          <a:p>
            <a:r>
              <a:t>PI names: Michael Heroux (ParaTools, Inc.), Lois Curfman McInnes (Argonne National Laboratory)</a:t>
            </a:r>
          </a:p>
          <a:p>
            <a:r>
              <a:t>DAV &amp; TOOLS Integrations lead: [add name and contact]</a:t>
            </a:r>
          </a:p>
          <a:p>
            <a:r>
              <a:t>Name of the program manager: David Rabson, ASCR Next-Generation Scientific Software Technologies</a:t>
            </a:r>
          </a:p>
          <a:p>
            <a:endParaRPr/>
          </a:p>
          <a:p>
            <a:r>
              <a:t>CITATIONS:</a:t>
            </a:r>
          </a:p>
          <a:p>
            <a:r>
              <a:t>[to be completed before submission] The source poster names no publication. Add full citations, including DOIs, for any associated DAV/TOOLS Integrations paper or report, and confirm accepted manuscripts are submitted to OSTI. At least one publication citation should also appear on the slide itself.</a:t>
            </a:r>
          </a:p>
          <a:p>
            <a:r>
              <a:t>Software / project references: PESO, https://pesoproject.org ; DAV Integration, https://dav-sdk.github.io/ ; TOOLS Integration, https://tools-integration.github.io/ ; CLOMonitor, https://clomonitor.io ; OpenSSF Scorecard and Best Practices Badge, https://openssf.org</a:t>
            </a:r>
          </a:p>
          <a:p>
            <a:endParaRPr/>
          </a:p>
          <a:p>
            <a:r>
              <a:t>AWARDS:</a:t>
            </a:r>
          </a:p>
          <a:p>
            <a:r>
              <a:t>[none noted; add if applicable]</a:t>
            </a:r>
          </a:p>
          <a:p>
            <a:endParaRPr/>
          </a:p>
          <a:p>
            <a:r>
              <a:t>REPRODUCIBILITY:</a:t>
            </a:r>
          </a:p>
          <a:p>
            <a:r>
              <a:t>Each Integration is a curated, versioned Spack environment shared with E4S, so a Spack environment specification plus the CDash/CLOMonitor record is sufficient to reconstruct the exact software configuration deployed on Frontier at a given time.</a:t>
            </a:r>
          </a:p>
          <a:p>
            <a:endParaRPr/>
          </a:p>
          <a:p>
            <a:r>
              <a:t>BACKGROUND AND CONTEXT INFORMATION:</a:t>
            </a:r>
          </a:p>
          <a:p>
            <a:r>
              <a:t>Terminology: DAV Integration curates data-analysis and visualization software (ParaView, Catalyst, ADIOS2, HDF5, PnetCDF, Viskores, VisIt, Ascent, DIY, ZFP). TOOLS Integration curates performance-analysis and instrumentation software (HPCToolkit, PAPI, TAU, ERT, Darshan, Dyninst). Together they total 16 products tracked across the DAV &amp; TOOLS Integrations.</a:t>
            </a:r>
          </a:p>
          <a:p>
            <a:r>
              <a:t>The CLOMonitor dashboard fork shown in the figure listed 7 tracked projects as of the source poster (July 2026); the cropped screenshot shows 6 of the 7 visible cards (ADIOS2, Ascent, Darshan, Dyninst, HDF5, PnetCDF).</a:t>
            </a:r>
          </a:p>
          <a:p>
            <a:r>
              <a:t>Source material: DAVTOOLS-poster_final_2026_07_16, presented at the DOE ASCR Computer Science Principal Investigators Meeting, Rockville, MD, July 2026. One institution logo in the poster header (rightmost, before the PESO badge) was not legible enough to identify and was omitted from the collaborating-institutions list on the slide.</a:t>
            </a:r>
          </a:p>
        </p:txBody>
      </p:sp>
      <p:sp>
        <p:nvSpPr>
          <p:cNvPr id="4" name="Slide Number Placeholder 3"/>
          <p:cNvSpPr>
            <a:spLocks noGrp="1"/>
          </p:cNvSpPr>
          <p:nvPr>
            <p:ph type="sldNum" sz="quarter" idx="5"/>
          </p:nvPr>
        </p:nvSpPr>
        <p:spPr/>
        <p:txBody>
          <a:bodyPr/>
          <a:lstStyle/>
          <a:p>
            <a:fld id="{AA04650E-E198-4FA3-A1E8-C9B561D8C60E}" type="slidenum">
              <a:rPr lang="en-US" smtClean="0"/>
              <a:t>1</a:t>
            </a:fld>
            <a:endParaRPr lang="en-US"/>
          </a:p>
        </p:txBody>
      </p:sp>
    </p:spTree>
    <p:extLst>
      <p:ext uri="{BB962C8B-B14F-4D97-AF65-F5344CB8AC3E}">
        <p14:creationId xmlns:p14="http://schemas.microsoft.com/office/powerpoint/2010/main" val="721232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466660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38299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0535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615177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8/4/26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53560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8/4/26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458690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8/4/26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844317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993823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458560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553786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1754874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4" name="Rectangle 3">
            <a:extLst>
              <a:ext uri="{FF2B5EF4-FFF2-40B4-BE49-F238E27FC236}">
                <a16:creationId xmlns:a16="http://schemas.microsoft.com/office/drawing/2014/main" id="{9D265990-C2AC-43F4-A5F5-C94F93DD392D}"/>
              </a:ext>
            </a:extLst>
          </p:cNvPr>
          <p:cNvSpPr/>
          <p:nvPr userDrawn="1"/>
        </p:nvSpPr>
        <p:spPr>
          <a:xfrm>
            <a:off x="0" y="6320118"/>
            <a:ext cx="12192000" cy="537882"/>
          </a:xfrm>
          <a:prstGeom prst="rect">
            <a:avLst/>
          </a:prstGeom>
          <a:solidFill>
            <a:srgbClr val="0B2C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5"/>
          <p:cNvSpPr>
            <a:spLocks noGrp="1"/>
          </p:cNvSpPr>
          <p:nvPr>
            <p:ph type="sldNum" sz="quarter" idx="4"/>
          </p:nvPr>
        </p:nvSpPr>
        <p:spPr>
          <a:xfrm>
            <a:off x="4724400" y="6403005"/>
            <a:ext cx="2743200" cy="365125"/>
          </a:xfrm>
          <a:prstGeom prst="rect">
            <a:avLst/>
          </a:prstGeom>
        </p:spPr>
        <p:txBody>
          <a:bodyPr vert="horz" lIns="91440" tIns="45720" rIns="91440" bIns="45720" rtlCol="0" anchor="ctr"/>
          <a:lstStyle>
            <a:lvl1pPr algn="ctr">
              <a:defRPr sz="1400">
                <a:solidFill>
                  <a:schemeClr val="bg1"/>
                </a:solidFill>
                <a:latin typeface="AvenirNext LT Pro Regular" panose="020B0504020202020204" pitchFamily="34" charset="0"/>
              </a:defRPr>
            </a:lvl1pPr>
          </a:lstStyle>
          <a:p>
            <a:fld id="{835B6AD7-18B8-4C9C-AA70-ABD830A869AC}" type="slidenum">
              <a:rPr lang="en-US" smtClean="0"/>
              <a:t>‹#›</a:t>
            </a:fld>
            <a:endParaRPr lang="en-US"/>
          </a:p>
        </p:txBody>
      </p:sp>
      <p:pic>
        <p:nvPicPr>
          <p:cNvPr id="6" name="Picture 5"/>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12667" y="6373156"/>
            <a:ext cx="2149533" cy="394974"/>
          </a:xfrm>
          <a:prstGeom prst="rect">
            <a:avLst/>
          </a:prstGeom>
        </p:spPr>
      </p:pic>
      <p:sp>
        <p:nvSpPr>
          <p:cNvPr id="7" name="TextBox 6"/>
          <p:cNvSpPr txBox="1"/>
          <p:nvPr userDrawn="1"/>
        </p:nvSpPr>
        <p:spPr>
          <a:xfrm>
            <a:off x="9943949" y="6398798"/>
            <a:ext cx="2248051" cy="369332"/>
          </a:xfrm>
          <a:prstGeom prst="rect">
            <a:avLst/>
          </a:prstGeom>
          <a:noFill/>
        </p:spPr>
        <p:txBody>
          <a:bodyPr wrap="none" rtlCol="0">
            <a:spAutoFit/>
          </a:bodyPr>
          <a:lstStyle/>
          <a:p>
            <a:pPr algn="r"/>
            <a:r>
              <a:rPr lang="en-US">
                <a:solidFill>
                  <a:schemeClr val="bg1"/>
                </a:solidFill>
                <a:latin typeface="AvenirNext LT Pro Regular" panose="020B0504020202020204" pitchFamily="34" charset="0"/>
              </a:rPr>
              <a:t>Energy.gov/science</a:t>
            </a:r>
          </a:p>
        </p:txBody>
      </p:sp>
    </p:spTree>
    <p:extLst>
      <p:ext uri="{BB962C8B-B14F-4D97-AF65-F5344CB8AC3E}">
        <p14:creationId xmlns:p14="http://schemas.microsoft.com/office/powerpoint/2010/main" val="2441954933"/>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0" y="0"/>
            <a:ext cx="12192000" cy="762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solidFill>
                  <a:srgbClr val="0F6636"/>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3"/>
          <p:cNvSpPr txBox="1">
            <a:spLocks noGrp="1"/>
          </p:cNvSpPr>
          <p:nvPr>
            <p:ph type="sldNum" idx="12"/>
          </p:nvPr>
        </p:nvSpPr>
        <p:spPr>
          <a:xfrm>
            <a:off x="11218333" y="6351591"/>
            <a:ext cx="5080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32249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8/4/26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269098563"/>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18" Type="http://schemas.openxmlformats.org/officeDocument/2006/relationships/image" Target="../media/image15.png"/><Relationship Id="rId3" Type="http://schemas.openxmlformats.org/officeDocument/2006/relationships/hyperlink" Target="https://pesoproject.org" TargetMode="External"/><Relationship Id="rId7" Type="http://schemas.openxmlformats.org/officeDocument/2006/relationships/image" Target="../media/image4.png"/><Relationship Id="rId12" Type="http://schemas.openxmlformats.org/officeDocument/2006/relationships/image" Target="../media/image9.png"/><Relationship Id="rId17" Type="http://schemas.openxmlformats.org/officeDocument/2006/relationships/image" Target="../media/image14.png"/><Relationship Id="rId2" Type="http://schemas.openxmlformats.org/officeDocument/2006/relationships/notesSlide" Target="../notesSlides/notesSlide1.xml"/><Relationship Id="rId16" Type="http://schemas.openxmlformats.org/officeDocument/2006/relationships/image" Target="../media/image13.png"/><Relationship Id="rId1" Type="http://schemas.openxmlformats.org/officeDocument/2006/relationships/slideLayout" Target="../slideLayouts/slideLayout12.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5" Type="http://schemas.openxmlformats.org/officeDocument/2006/relationships/image" Target="../media/image12.png"/><Relationship Id="rId10" Type="http://schemas.openxmlformats.org/officeDocument/2006/relationships/image" Target="../media/image7.png"/><Relationship Id="rId19" Type="http://schemas.openxmlformats.org/officeDocument/2006/relationships/image" Target="../media/image16.png"/><Relationship Id="rId4" Type="http://schemas.openxmlformats.org/officeDocument/2006/relationships/hyperlink" Target="https://pesoproject.org/" TargetMode="External"/><Relationship Id="rId9" Type="http://schemas.openxmlformats.org/officeDocument/2006/relationships/image" Target="../media/image6.pn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6110527-3D5E-DE8A-91D6-0E66981F1564}"/>
              </a:ext>
            </a:extLst>
          </p:cNvPr>
          <p:cNvSpPr/>
          <p:nvPr/>
        </p:nvSpPr>
        <p:spPr>
          <a:xfrm>
            <a:off x="7057342" y="4720433"/>
            <a:ext cx="4864420" cy="1348384"/>
          </a:xfrm>
          <a:prstGeom prst="rect">
            <a:avLst/>
          </a:prstGeom>
          <a:solidFill>
            <a:srgbClr val="8281BD">
              <a:alpha val="12941"/>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7CB983-3D4F-3FB4-37F0-5EBAA0E93936}"/>
              </a:ext>
            </a:extLst>
          </p:cNvPr>
          <p:cNvSpPr>
            <a:spLocks noGrp="1"/>
          </p:cNvSpPr>
          <p:nvPr>
            <p:ph type="title"/>
          </p:nvPr>
        </p:nvSpPr>
        <p:spPr>
          <a:xfrm>
            <a:off x="152774" y="23094"/>
            <a:ext cx="9043791" cy="608950"/>
          </a:xfrm>
        </p:spPr>
        <p:txBody>
          <a:bodyPr>
            <a:noAutofit/>
          </a:bodyPr>
          <a:lstStyle/>
          <a:p>
            <a:r>
              <a:rPr lang="en-US" sz="2800" b="1" kern="0" dirty="0">
                <a:solidFill>
                  <a:srgbClr val="000000"/>
                </a:solidFill>
                <a:ea typeface="Arial"/>
                <a:cs typeface="Arial"/>
                <a:sym typeface="Arial"/>
              </a:rPr>
              <a:t>Sustaining DOE's HPC Software</a:t>
            </a:r>
          </a:p>
        </p:txBody>
      </p:sp>
      <p:sp>
        <p:nvSpPr>
          <p:cNvPr id="7" name="Google Shape;25;p1">
            <a:extLst>
              <a:ext uri="{FF2B5EF4-FFF2-40B4-BE49-F238E27FC236}">
                <a16:creationId xmlns:a16="http://schemas.microsoft.com/office/drawing/2014/main" id="{35E5E467-2727-969B-98F3-BA95D001A982}"/>
              </a:ext>
            </a:extLst>
          </p:cNvPr>
          <p:cNvSpPr/>
          <p:nvPr/>
        </p:nvSpPr>
        <p:spPr>
          <a:xfrm>
            <a:off x="237744" y="512064"/>
            <a:ext cx="6858000" cy="140634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b="1" kern="0" dirty="0">
                <a:solidFill>
                  <a:srgbClr val="000000"/>
                </a:solidFill>
                <a:ea typeface="Arial"/>
                <a:cs typeface="Arial"/>
                <a:sym typeface="Arial"/>
              </a:rPr>
              <a:t>Scientific Achievement</a:t>
            </a:r>
          </a:p>
          <a:p>
            <a:pPr marL="285750" indent="-285750">
              <a:buClr>
                <a:srgbClr val="000000"/>
              </a:buClr>
              <a:buFont typeface="Arial" panose="020B0604020202020204" pitchFamily="34" charset="0"/>
              <a:buChar char="•"/>
              <a:defRPr/>
            </a:pPr>
            <a:r>
              <a:rPr lang="en-US" sz="1400" b="1" kern="0" dirty="0">
                <a:solidFill>
                  <a:srgbClr val="000000"/>
                </a:solidFill>
                <a:ea typeface="Arial"/>
                <a:cs typeface="Arial"/>
                <a:sym typeface="Arial"/>
              </a:rPr>
              <a:t>A CLOMonitor dashboard fork now tracks OpenSSF security scores for every DAV &amp; TOOLS project</a:t>
            </a:r>
          </a:p>
          <a:p>
            <a:pPr marL="285750" indent="-285750">
              <a:buClr>
                <a:srgbClr val="000000"/>
              </a:buClr>
              <a:buFont typeface="Arial" panose="020B0604020202020204" pitchFamily="34" charset="0"/>
              <a:buChar char="•"/>
              <a:defRPr/>
            </a:pPr>
            <a:r>
              <a:rPr lang="en-US" sz="1400" b="1" kern="0" dirty="0">
                <a:solidFill>
                  <a:srgbClr val="000000"/>
                </a:solidFill>
                <a:ea typeface="Arial"/>
                <a:cs typeface="Arial"/>
                <a:sym typeface="Arial"/>
              </a:rPr>
              <a:t>ADIOS2's Scorecard rose 7.1 → 8.6/10, passing the Best Practices badge</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Security policies shipped for ADIOS2, Viskores, ZFP, Darshan, and PAPI; supply-chain hardening fixed vulnerabilities across the stack</a:t>
            </a:r>
          </a:p>
        </p:txBody>
      </p:sp>
      <p:sp>
        <p:nvSpPr>
          <p:cNvPr id="8" name="Google Shape;26;p1">
            <a:extLst>
              <a:ext uri="{FF2B5EF4-FFF2-40B4-BE49-F238E27FC236}">
                <a16:creationId xmlns:a16="http://schemas.microsoft.com/office/drawing/2014/main" id="{0607B843-0CBD-294A-51EC-D86D699F90C2}"/>
              </a:ext>
            </a:extLst>
          </p:cNvPr>
          <p:cNvSpPr/>
          <p:nvPr/>
        </p:nvSpPr>
        <p:spPr>
          <a:xfrm>
            <a:off x="237744" y="2009851"/>
            <a:ext cx="6858000" cy="1621231"/>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b="1" kern="0" dirty="0">
                <a:solidFill>
                  <a:srgbClr val="000000"/>
                </a:solidFill>
                <a:ea typeface="Arial"/>
                <a:cs typeface="Arial"/>
                <a:sym typeface="Arial"/>
              </a:rPr>
              <a:t>Significance and Impact</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16 DAV &amp; TOOLS products stay interoperable and DOE-workflow-ready via shared Spack, CDash, and CI</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Curated Spack environments feed E4S, the Ecosystem for Science, so a fix made once reaches every facility</a:t>
            </a:r>
          </a:p>
          <a:p>
            <a:pPr marL="285750" indent="-285750">
              <a:buClr>
                <a:srgbClr val="000000"/>
              </a:buClr>
              <a:buFont typeface="Arial" panose="020B0604020202020204" pitchFamily="34" charset="0"/>
              <a:buChar char="•"/>
              <a:defRPr/>
            </a:pPr>
            <a:r>
              <a:rPr lang="en-US" sz="1400" b="1" kern="0" dirty="0">
                <a:solidFill>
                  <a:srgbClr val="000000"/>
                </a:solidFill>
                <a:ea typeface="Arial"/>
                <a:cs typeface="Arial"/>
                <a:sym typeface="Arial"/>
              </a:rPr>
              <a:t>Automated Frontier deployment and shared binary caches speed the path from a merged PR to an exascale-ready module</a:t>
            </a:r>
          </a:p>
        </p:txBody>
      </p:sp>
      <p:sp>
        <p:nvSpPr>
          <p:cNvPr id="9" name="Google Shape;27;p1">
            <a:extLst>
              <a:ext uri="{FF2B5EF4-FFF2-40B4-BE49-F238E27FC236}">
                <a16:creationId xmlns:a16="http://schemas.microsoft.com/office/drawing/2014/main" id="{34B9808A-90A5-22A7-F1DB-47BF387DC938}"/>
              </a:ext>
            </a:extLst>
          </p:cNvPr>
          <p:cNvSpPr txBox="1"/>
          <p:nvPr/>
        </p:nvSpPr>
        <p:spPr>
          <a:xfrm>
            <a:off x="7168896" y="3170518"/>
            <a:ext cx="4956048" cy="1492921"/>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b="0" i="1" kern="0" dirty="0">
                <a:solidFill>
                  <a:srgbClr val="000000"/>
                </a:solidFill>
                <a:ea typeface="Arial"/>
                <a:cs typeface="Arial"/>
                <a:sym typeface="Arial"/>
              </a:rPr>
              <a:t>The CLOMonitor fork dashboard scores each DAV &amp; TOOLS project on five OpenSSF (Open Source Security Foundation) measures — code vulnerabilities, maintenance, continuous testing, source risk, and build risk — shown here for ADIOS2, Ascent, Darshan, Dyninst, HDF5, and PnetCDF.</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b="0" i="1" kern="0" dirty="0">
                <a:solidFill>
                  <a:srgbClr val="000000"/>
                </a:solidFil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b="0" i="1" kern="0" dirty="0">
                <a:solidFill>
                  <a:srgbClr val="000000"/>
                </a:solidFill>
                <a:ea typeface="Arial"/>
                <a:cs typeface="Arial"/>
                <a:sym typeface="Arial"/>
              </a:rPr>
              <a:t>The 0–100 score in each circle is CLOMonitor's own composite rating, a separate metric from the OpenSSF Scorecard figure (7.1 → 8.6/10) cited for ADIOS2 at left.</a:t>
            </a:r>
          </a:p>
        </p:txBody>
      </p:sp>
      <p:sp>
        <p:nvSpPr>
          <p:cNvPr id="11" name="Google Shape;29;p1">
            <a:extLst>
              <a:ext uri="{FF2B5EF4-FFF2-40B4-BE49-F238E27FC236}">
                <a16:creationId xmlns:a16="http://schemas.microsoft.com/office/drawing/2014/main" id="{F719EDE8-762E-1830-067F-4414F9F31C7C}"/>
              </a:ext>
            </a:extLst>
          </p:cNvPr>
          <p:cNvSpPr/>
          <p:nvPr/>
        </p:nvSpPr>
        <p:spPr>
          <a:xfrm>
            <a:off x="237744" y="3722522"/>
            <a:ext cx="6858000" cy="119146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b="1" kern="0" dirty="0">
                <a:solidFill>
                  <a:srgbClr val="000000"/>
                </a:solidFill>
                <a:ea typeface="Arial"/>
                <a:cs typeface="Arial"/>
                <a:sym typeface="Arial"/>
              </a:rPr>
              <a:t>Technical Approach</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Three-tier CI: per-product GitHub/GitLab workflows, Spack CI on Frank Cluster, Jacamar-based Frontier facility CI — synced via gh-gl-sync</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Each Integration = a curated Spack environment + site configs, shared with E4S</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CDash and smoke tests validate every build and installed package at runtime</a:t>
            </a:r>
          </a:p>
        </p:txBody>
      </p:sp>
      <p:sp>
        <p:nvSpPr>
          <p:cNvPr id="15" name="TextBox 14">
            <a:extLst>
              <a:ext uri="{FF2B5EF4-FFF2-40B4-BE49-F238E27FC236}">
                <a16:creationId xmlns:a16="http://schemas.microsoft.com/office/drawing/2014/main" id="{1C742054-4F8C-D401-63CE-FEFFCD6C2810}"/>
              </a:ext>
            </a:extLst>
          </p:cNvPr>
          <p:cNvSpPr txBox="1"/>
          <p:nvPr/>
        </p:nvSpPr>
        <p:spPr>
          <a:xfrm>
            <a:off x="7175041" y="4791544"/>
            <a:ext cx="4884963" cy="7694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kern="0" dirty="0">
                <a:solidFill>
                  <a:srgbClr val="000000"/>
                </a:solidFill>
                <a:ea typeface="Arial"/>
                <a:cs typeface="Arial"/>
                <a:sym typeface="Arial"/>
              </a:rPr>
              <a:t>PIs: Michael Heroux (ParaTools, Inc.), Lois Curfman McInnes (Argonne)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kern="0" dirty="0">
                <a:solidFill>
                  <a:srgbClr val="000000"/>
                </a:solidFill>
                <a:ea typeface="Arial"/>
                <a:cs typeface="Arial"/>
                <a:sym typeface="Arial"/>
              </a:rPr>
              <a:t>DAV &amp; TOOLS lead: [add name and contact]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kern="0" dirty="0">
                <a:solidFill>
                  <a:srgbClr val="000000"/>
                </a:solidFill>
                <a:ea typeface="Arial"/>
                <a:cs typeface="Arial"/>
                <a:sym typeface="Arial"/>
              </a:rPr>
              <a:t>Collaborating institutions: Argonne, Berkeley Lab, Brookhaven, Kitware, LLNL, LANL, ORNL, PNNL, ParaTools, Sandia, Team Libra</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kern="0" dirty="0">
                <a:solidFill>
                  <a:srgbClr val="000000"/>
                </a:solidFill>
                <a:ea typeface="Arial"/>
                <a:cs typeface="Arial"/>
                <a:sym typeface="Arial"/>
              </a:rPr>
              <a:t>ASCR Program: Next-Generation Scientific Software Technologies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kern="0" dirty="0">
                <a:solidFill>
                  <a:srgbClr val="000000"/>
                </a:solidFill>
                <a:ea typeface="Arial"/>
                <a:cs typeface="Arial"/>
                <a:sym typeface="Arial"/>
              </a:rPr>
              <a:t>ASCR PM: David Rabson</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kern="0" dirty="0">
                <a:solidFill>
                  <a:srgbClr val="000000"/>
                </a:solidFill>
                <a:ea typeface="Arial"/>
                <a:cs typeface="Arial"/>
                <a:sym typeface="Arial"/>
              </a:rPr>
              <a:t>PESO website: </a:t>
            </a:r>
            <a:r>
              <a:rPr lang="en-US" sz="1100" b="0" kern="0" dirty="0">
                <a:solidFill>
                  <a:srgbClr val="000000"/>
                </a:solidFill>
                <a:hlinkClick r:id="rId3"/>
              </a:rPr>
              <a:t>https://pesoproject.org</a:t>
            </a:r>
          </a:p>
        </p:txBody>
      </p:sp>
      <p:grpSp>
        <p:nvGrpSpPr>
          <p:cNvPr id="17" name="Group 16">
            <a:extLst>
              <a:ext uri="{FF2B5EF4-FFF2-40B4-BE49-F238E27FC236}">
                <a16:creationId xmlns:a16="http://schemas.microsoft.com/office/drawing/2014/main" id="{C924034C-6666-2D6C-3754-A1C2013A1AB4}"/>
              </a:ext>
            </a:extLst>
          </p:cNvPr>
          <p:cNvGrpSpPr/>
          <p:nvPr/>
        </p:nvGrpSpPr>
        <p:grpSpPr>
          <a:xfrm>
            <a:off x="46133" y="4994937"/>
            <a:ext cx="6809829" cy="1219473"/>
            <a:chOff x="46133" y="4994937"/>
            <a:chExt cx="6809829" cy="1219473"/>
          </a:xfrm>
        </p:grpSpPr>
        <p:sp>
          <p:nvSpPr>
            <p:cNvPr id="47" name="TextBox 46">
              <a:extLst>
                <a:ext uri="{FF2B5EF4-FFF2-40B4-BE49-F238E27FC236}">
                  <a16:creationId xmlns:a16="http://schemas.microsoft.com/office/drawing/2014/main" id="{9DF756B8-22F7-0A6B-262E-22DCD05C26DA}"/>
                </a:ext>
              </a:extLst>
            </p:cNvPr>
            <p:cNvSpPr txBox="1"/>
            <p:nvPr/>
          </p:nvSpPr>
          <p:spPr>
            <a:xfrm>
              <a:off x="204870" y="5914328"/>
              <a:ext cx="6567952" cy="300082"/>
            </a:xfrm>
            <a:prstGeom prst="rect">
              <a:avLst/>
            </a:prstGeom>
            <a:noFill/>
          </p:spPr>
          <p:txBody>
            <a:bodyPr wrap="none" rtlCol="0">
              <a:spAutoFit/>
            </a:bodyPr>
            <a:lstStyle/>
            <a:p>
              <a:r>
                <a:rPr lang="en-US" sz="1350" i="1" dirty="0"/>
                <a:t>Stewarding and advancing the current and future ecosystem of HPC-AI computing software</a:t>
              </a:r>
            </a:p>
          </p:txBody>
        </p:sp>
        <p:grpSp>
          <p:nvGrpSpPr>
            <p:cNvPr id="12" name="Group 11">
              <a:extLst>
                <a:ext uri="{FF2B5EF4-FFF2-40B4-BE49-F238E27FC236}">
                  <a16:creationId xmlns:a16="http://schemas.microsoft.com/office/drawing/2014/main" id="{44BAA8EE-49E8-A7BD-F7B7-EE6957FE1C02}"/>
                </a:ext>
              </a:extLst>
            </p:cNvPr>
            <p:cNvGrpSpPr/>
            <p:nvPr/>
          </p:nvGrpSpPr>
          <p:grpSpPr>
            <a:xfrm>
              <a:off x="46133" y="5085479"/>
              <a:ext cx="1688848" cy="932420"/>
              <a:chOff x="46133" y="5085479"/>
              <a:chExt cx="1688848" cy="932420"/>
            </a:xfrm>
          </p:grpSpPr>
          <p:sp>
            <p:nvSpPr>
              <p:cNvPr id="72" name="Google Shape;791;p15">
                <a:extLst>
                  <a:ext uri="{FF2B5EF4-FFF2-40B4-BE49-F238E27FC236}">
                    <a16:creationId xmlns:a16="http://schemas.microsoft.com/office/drawing/2014/main" id="{1F9FE1DA-404D-04E7-D349-D448AF731D57}"/>
                  </a:ext>
                </a:extLst>
              </p:cNvPr>
              <p:cNvSpPr txBox="1"/>
              <p:nvPr/>
            </p:nvSpPr>
            <p:spPr>
              <a:xfrm>
                <a:off x="46133" y="5773426"/>
                <a:ext cx="1688848" cy="244473"/>
              </a:xfrm>
              <a:prstGeom prst="rect">
                <a:avLst/>
              </a:prstGeom>
              <a:noFill/>
              <a:ln>
                <a:noFill/>
              </a:ln>
            </p:spPr>
            <p:txBody>
              <a:bodyPr spcFirstLastPara="1" wrap="square" lIns="0" tIns="0" rIns="0" bIns="0" anchor="t" anchorCtr="0">
                <a:noAutofit/>
              </a:bodyPr>
              <a:lstStyle>
                <a:defPPr>
                  <a:defRPr lang="en-US"/>
                </a:defPPr>
                <a:lvl1pPr algn="r">
                  <a:lnSpc>
                    <a:spcPct val="90000"/>
                  </a:lnSpc>
                  <a:defRPr sz="600" b="1" spc="-20">
                    <a:solidFill>
                      <a:schemeClr val="bg1">
                        <a:lumMod val="50000"/>
                      </a:schemeClr>
                    </a:solidFill>
                    <a:latin typeface="Arial"/>
                    <a:ea typeface="Arial"/>
                    <a:cs typeface="Arial"/>
                  </a:defRPr>
                </a:lvl1pPr>
              </a:lstStyle>
              <a:p>
                <a:pPr algn="ctr" defTabSz="609585">
                  <a:buClrTx/>
                </a:pPr>
                <a:r>
                  <a:rPr lang="en-US" sz="1100" b="0" kern="1200" spc="-27" dirty="0">
                    <a:solidFill>
                      <a:srgbClr val="FFFFFF">
                        <a:lumMod val="50000"/>
                      </a:srgbClr>
                    </a:solidFill>
                    <a:hlinkClick r:id="rId4"/>
                  </a:rPr>
                  <a:t>https://pesoproject.org</a:t>
                </a:r>
                <a:r>
                  <a:rPr lang="en-US" sz="1100" b="0" kern="1200" spc="-27" dirty="0">
                    <a:solidFill>
                      <a:srgbClr val="FFFFFF">
                        <a:lumMod val="50000"/>
                      </a:srgbClr>
                    </a:solidFill>
                  </a:rPr>
                  <a:t> </a:t>
                </a:r>
                <a:endParaRPr sz="1100" b="0" kern="1200" spc="-27" dirty="0">
                  <a:solidFill>
                    <a:srgbClr val="FFFFFF">
                      <a:lumMod val="50000"/>
                    </a:srgbClr>
                  </a:solidFill>
                </a:endParaRPr>
              </a:p>
            </p:txBody>
          </p:sp>
          <p:pic>
            <p:nvPicPr>
              <p:cNvPr id="45" name="Google Shape;916;p18" descr="A picture containing graphics, logo, font, symbol&#10;&#10;Description automatically generated">
                <a:extLst>
                  <a:ext uri="{FF2B5EF4-FFF2-40B4-BE49-F238E27FC236}">
                    <a16:creationId xmlns:a16="http://schemas.microsoft.com/office/drawing/2014/main" id="{1219AE27-ACBF-8385-BC88-643F8607C46F}"/>
                  </a:ext>
                </a:extLst>
              </p:cNvPr>
              <p:cNvPicPr preferRelativeResize="0">
                <a:picLocks noChangeAspect="1"/>
              </p:cNvPicPr>
              <p:nvPr/>
            </p:nvPicPr>
            <p:blipFill rotWithShape="1">
              <a:blip r:embed="rId5">
                <a:alphaModFix/>
              </a:blip>
              <a:srcRect r="-585"/>
              <a:stretch/>
            </p:blipFill>
            <p:spPr>
              <a:xfrm>
                <a:off x="333357" y="5085479"/>
                <a:ext cx="968422" cy="628201"/>
              </a:xfrm>
              <a:prstGeom prst="rect">
                <a:avLst/>
              </a:prstGeom>
              <a:noFill/>
              <a:ln>
                <a:noFill/>
              </a:ln>
            </p:spPr>
          </p:pic>
        </p:grpSp>
        <p:grpSp>
          <p:nvGrpSpPr>
            <p:cNvPr id="14" name="Group 13">
              <a:extLst>
                <a:ext uri="{FF2B5EF4-FFF2-40B4-BE49-F238E27FC236}">
                  <a16:creationId xmlns:a16="http://schemas.microsoft.com/office/drawing/2014/main" id="{CFF8EDA8-3983-DE89-74FF-8AB76A3FC654}"/>
                </a:ext>
              </a:extLst>
            </p:cNvPr>
            <p:cNvGrpSpPr/>
            <p:nvPr/>
          </p:nvGrpSpPr>
          <p:grpSpPr>
            <a:xfrm>
              <a:off x="1707697" y="5141051"/>
              <a:ext cx="4936025" cy="737147"/>
              <a:chOff x="1707697" y="5141051"/>
              <a:chExt cx="4936025" cy="737147"/>
            </a:xfrm>
          </p:grpSpPr>
          <p:pic>
            <p:nvPicPr>
              <p:cNvPr id="49" name="Google Shape;651;p13" descr="Lawrence Livermore National Laboratory">
                <a:extLst>
                  <a:ext uri="{FF2B5EF4-FFF2-40B4-BE49-F238E27FC236}">
                    <a16:creationId xmlns:a16="http://schemas.microsoft.com/office/drawing/2014/main" id="{7AA3743E-E747-8934-7CD3-6A52AE426687}"/>
                  </a:ext>
                </a:extLst>
              </p:cNvPr>
              <p:cNvPicPr preferRelativeResize="0">
                <a:picLocks noChangeAspect="1"/>
              </p:cNvPicPr>
              <p:nvPr/>
            </p:nvPicPr>
            <p:blipFill rotWithShape="1">
              <a:blip r:embed="rId6" cstate="hqprint">
                <a:alphaModFix/>
                <a:extLst>
                  <a:ext uri="{28A0092B-C50C-407E-A947-70E740481C1C}">
                    <a14:useLocalDpi xmlns:a14="http://schemas.microsoft.com/office/drawing/2010/main"/>
                  </a:ext>
                </a:extLst>
              </a:blip>
              <a:srcRect/>
              <a:stretch/>
            </p:blipFill>
            <p:spPr>
              <a:xfrm>
                <a:off x="4803462" y="5207688"/>
                <a:ext cx="898608" cy="177817"/>
              </a:xfrm>
              <a:prstGeom prst="rect">
                <a:avLst/>
              </a:prstGeom>
              <a:noFill/>
              <a:ln>
                <a:noFill/>
              </a:ln>
            </p:spPr>
          </p:pic>
          <p:pic>
            <p:nvPicPr>
              <p:cNvPr id="52" name="Google Shape;655;p13" descr="Los Alamos National Laboratory">
                <a:extLst>
                  <a:ext uri="{FF2B5EF4-FFF2-40B4-BE49-F238E27FC236}">
                    <a16:creationId xmlns:a16="http://schemas.microsoft.com/office/drawing/2014/main" id="{AC4811EE-4B1A-0DF8-6AA7-B2DB9B26842C}"/>
                  </a:ext>
                </a:extLst>
              </p:cNvPr>
              <p:cNvPicPr preferRelativeResize="0"/>
              <p:nvPr/>
            </p:nvPicPr>
            <p:blipFill rotWithShape="1">
              <a:blip r:embed="rId7" cstate="hqprint">
                <a:alphaModFix/>
                <a:extLst>
                  <a:ext uri="{28A0092B-C50C-407E-A947-70E740481C1C}">
                    <a14:useLocalDpi xmlns:a14="http://schemas.microsoft.com/office/drawing/2010/main"/>
                  </a:ext>
                </a:extLst>
              </a:blip>
              <a:srcRect/>
              <a:stretch/>
            </p:blipFill>
            <p:spPr>
              <a:xfrm>
                <a:off x="5893408" y="5218465"/>
                <a:ext cx="775760" cy="156263"/>
              </a:xfrm>
              <a:prstGeom prst="rect">
                <a:avLst/>
              </a:prstGeom>
              <a:noFill/>
              <a:ln>
                <a:noFill/>
              </a:ln>
            </p:spPr>
          </p:pic>
          <p:pic>
            <p:nvPicPr>
              <p:cNvPr id="53" name="Google Shape;656;p13" descr="Kitware">
                <a:extLst>
                  <a:ext uri="{FF2B5EF4-FFF2-40B4-BE49-F238E27FC236}">
                    <a16:creationId xmlns:a16="http://schemas.microsoft.com/office/drawing/2014/main" id="{C9A3FA12-E29B-E088-701D-0E3545150844}"/>
                  </a:ext>
                </a:extLst>
              </p:cNvPr>
              <p:cNvPicPr preferRelativeResize="0"/>
              <p:nvPr/>
            </p:nvPicPr>
            <p:blipFill rotWithShape="1">
              <a:blip r:embed="rId8" cstate="hqprint">
                <a:alphaModFix/>
                <a:extLst>
                  <a:ext uri="{28A0092B-C50C-407E-A947-70E740481C1C}">
                    <a14:useLocalDpi xmlns:a14="http://schemas.microsoft.com/office/drawing/2010/main"/>
                  </a:ext>
                </a:extLst>
              </a:blip>
              <a:srcRect/>
              <a:stretch/>
            </p:blipFill>
            <p:spPr>
              <a:xfrm>
                <a:off x="4145906" y="5245312"/>
                <a:ext cx="466217" cy="102568"/>
              </a:xfrm>
              <a:prstGeom prst="rect">
                <a:avLst/>
              </a:prstGeom>
              <a:noFill/>
              <a:ln>
                <a:noFill/>
              </a:ln>
            </p:spPr>
          </p:pic>
          <p:pic>
            <p:nvPicPr>
              <p:cNvPr id="57" name="Google Shape;661;p13" descr="BerkeleyLabLogo">
                <a:extLst>
                  <a:ext uri="{FF2B5EF4-FFF2-40B4-BE49-F238E27FC236}">
                    <a16:creationId xmlns:a16="http://schemas.microsoft.com/office/drawing/2014/main" id="{00DC9E7D-B2C4-06AC-00B2-28CE94221741}"/>
                  </a:ext>
                </a:extLst>
              </p:cNvPr>
              <p:cNvPicPr preferRelativeResize="0"/>
              <p:nvPr/>
            </p:nvPicPr>
            <p:blipFill rotWithShape="1">
              <a:blip r:embed="rId9" cstate="hqprint">
                <a:alphaModFix/>
                <a:extLst>
                  <a:ext uri="{28A0092B-C50C-407E-A947-70E740481C1C}">
                    <a14:useLocalDpi xmlns:a14="http://schemas.microsoft.com/office/drawing/2010/main"/>
                  </a:ext>
                </a:extLst>
              </a:blip>
              <a:srcRect/>
              <a:stretch/>
            </p:blipFill>
            <p:spPr>
              <a:xfrm>
                <a:off x="2656868" y="5141051"/>
                <a:ext cx="411132" cy="311090"/>
              </a:xfrm>
              <a:prstGeom prst="rect">
                <a:avLst/>
              </a:prstGeom>
              <a:noFill/>
              <a:ln>
                <a:noFill/>
              </a:ln>
            </p:spPr>
          </p:pic>
          <p:pic>
            <p:nvPicPr>
              <p:cNvPr id="58" name="Google Shape;662;p13">
                <a:extLst>
                  <a:ext uri="{FF2B5EF4-FFF2-40B4-BE49-F238E27FC236}">
                    <a16:creationId xmlns:a16="http://schemas.microsoft.com/office/drawing/2014/main" id="{AC5E7A36-A55F-9934-7231-11DA9B2E018D}"/>
                  </a:ext>
                </a:extLst>
              </p:cNvPr>
              <p:cNvPicPr preferRelativeResize="0"/>
              <p:nvPr/>
            </p:nvPicPr>
            <p:blipFill rotWithShape="1">
              <a:blip r:embed="rId10" cstate="hqprint">
                <a:alphaModFix/>
                <a:extLst>
                  <a:ext uri="{28A0092B-C50C-407E-A947-70E740481C1C}">
                    <a14:useLocalDpi xmlns:a14="http://schemas.microsoft.com/office/drawing/2010/main"/>
                  </a:ext>
                </a:extLst>
              </a:blip>
              <a:srcRect/>
              <a:stretch/>
            </p:blipFill>
            <p:spPr>
              <a:xfrm>
                <a:off x="3259339" y="5209511"/>
                <a:ext cx="695228" cy="174170"/>
              </a:xfrm>
              <a:prstGeom prst="rect">
                <a:avLst/>
              </a:prstGeom>
              <a:noFill/>
              <a:ln>
                <a:noFill/>
              </a:ln>
            </p:spPr>
          </p:pic>
          <p:pic>
            <p:nvPicPr>
              <p:cNvPr id="62" name="Google Shape;652;p13" descr="Sandia National Laboratories">
                <a:extLst>
                  <a:ext uri="{FF2B5EF4-FFF2-40B4-BE49-F238E27FC236}">
                    <a16:creationId xmlns:a16="http://schemas.microsoft.com/office/drawing/2014/main" id="{A4B4F4DE-27A9-6B69-85EE-3707C6B07299}"/>
                  </a:ext>
                </a:extLst>
              </p:cNvPr>
              <p:cNvPicPr preferRelativeResize="0"/>
              <p:nvPr/>
            </p:nvPicPr>
            <p:blipFill rotWithShape="1">
              <a:blip r:embed="rId11" cstate="hqprint">
                <a:alphaModFix/>
                <a:extLst>
                  <a:ext uri="{28A0092B-C50C-407E-A947-70E740481C1C}">
                    <a14:useLocalDpi xmlns:a14="http://schemas.microsoft.com/office/drawing/2010/main"/>
                  </a:ext>
                </a:extLst>
              </a:blip>
              <a:srcRect/>
              <a:stretch/>
            </p:blipFill>
            <p:spPr>
              <a:xfrm>
                <a:off x="4004086" y="5641758"/>
                <a:ext cx="505345" cy="201378"/>
              </a:xfrm>
              <a:prstGeom prst="rect">
                <a:avLst/>
              </a:prstGeom>
              <a:noFill/>
              <a:ln>
                <a:noFill/>
              </a:ln>
            </p:spPr>
          </p:pic>
          <p:pic>
            <p:nvPicPr>
              <p:cNvPr id="63" name="Google Shape;654;p13" descr="Oak Ridge National Laboratory">
                <a:extLst>
                  <a:ext uri="{FF2B5EF4-FFF2-40B4-BE49-F238E27FC236}">
                    <a16:creationId xmlns:a16="http://schemas.microsoft.com/office/drawing/2014/main" id="{DB16AF1C-F486-8BBB-B871-E9609EBFA3FF}"/>
                  </a:ext>
                </a:extLst>
              </p:cNvPr>
              <p:cNvPicPr preferRelativeResize="0"/>
              <p:nvPr/>
            </p:nvPicPr>
            <p:blipFill rotWithShape="1">
              <a:blip r:embed="rId12" cstate="hqprint">
                <a:alphaModFix/>
                <a:extLst>
                  <a:ext uri="{28A0092B-C50C-407E-A947-70E740481C1C}">
                    <a14:useLocalDpi xmlns:a14="http://schemas.microsoft.com/office/drawing/2010/main"/>
                  </a:ext>
                </a:extLst>
              </a:blip>
              <a:srcRect/>
              <a:stretch/>
            </p:blipFill>
            <p:spPr>
              <a:xfrm>
                <a:off x="1844701" y="5648846"/>
                <a:ext cx="704821" cy="187202"/>
              </a:xfrm>
              <a:prstGeom prst="rect">
                <a:avLst/>
              </a:prstGeom>
              <a:noFill/>
              <a:ln>
                <a:noFill/>
              </a:ln>
            </p:spPr>
          </p:pic>
          <p:pic>
            <p:nvPicPr>
              <p:cNvPr id="66" name="Google Shape;657;p13" descr="University of Oregon">
                <a:extLst>
                  <a:ext uri="{FF2B5EF4-FFF2-40B4-BE49-F238E27FC236}">
                    <a16:creationId xmlns:a16="http://schemas.microsoft.com/office/drawing/2014/main" id="{1E6835CC-DAD6-F8AE-1C22-EE03E8AE5D89}"/>
                  </a:ext>
                </a:extLst>
              </p:cNvPr>
              <p:cNvPicPr preferRelativeResize="0"/>
              <p:nvPr/>
            </p:nvPicPr>
            <p:blipFill rotWithShape="1">
              <a:blip r:embed="rId13" cstate="hqprint">
                <a:alphaModFix/>
                <a:extLst>
                  <a:ext uri="{28A0092B-C50C-407E-A947-70E740481C1C}">
                    <a14:useLocalDpi xmlns:a14="http://schemas.microsoft.com/office/drawing/2010/main"/>
                  </a:ext>
                </a:extLst>
              </a:blip>
              <a:srcRect/>
              <a:stretch/>
            </p:blipFill>
            <p:spPr>
              <a:xfrm>
                <a:off x="6106260" y="5683837"/>
                <a:ext cx="537462" cy="117220"/>
              </a:xfrm>
              <a:prstGeom prst="rect">
                <a:avLst/>
              </a:prstGeom>
              <a:noFill/>
              <a:ln>
                <a:noFill/>
              </a:ln>
            </p:spPr>
          </p:pic>
          <p:pic>
            <p:nvPicPr>
              <p:cNvPr id="67" name="Google Shape;659;p13">
                <a:extLst>
                  <a:ext uri="{FF2B5EF4-FFF2-40B4-BE49-F238E27FC236}">
                    <a16:creationId xmlns:a16="http://schemas.microsoft.com/office/drawing/2014/main" id="{C3D16736-5223-712F-7DFE-884B4733732B}"/>
                  </a:ext>
                </a:extLst>
              </p:cNvPr>
              <p:cNvPicPr preferRelativeResize="0"/>
              <p:nvPr/>
            </p:nvPicPr>
            <p:blipFill rotWithShape="1">
              <a:blip r:embed="rId14" cstate="hqprint">
                <a:alphaModFix/>
                <a:extLst>
                  <a:ext uri="{28A0092B-C50C-407E-A947-70E740481C1C}">
                    <a14:useLocalDpi xmlns:a14="http://schemas.microsoft.com/office/drawing/2010/main"/>
                  </a:ext>
                </a:extLst>
              </a:blip>
              <a:srcRect/>
              <a:stretch/>
            </p:blipFill>
            <p:spPr>
              <a:xfrm>
                <a:off x="2691567" y="5655362"/>
                <a:ext cx="524852" cy="174170"/>
              </a:xfrm>
              <a:prstGeom prst="rect">
                <a:avLst/>
              </a:prstGeom>
              <a:noFill/>
              <a:ln>
                <a:noFill/>
              </a:ln>
            </p:spPr>
          </p:pic>
          <p:pic>
            <p:nvPicPr>
              <p:cNvPr id="68" name="Google Shape;660;p13">
                <a:extLst>
                  <a:ext uri="{FF2B5EF4-FFF2-40B4-BE49-F238E27FC236}">
                    <a16:creationId xmlns:a16="http://schemas.microsoft.com/office/drawing/2014/main" id="{FA4B11A7-0A95-B52C-1137-288B861A0B3B}"/>
                  </a:ext>
                </a:extLst>
              </p:cNvPr>
              <p:cNvPicPr preferRelativeResize="0"/>
              <p:nvPr/>
            </p:nvPicPr>
            <p:blipFill rotWithShape="1">
              <a:blip r:embed="rId15" cstate="hqprint">
                <a:alphaModFix/>
                <a:extLst>
                  <a:ext uri="{28A0092B-C50C-407E-A947-70E740481C1C}">
                    <a14:useLocalDpi xmlns:a14="http://schemas.microsoft.com/office/drawing/2010/main"/>
                  </a:ext>
                </a:extLst>
              </a:blip>
              <a:srcRect/>
              <a:stretch/>
            </p:blipFill>
            <p:spPr>
              <a:xfrm>
                <a:off x="4651476" y="5611655"/>
                <a:ext cx="670450" cy="261585"/>
              </a:xfrm>
              <a:prstGeom prst="rect">
                <a:avLst/>
              </a:prstGeom>
              <a:noFill/>
              <a:ln>
                <a:noFill/>
              </a:ln>
            </p:spPr>
          </p:pic>
          <p:pic>
            <p:nvPicPr>
              <p:cNvPr id="71" name="Google Shape;663;p13">
                <a:extLst>
                  <a:ext uri="{FF2B5EF4-FFF2-40B4-BE49-F238E27FC236}">
                    <a16:creationId xmlns:a16="http://schemas.microsoft.com/office/drawing/2014/main" id="{0A2F52FC-651E-EE35-E238-415339095F80}"/>
                  </a:ext>
                </a:extLst>
              </p:cNvPr>
              <p:cNvPicPr preferRelativeResize="0"/>
              <p:nvPr/>
            </p:nvPicPr>
            <p:blipFill rotWithShape="1">
              <a:blip r:embed="rId16" cstate="hqprint">
                <a:alphaModFix/>
                <a:extLst>
                  <a:ext uri="{28A0092B-C50C-407E-A947-70E740481C1C}">
                    <a14:useLocalDpi xmlns:a14="http://schemas.microsoft.com/office/drawing/2010/main"/>
                  </a:ext>
                </a:extLst>
              </a:blip>
              <a:srcRect/>
              <a:stretch/>
            </p:blipFill>
            <p:spPr>
              <a:xfrm>
                <a:off x="3358464" y="5669898"/>
                <a:ext cx="503577" cy="145098"/>
              </a:xfrm>
              <a:prstGeom prst="rect">
                <a:avLst/>
              </a:prstGeom>
              <a:noFill/>
              <a:ln>
                <a:noFill/>
              </a:ln>
            </p:spPr>
          </p:pic>
          <p:pic>
            <p:nvPicPr>
              <p:cNvPr id="6" name="Google Shape;300;p1">
                <a:extLst>
                  <a:ext uri="{FF2B5EF4-FFF2-40B4-BE49-F238E27FC236}">
                    <a16:creationId xmlns:a16="http://schemas.microsoft.com/office/drawing/2014/main" id="{D160ADCE-A0E1-75DE-0509-9A68450A1F07}"/>
                  </a:ext>
                </a:extLst>
              </p:cNvPr>
              <p:cNvPicPr preferRelativeResize="0">
                <a:picLocks noChangeAspect="1"/>
              </p:cNvPicPr>
              <p:nvPr/>
            </p:nvPicPr>
            <p:blipFill rotWithShape="1">
              <a:blip r:embed="rId17">
                <a:alphaModFix/>
              </a:blip>
              <a:srcRect/>
              <a:stretch/>
            </p:blipFill>
            <p:spPr>
              <a:xfrm>
                <a:off x="1760708" y="5174360"/>
                <a:ext cx="704821" cy="244473"/>
              </a:xfrm>
              <a:prstGeom prst="rect">
                <a:avLst/>
              </a:prstGeom>
              <a:noFill/>
              <a:ln>
                <a:noFill/>
              </a:ln>
            </p:spPr>
          </p:pic>
        </p:grpSp>
        <p:sp>
          <p:nvSpPr>
            <p:cNvPr id="10" name="Rounded Rectangle 9">
              <a:extLst>
                <a:ext uri="{FF2B5EF4-FFF2-40B4-BE49-F238E27FC236}">
                  <a16:creationId xmlns:a16="http://schemas.microsoft.com/office/drawing/2014/main" id="{68164DBD-1BFF-EF0D-0E26-C40A92422A22}"/>
                </a:ext>
              </a:extLst>
            </p:cNvPr>
            <p:cNvSpPr/>
            <p:nvPr/>
          </p:nvSpPr>
          <p:spPr>
            <a:xfrm>
              <a:off x="131995" y="4994937"/>
              <a:ext cx="6723967" cy="118318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3" name="Picture 72" descr="Team Libra logo"/>
            <p:cNvPicPr>
              <a:picLocks noChangeAspect="1"/>
            </p:cNvPicPr>
            <p:nvPr/>
          </p:nvPicPr>
          <p:blipFill>
            <a:blip r:embed="rId18"/>
            <a:stretch>
              <a:fillRect/>
            </a:stretch>
          </p:blipFill>
          <p:spPr>
            <a:xfrm>
              <a:off x="5463971" y="5645054"/>
              <a:ext cx="500246" cy="194786"/>
            </a:xfrm>
            <a:prstGeom prst="rect">
              <a:avLst/>
            </a:prstGeom>
          </p:spPr>
        </p:pic>
      </p:grpSp>
      <p:pic>
        <p:nvPicPr>
          <p:cNvPr id="3" name="Google Shape;28;p1" descr="A picture containing graphical user interface&#10;&#10;Description automatically generated">
            <a:extLst>
              <a:ext uri="{FF2B5EF4-FFF2-40B4-BE49-F238E27FC236}">
                <a16:creationId xmlns:a16="http://schemas.microsoft.com/office/drawing/2014/main" id="{0E4F6B09-331B-6AAD-F1AB-59333EA90562}"/>
              </a:ext>
            </a:extLst>
          </p:cNvPr>
          <p:cNvPicPr preferRelativeResize="0"/>
          <p:nvPr/>
        </p:nvPicPr>
        <p:blipFill rotWithShape="1">
          <a:blip r:embed="rId19">
            <a:alphaModFix/>
          </a:blip>
          <a:srcRect/>
          <a:stretch/>
        </p:blipFill>
        <p:spPr>
          <a:xfrm>
            <a:off x="7187184" y="256032"/>
            <a:ext cx="4882896" cy="2804758"/>
          </a:xfrm>
          <a:prstGeom prst="rect">
            <a:avLst/>
          </a:prstGeom>
          <a:noFill/>
          <a:ln w="9525" cap="flat" cmpd="sng">
            <a:solidFill>
              <a:srgbClr val="7F7F7F"/>
            </a:solidFill>
            <a:prstDash val="solid"/>
            <a:round/>
            <a:headEnd type="none" w="sm" len="sm"/>
            <a:tailEnd type="none" w="sm" len="sm"/>
          </a:ln>
        </p:spPr>
      </p:pic>
    </p:spTree>
    <p:extLst>
      <p:ext uri="{BB962C8B-B14F-4D97-AF65-F5344CB8AC3E}">
        <p14:creationId xmlns:p14="http://schemas.microsoft.com/office/powerpoint/2010/main" val="3201699841"/>
      </p:ext>
    </p:extLst>
  </p:cSld>
  <p:clrMapOvr>
    <a:masterClrMapping/>
  </p:clrMapOvr>
  <p:transition/>
</p:sld>
</file>

<file path=ppt/theme/theme1.xml><?xml version="1.0" encoding="utf-8"?>
<a:theme xmlns:a="http://schemas.openxmlformats.org/drawingml/2006/main" name="7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0BF6F177D6D67458FBB47B7752A5A77" ma:contentTypeVersion="14" ma:contentTypeDescription="Create a new document." ma:contentTypeScope="" ma:versionID="511b56ef837cb8094633f79cbf6101bb">
  <xsd:schema xmlns:xsd="http://www.w3.org/2001/XMLSchema" xmlns:xs="http://www.w3.org/2001/XMLSchema" xmlns:p="http://schemas.microsoft.com/office/2006/metadata/properties" xmlns:ns2="d3abd939-9d94-49d1-925a-c93fb1ff4b6e" xmlns:ns3="bc761791-33a0-47b7-8145-9d3c2515a3a0" targetNamespace="http://schemas.microsoft.com/office/2006/metadata/properties" ma:root="true" ma:fieldsID="a0782334ac6122055466205749466095" ns2:_="" ns3:_="">
    <xsd:import namespace="d3abd939-9d94-49d1-925a-c93fb1ff4b6e"/>
    <xsd:import namespace="bc761791-33a0-47b7-8145-9d3c2515a3a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element ref="ns2:SubjectTag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3abd939-9d94-49d1-925a-c93fb1ff4b6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SubjectTags" ma:index="14" nillable="true" ma:displayName="Subject Tags" ma:description="Insert any relevant topical areas or subjects" ma:format="Dropdown" ma:internalName="SubjectTags">
      <xsd:simpleType>
        <xsd:union memberTypes="dms:Text">
          <xsd:simpleType>
            <xsd:restriction base="dms:Choice">
              <xsd:enumeration value="ECRP"/>
              <xsd:enumeration value="AI"/>
              <xsd:enumeration value="EPSCOR"/>
              <xsd:enumeration value="SciDAC"/>
              <xsd:enumeration value="Data/Vis"/>
              <xsd:enumeration value="Computer Science"/>
              <xsd:enumeration value="Quantum"/>
              <xsd:enumeration value="Budget Related"/>
            </xsd:restriction>
          </xsd:simpleType>
        </xsd:unio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2dabcefd-7191-4d78-9d18-d223e822edaa" ma:termSetId="09814cd3-568e-fe90-9814-8d621ff8fb84" ma:anchorId="fba54fb3-c3e1-fe81-a776-ca4b69148c4d" ma:open="true" ma:isKeyword="false">
      <xsd:complexType>
        <xsd:sequence>
          <xsd:element ref="pc:Terms" minOccurs="0" maxOccurs="1"/>
        </xsd:sequence>
      </xsd:complex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c761791-33a0-47b7-8145-9d3c2515a3a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0ba3bf2f-9f6a-42de-9806-f02ccdd7535d}" ma:internalName="TaxCatchAll" ma:showField="CatchAllData" ma:web="bc761791-33a0-47b7-8145-9d3c2515a3a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3abd939-9d94-49d1-925a-c93fb1ff4b6e">
      <Terms xmlns="http://schemas.microsoft.com/office/infopath/2007/PartnerControls"/>
    </lcf76f155ced4ddcb4097134ff3c332f>
    <SubjectTags xmlns="d3abd939-9d94-49d1-925a-c93fb1ff4b6e" xsi:nil="true"/>
    <TaxCatchAll xmlns="bc761791-33a0-47b7-8145-9d3c2515a3a0" xsi:nil="true"/>
  </documentManagement>
</p:properties>
</file>

<file path=customXml/itemProps1.xml><?xml version="1.0" encoding="utf-8"?>
<ds:datastoreItem xmlns:ds="http://schemas.openxmlformats.org/officeDocument/2006/customXml" ds:itemID="{A9B585CC-6C58-4D0F-87F3-D826C458A2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3abd939-9d94-49d1-925a-c93fb1ff4b6e"/>
    <ds:schemaRef ds:uri="bc761791-33a0-47b7-8145-9d3c2515a3a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A8EE7F5-A494-4A3A-8402-D6EC287A4FD9}">
  <ds:schemaRefs>
    <ds:schemaRef ds:uri="http://schemas.microsoft.com/sharepoint/v3/contenttype/forms"/>
  </ds:schemaRefs>
</ds:datastoreItem>
</file>

<file path=customXml/itemProps3.xml><?xml version="1.0" encoding="utf-8"?>
<ds:datastoreItem xmlns:ds="http://schemas.openxmlformats.org/officeDocument/2006/customXml" ds:itemID="{B0A43E79-5F32-4471-8B9A-F8FE298C9716}">
  <ds:schemaRefs>
    <ds:schemaRef ds:uri="http://schemas.microsoft.com/office/2006/metadata/properties"/>
    <ds:schemaRef ds:uri="bc761791-33a0-47b7-8145-9d3c2515a3a0"/>
    <ds:schemaRef ds:uri="http://purl.org/dc/terms/"/>
    <ds:schemaRef ds:uri="http://schemas.microsoft.com/office/2006/documentManagement/types"/>
    <ds:schemaRef ds:uri="http://schemas.openxmlformats.org/package/2006/metadata/core-properties"/>
    <ds:schemaRef ds:uri="d3abd939-9d94-49d1-925a-c93fb1ff4b6e"/>
    <ds:schemaRef ds:uri="http://purl.org/dc/elements/1.1/"/>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4239</TotalTime>
  <Words>1032</Words>
  <Application>Microsoft Macintosh PowerPoint</Application>
  <PresentationFormat>Widescreen</PresentationFormat>
  <Paragraphs>55</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Arial</vt:lpstr>
      <vt:lpstr>AvenirNext LT Pro Regular</vt:lpstr>
      <vt:lpstr>Calibri</vt:lpstr>
      <vt:lpstr>Calibri Light</vt:lpstr>
      <vt:lpstr>7_office theme</vt:lpstr>
      <vt:lpstr>Sustaining DOE's HPC Software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PESO Team Contributes to HPSF Growth and Impact</dc:title>
  <dc:subject>Highlight slide for DOE ASCR</dc:subject>
  <dc:creator>Michael Heroux</dc:creator>
  <cp:keywords/>
  <dc:description/>
  <cp:lastModifiedBy>Michael Heroux</cp:lastModifiedBy>
  <cp:revision>43</cp:revision>
  <dcterms:created xsi:type="dcterms:W3CDTF">2025-01-02T22:07:27Z</dcterms:created>
  <dcterms:modified xsi:type="dcterms:W3CDTF">2026-08-05T01:06:30Z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0x010100D0BF6F177D6D67458FBB47B7752A5A77</vt:lpwstr>
  </property>
  <property fmtid="{D5CDD505-2E9C-101B-9397-08002B2CF9AE}" pid="3" name="MediaServiceImageTags">
    <vt:lpwstr/>
  </property>
</Properties>
</file>