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81BD"/>
    <a:srgbClr val="0000FF"/>
    <a:srgbClr val="020079"/>
    <a:srgbClr val="EEE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67" autoAdjust="0"/>
    <p:restoredTop sz="71986" autoAdjust="0"/>
  </p:normalViewPr>
  <p:slideViewPr>
    <p:cSldViewPr snapToGrid="0">
      <p:cViewPr varScale="1">
        <p:scale>
          <a:sx n="85" d="100"/>
          <a:sy n="85" d="100"/>
        </p:scale>
        <p:origin x="1440" y="168"/>
      </p:cViewPr>
      <p:guideLst/>
    </p:cSldViewPr>
  </p:slideViewPr>
  <p:outlineViewPr>
    <p:cViewPr>
      <p:scale>
        <a:sx n="33" d="100"/>
        <a:sy n="33" d="100"/>
      </p:scale>
      <p:origin x="0" y="0"/>
    </p:cViewPr>
  </p:outlineViewPr>
  <p:notesTextViewPr>
    <p:cViewPr>
      <p:scale>
        <a:sx n="1" d="1"/>
        <a:sy n="1" d="1"/>
      </p:scale>
      <p:origin x="0" y="-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34BE1-65F2-4435-8B51-6A5EBDF683AE}" type="datetimeFigureOut">
              <a:rPr lang="en-US" smtClean="0"/>
              <a:t>8/5/26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4650E-E198-4FA3-A1E8-C9B561D8C60E}" type="slidenum">
              <a:rPr lang="en-US" smtClean="0"/>
              <a:t>‹#›</a:t>
            </a:fld>
            <a:endParaRPr lang="en-US"/>
          </a:p>
        </p:txBody>
      </p:sp>
    </p:spTree>
    <p:extLst>
      <p:ext uri="{BB962C8B-B14F-4D97-AF65-F5344CB8AC3E}">
        <p14:creationId xmlns:p14="http://schemas.microsoft.com/office/powerpoint/2010/main" val="33658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LOCAL LAB POC:</a:t>
            </a:r>
          </a:p>
          <a:p>
            <a:r>
              <a:rPr lang="en-US" dirty="0"/>
              <a:t>Todd Gamblin</a:t>
            </a:r>
            <a:endParaRPr dirty="0"/>
          </a:p>
          <a:p>
            <a:endParaRPr dirty="0"/>
          </a:p>
          <a:p>
            <a:r>
              <a:rPr dirty="0"/>
              <a:t>TALKING POINTS:</a:t>
            </a:r>
          </a:p>
          <a:p>
            <a:r>
              <a:rPr dirty="0"/>
              <a:t>Open science depends on shared software </a:t>
            </a:r>
            <a:r>
              <a:rPr lang="en-US" dirty="0"/>
              <a:t>infrastructure and</a:t>
            </a:r>
            <a:r>
              <a:rPr dirty="0"/>
              <a:t> building that software is often the hardest part. Every research group that wants to run HPC </a:t>
            </a:r>
            <a:r>
              <a:t>applications </a:t>
            </a:r>
            <a:r>
              <a:rPr lang="en-US"/>
              <a:t>must</a:t>
            </a:r>
            <a:r>
              <a:t> </a:t>
            </a:r>
            <a:r>
              <a:rPr dirty="0"/>
              <a:t>resolve compilers, libraries, and dependencies before a single simulation runs — work that is largely the same from one institution to the next, yet has traditionally been redone in isolation everywhere.</a:t>
            </a:r>
          </a:p>
          <a:p>
            <a:r>
              <a:rPr dirty="0"/>
              <a:t>Spack is the open-source package manager the community built to stop repeating that work. Maintained by a large international community and supported through PESO and the High Performance Software Foundation, Spack automates builds of scientific software and its dependencies, with a simple, parameterized syntax that lets users tune configuration without hand-editing build scripts. It is the foundation of DOE's E4S software stack.</a:t>
            </a:r>
          </a:p>
          <a:p>
            <a:r>
              <a:rPr dirty="0"/>
              <a:t>The 1.2 release adds four capabilities the community asked for: an interactive parallel installer with a live terminal UI, concretization groups that let independently-solved parts of a spec reuse each other's results, cached concretization that stores and retrieves solver output by hash, and SBOM generation in the SPDX 2.3 standard for supply-chain security. Concretization caching alone cut a three-solve sequence down to one, and a typical spec resolve from 6.21 seconds to 1.79.</a:t>
            </a:r>
          </a:p>
          <a:p>
            <a:r>
              <a:rPr dirty="0"/>
              <a:t>Over the past two years the project has grown from 1,400 to more than 1,600 contributors and from 8,200 to 8,800 packages, joined the Linux Foundation, and set up neutral governance so no single institution controls its direction. Documentation-site visits arrive from nearly every country, and the user base spans research software engineers, developers, system administrators, and computational scientists in roughly equal measure — evidence that Spack has become genuinely shared infrastructure rather than a single lab's tool.</a:t>
            </a:r>
          </a:p>
          <a:p>
            <a:r>
              <a:rPr dirty="0"/>
              <a:t>That is the DOE mission in practice: public investment in open software that any research group, anywhere, can build on, verify, and extend — and that keeps getting faster and more secure as the community that relies on it keeps growing.</a:t>
            </a:r>
          </a:p>
          <a:p>
            <a:endParaRPr dirty="0"/>
          </a:p>
          <a:p>
            <a:r>
              <a:rPr dirty="0"/>
              <a:t>METADATA:</a:t>
            </a:r>
          </a:p>
          <a:p>
            <a:r>
              <a:rPr dirty="0"/>
              <a:t>Name of the associated awarded project: PESO, Consortium for the Advancement of Scientific Software (CASS)</a:t>
            </a:r>
          </a:p>
          <a:p>
            <a:r>
              <a:rPr dirty="0"/>
              <a:t>PI names: Michael Heroux (</a:t>
            </a:r>
            <a:r>
              <a:rPr dirty="0" err="1"/>
              <a:t>ParaTools</a:t>
            </a:r>
            <a:r>
              <a:rPr dirty="0"/>
              <a:t>, Inc.), Lois Curfman McInnes (Argonne National Laboratory)</a:t>
            </a:r>
          </a:p>
          <a:p>
            <a:r>
              <a:rPr dirty="0"/>
              <a:t>Spack technical lead: Todd Gamblin (Lawrence Livermore National Laboratory)</a:t>
            </a:r>
          </a:p>
          <a:p>
            <a:r>
              <a:rPr dirty="0"/>
              <a:t>Name of the program manager: David Rabson, ASCR Next-Generation Scientific Software Technologies</a:t>
            </a:r>
          </a:p>
          <a:p>
            <a:endParaRPr dirty="0"/>
          </a:p>
          <a:p>
            <a:r>
              <a:rPr dirty="0"/>
              <a:t>CITATIONS:</a:t>
            </a:r>
          </a:p>
          <a:p>
            <a:r>
              <a:rPr dirty="0"/>
              <a:t>[to be completed before submission] Add full citations, including DOIs, for the associated Spack publications, and confirm that accepted manuscripts have been submitted to OSTI. At least one publication citation should also appear on the slide itself.</a:t>
            </a:r>
          </a:p>
          <a:p>
            <a:r>
              <a:rPr dirty="0"/>
              <a:t>Software references: Spack, https://</a:t>
            </a:r>
            <a:r>
              <a:rPr dirty="0" err="1"/>
              <a:t>spack.io</a:t>
            </a:r>
            <a:r>
              <a:rPr dirty="0"/>
              <a:t> ; source, https://</a:t>
            </a:r>
            <a:r>
              <a:rPr dirty="0" err="1"/>
              <a:t>github.com</a:t>
            </a:r>
            <a:r>
              <a:rPr dirty="0"/>
              <a:t>/</a:t>
            </a:r>
            <a:r>
              <a:rPr dirty="0" err="1"/>
              <a:t>spack</a:t>
            </a:r>
            <a:r>
              <a:rPr dirty="0"/>
              <a:t>/</a:t>
            </a:r>
            <a:r>
              <a:rPr dirty="0" err="1"/>
              <a:t>spack</a:t>
            </a:r>
            <a:r>
              <a:rPr dirty="0"/>
              <a:t> ; E4S, https://e4s.io .</a:t>
            </a:r>
          </a:p>
          <a:p>
            <a:endParaRPr dirty="0"/>
          </a:p>
          <a:p>
            <a:r>
              <a:rPr dirty="0"/>
              <a:t>AWARDS:</a:t>
            </a:r>
          </a:p>
          <a:p>
            <a:r>
              <a:rPr dirty="0"/>
              <a:t>[none noted; add if applicable]</a:t>
            </a:r>
          </a:p>
          <a:p>
            <a:endParaRPr dirty="0"/>
          </a:p>
          <a:p>
            <a:r>
              <a:rPr dirty="0"/>
              <a:t>REPRODUCIBILITY:</a:t>
            </a:r>
          </a:p>
          <a:p>
            <a:r>
              <a:rPr dirty="0"/>
              <a:t>Spack's cached concretization stores solver results by input hash, and SBOM generation records the exact supplier, version, and dependency graph of every installed package — together giving a verifiable record sufficient to reconstruct a software environment used for a published result.</a:t>
            </a:r>
          </a:p>
          <a:p>
            <a:endParaRPr dirty="0"/>
          </a:p>
          <a:p>
            <a:r>
              <a:rPr dirty="0"/>
              <a:t>BACKGROUND AND CONTEXT INFORMATION:</a:t>
            </a:r>
          </a:p>
          <a:p>
            <a:r>
              <a:rPr dirty="0"/>
              <a:t>Source: poster "What's New in Spack 1.2," presented at the DOE ASCR Computer Science Principal Investigators Meeting, Rockville, MD, July 2026.</a:t>
            </a:r>
          </a:p>
          <a:p>
            <a:r>
              <a:rPr dirty="0"/>
              <a:t>Growth figures and the contributor/documentation-visitor map are drawn directly from the poster's 'What's happened in the past two years?' panel. Percentages in the role breakdown: Research Software Engineer (RSE) 21.1%, Software Developer 17.9%, System Administrator 12.2%, Computational Scientist 11.8%, User Support Staff (not separately labeled in caption) 8.9-10.6% range across DevOps/SRE and User Support Staff, HPC User/Analyst smallest slice.</a:t>
            </a:r>
          </a:p>
        </p:txBody>
      </p:sp>
      <p:sp>
        <p:nvSpPr>
          <p:cNvPr id="4" name="Slide Number Placeholder 3"/>
          <p:cNvSpPr>
            <a:spLocks noGrp="1"/>
          </p:cNvSpPr>
          <p:nvPr>
            <p:ph type="sldNum" sz="quarter" idx="5"/>
          </p:nvPr>
        </p:nvSpPr>
        <p:spPr/>
        <p:txBody>
          <a:bodyPr/>
          <a:lstStyle/>
          <a:p>
            <a:fld id="{AA04650E-E198-4FA3-A1E8-C9B561D8C60E}" type="slidenum">
              <a:rPr lang="en-US" smtClean="0"/>
              <a:t>1</a:t>
            </a:fld>
            <a:endParaRPr lang="en-US"/>
          </a:p>
        </p:txBody>
      </p:sp>
    </p:spTree>
    <p:extLst>
      <p:ext uri="{BB962C8B-B14F-4D97-AF65-F5344CB8AC3E}">
        <p14:creationId xmlns:p14="http://schemas.microsoft.com/office/powerpoint/2010/main" val="72123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666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829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053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517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56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69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4431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9382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5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537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5487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2667" y="6373156"/>
            <a:ext cx="2149533" cy="394974"/>
          </a:xfrm>
          <a:prstGeom prst="rect">
            <a:avLst/>
          </a:prstGeom>
        </p:spPr>
      </p:pic>
      <p:sp>
        <p:nvSpPr>
          <p:cNvPr id="7" name="TextBox 6"/>
          <p:cNvSpPr txBox="1"/>
          <p:nvPr userDrawn="1"/>
        </p:nvSpPr>
        <p:spPr>
          <a:xfrm>
            <a:off x="9943949" y="6398798"/>
            <a:ext cx="2248051"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Energy.gov/science</a:t>
            </a:r>
          </a:p>
        </p:txBody>
      </p:sp>
    </p:spTree>
    <p:extLst>
      <p:ext uri="{BB962C8B-B14F-4D97-AF65-F5344CB8AC3E}">
        <p14:creationId xmlns:p14="http://schemas.microsoft.com/office/powerpoint/2010/main" val="244195493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0" y="0"/>
            <a:ext cx="12192000" cy="762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0F6636"/>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3"/>
          <p:cNvSpPr txBox="1">
            <a:spLocks noGrp="1"/>
          </p:cNvSpPr>
          <p:nvPr>
            <p:ph type="sldNum" idx="12"/>
          </p:nvPr>
        </p:nvSpPr>
        <p:spPr>
          <a:xfrm>
            <a:off x="11218333" y="6351591"/>
            <a:ext cx="5080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32249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2690985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hyperlink" Target="https://spack.io/" TargetMode="External"/><Relationship Id="rId21" Type="http://schemas.openxmlformats.org/officeDocument/2006/relationships/image" Target="../media/image16.png"/><Relationship Id="rId7" Type="http://schemas.openxmlformats.org/officeDocument/2006/relationships/image" Target="../media/image2.png"/><Relationship Id="rId12" Type="http://schemas.openxmlformats.org/officeDocument/2006/relationships/image" Target="../media/image7.png"/><Relationship Id="rId17" Type="http://schemas.openxmlformats.org/officeDocument/2006/relationships/image" Target="../media/image12.png"/><Relationship Id="rId2" Type="http://schemas.openxmlformats.org/officeDocument/2006/relationships/notesSlide" Target="../notesSlides/notesSlide1.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hyperlink" Target="https://pesoproject.org/" TargetMode="External"/><Relationship Id="rId11" Type="http://schemas.openxmlformats.org/officeDocument/2006/relationships/image" Target="../media/image6.png"/><Relationship Id="rId5" Type="http://schemas.openxmlformats.org/officeDocument/2006/relationships/hyperlink" Target="https://pesoproject.org" TargetMode="External"/><Relationship Id="rId15" Type="http://schemas.openxmlformats.org/officeDocument/2006/relationships/image" Target="../media/image10.png"/><Relationship Id="rId10" Type="http://schemas.openxmlformats.org/officeDocument/2006/relationships/image" Target="../media/image5.png"/><Relationship Id="rId19" Type="http://schemas.openxmlformats.org/officeDocument/2006/relationships/image" Target="../media/image14.png"/><Relationship Id="rId4" Type="http://schemas.openxmlformats.org/officeDocument/2006/relationships/hyperlink" Target="https://github.com/spack/spack" TargetMode="External"/><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6110527-3D5E-DE8A-91D6-0E66981F1564}"/>
              </a:ext>
            </a:extLst>
          </p:cNvPr>
          <p:cNvSpPr/>
          <p:nvPr/>
        </p:nvSpPr>
        <p:spPr>
          <a:xfrm>
            <a:off x="7057342" y="4720433"/>
            <a:ext cx="4864420" cy="1348384"/>
          </a:xfrm>
          <a:prstGeom prst="rect">
            <a:avLst/>
          </a:prstGeom>
          <a:solidFill>
            <a:srgbClr val="8281BD">
              <a:alpha val="1294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CB983-3D4F-3FB4-37F0-5EBAA0E93936}"/>
              </a:ext>
            </a:extLst>
          </p:cNvPr>
          <p:cNvSpPr>
            <a:spLocks noGrp="1"/>
          </p:cNvSpPr>
          <p:nvPr>
            <p:ph type="title"/>
          </p:nvPr>
        </p:nvSpPr>
        <p:spPr>
          <a:xfrm>
            <a:off x="152774" y="23094"/>
            <a:ext cx="9043791" cy="608950"/>
          </a:xfrm>
        </p:spPr>
        <p:txBody>
          <a:bodyPr>
            <a:noAutofit/>
          </a:bodyPr>
          <a:lstStyle/>
          <a:p>
            <a:r>
              <a:rPr lang="en-US" sz="2800" b="1" kern="0" dirty="0">
                <a:solidFill>
                  <a:srgbClr val="000000"/>
                </a:solidFill>
                <a:ea typeface="Arial"/>
                <a:cs typeface="Arial"/>
                <a:sym typeface="Arial"/>
              </a:rPr>
              <a:t>Spack Grows the Commons</a:t>
            </a:r>
          </a:p>
        </p:txBody>
      </p:sp>
      <p:sp>
        <p:nvSpPr>
          <p:cNvPr id="7" name="Google Shape;25;p1">
            <a:extLst>
              <a:ext uri="{FF2B5EF4-FFF2-40B4-BE49-F238E27FC236}">
                <a16:creationId xmlns:a16="http://schemas.microsoft.com/office/drawing/2014/main" id="{35E5E467-2727-969B-98F3-BA95D001A982}"/>
              </a:ext>
            </a:extLst>
          </p:cNvPr>
          <p:cNvSpPr/>
          <p:nvPr/>
        </p:nvSpPr>
        <p:spPr>
          <a:xfrm>
            <a:off x="237744" y="512064"/>
            <a:ext cx="6858000" cy="140634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Scientific Achievement</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Spack 1.2</a:t>
            </a:r>
            <a:r>
              <a:rPr lang="en-US" sz="1400" b="0" kern="0" dirty="0">
                <a:solidFill>
                  <a:srgbClr val="000000"/>
                </a:solidFill>
                <a:ea typeface="Arial"/>
                <a:cs typeface="Arial"/>
                <a:sym typeface="Arial"/>
              </a:rPr>
              <a:t> adds a parallel installer, concretization groups/caching, and SBOM generation</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Concretization caching: 3 solves down to 1; spec resolve time 6.21 s to 1.79 s</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Contributors: 1,400 to 1,600+; packages: 8,200 to 8,800</a:t>
            </a:r>
            <a:r>
              <a:rPr lang="en-US" sz="1400" b="0" kern="0" dirty="0">
                <a:solidFill>
                  <a:srgbClr val="000000"/>
                </a:solidFill>
                <a:ea typeface="Arial"/>
                <a:cs typeface="Arial"/>
                <a:sym typeface="Arial"/>
              </a:rPr>
              <a:t> across four releases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Joined the Linux Foundation; set up neutral, community-run governance</a:t>
            </a:r>
          </a:p>
        </p:txBody>
      </p:sp>
      <p:sp>
        <p:nvSpPr>
          <p:cNvPr id="8" name="Google Shape;26;p1">
            <a:extLst>
              <a:ext uri="{FF2B5EF4-FFF2-40B4-BE49-F238E27FC236}">
                <a16:creationId xmlns:a16="http://schemas.microsoft.com/office/drawing/2014/main" id="{0607B843-0CBD-294A-51EC-D86D699F90C2}"/>
              </a:ext>
            </a:extLst>
          </p:cNvPr>
          <p:cNvSpPr/>
          <p:nvPr/>
        </p:nvSpPr>
        <p:spPr>
          <a:xfrm>
            <a:off x="237744" y="2009851"/>
            <a:ext cx="6858000" cy="119146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Significance and Impact</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Spack underpins DOE's E4S stack, a shared dependency for open computational science</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SBOMs give every research group a standard, auditable record of its software stack</a:t>
            </a:r>
          </a:p>
          <a:p>
            <a:pPr marL="285750" indent="-285750">
              <a:buClr>
                <a:srgbClr val="000000"/>
              </a:buClr>
              <a:buFont typeface="Arial" panose="020B0604020202020204" pitchFamily="34" charset="0"/>
              <a:buChar char="•"/>
              <a:defRPr/>
            </a:pPr>
            <a:r>
              <a:rPr lang="en-US" sz="1400" b="1" kern="0" dirty="0">
                <a:solidFill>
                  <a:srgbClr val="000000"/>
                </a:solidFill>
                <a:ea typeface="Arial"/>
                <a:cs typeface="Arial"/>
                <a:sym typeface="Arial"/>
              </a:rPr>
              <a:t>One open toolchain serves academia, industry, and government labs alike</a:t>
            </a:r>
          </a:p>
        </p:txBody>
      </p:sp>
      <p:sp>
        <p:nvSpPr>
          <p:cNvPr id="9" name="Google Shape;27;p1">
            <a:extLst>
              <a:ext uri="{FF2B5EF4-FFF2-40B4-BE49-F238E27FC236}">
                <a16:creationId xmlns:a16="http://schemas.microsoft.com/office/drawing/2014/main" id="{34B9808A-90A5-22A7-F1DB-47BF387DC938}"/>
              </a:ext>
            </a:extLst>
          </p:cNvPr>
          <p:cNvSpPr txBox="1"/>
          <p:nvPr/>
        </p:nvSpPr>
        <p:spPr>
          <a:xfrm>
            <a:off x="7168896" y="3200400"/>
            <a:ext cx="4956048" cy="146303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Documentation-site visits from nearly every country trace the reach of an open, community-governed package manager: Spack now has over 1,600 contributors spanning academia, industry, and government labs, with research software engineers, developers, and computational scientists all drawing on the same open toolchain.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1" kern="0" dirty="0">
                <a:solidFill>
                  <a:srgbClr val="000000"/>
                </a:solidFill>
                <a:ea typeface="Arial"/>
                <a:cs typeface="Arial"/>
                <a:sym typeface="Arial"/>
              </a:rPr>
              <a:t>That global, cross-sector user base is exactly what Spack's 1.2 features are built to serve: faster concretization and SBOMs make the shared stack easier to run and easier to trust at any scale, from a laptop to a leadership-class system.</a:t>
            </a:r>
          </a:p>
        </p:txBody>
      </p:sp>
      <p:sp>
        <p:nvSpPr>
          <p:cNvPr id="11" name="Google Shape;29;p1">
            <a:extLst>
              <a:ext uri="{FF2B5EF4-FFF2-40B4-BE49-F238E27FC236}">
                <a16:creationId xmlns:a16="http://schemas.microsoft.com/office/drawing/2014/main" id="{F719EDE8-762E-1830-067F-4414F9F31C7C}"/>
              </a:ext>
            </a:extLst>
          </p:cNvPr>
          <p:cNvSpPr/>
          <p:nvPr/>
        </p:nvSpPr>
        <p:spPr>
          <a:xfrm>
            <a:off x="237744" y="3292754"/>
            <a:ext cx="6858000" cy="97657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0" dirty="0">
                <a:solidFill>
                  <a:srgbClr val="000000"/>
                </a:solidFill>
                <a:ea typeface="Arial"/>
                <a:cs typeface="Arial"/>
                <a:sym typeface="Arial"/>
              </a:rPr>
              <a:t>Technical Approach</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Concretization groups let solved spec subsets reuse each other's results</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Cached concretization stores solver output by hash to skip re-solving</a:t>
            </a:r>
          </a:p>
          <a:p>
            <a:pPr marL="285750" indent="-285750">
              <a:buClr>
                <a:srgbClr val="000000"/>
              </a:buClr>
              <a:buFont typeface="Arial" panose="020B0604020202020204" pitchFamily="34" charset="0"/>
              <a:buChar char="•"/>
              <a:defRPr/>
            </a:pPr>
            <a:r>
              <a:rPr lang="en-US" sz="1400" b="0" kern="0" dirty="0">
                <a:solidFill>
                  <a:srgbClr val="000000"/>
                </a:solidFill>
                <a:ea typeface="Arial"/>
                <a:cs typeface="Arial"/>
                <a:sym typeface="Arial"/>
              </a:rPr>
              <a:t>SBOMs follow SPDX 2.3 with NTIA minimum elements for security tooling</a:t>
            </a:r>
          </a:p>
        </p:txBody>
      </p:sp>
      <p:sp>
        <p:nvSpPr>
          <p:cNvPr id="15" name="TextBox 14">
            <a:extLst>
              <a:ext uri="{FF2B5EF4-FFF2-40B4-BE49-F238E27FC236}">
                <a16:creationId xmlns:a16="http://schemas.microsoft.com/office/drawing/2014/main" id="{1C742054-4F8C-D401-63CE-FEFFCD6C2810}"/>
              </a:ext>
            </a:extLst>
          </p:cNvPr>
          <p:cNvSpPr txBox="1"/>
          <p:nvPr/>
        </p:nvSpPr>
        <p:spPr>
          <a:xfrm>
            <a:off x="7175041" y="4791544"/>
            <a:ext cx="4884963"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PIs: Michael Heroux, (ParaTools, Inc.), Lois Curfman McInnes (Argonne)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Spack technical lead: Todd Gamblin (LLNL)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Program: Next-Generation Scientific Software Technologies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ASCR PM: David Rabson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Spack website: </a:t>
            </a:r>
            <a:r>
              <a:rPr lang="en-US" sz="1100" b="0" kern="0" dirty="0">
                <a:solidFill>
                  <a:srgbClr val="000000"/>
                </a:solidFill>
                <a:hlinkClick r:id="rId3"/>
              </a:rPr>
              <a:t>https://spack.io</a:t>
            </a:r>
            <a:r>
              <a:rPr lang="en-US" sz="1100" kern="0" dirty="0">
                <a:solidFill>
                  <a:srgbClr val="000000"/>
                </a:solidFill>
                <a:cs typeface="Arial"/>
                <a:sym typeface="Arial"/>
              </a:rPr>
              <a:t>, </a:t>
            </a:r>
            <a:r>
              <a:rPr lang="en-US" sz="1100" kern="0" dirty="0">
                <a:solidFill>
                  <a:srgbClr val="000000"/>
                </a:solidFill>
                <a:cs typeface="Arial"/>
                <a:sym typeface="Arial"/>
                <a:hlinkClick r:id="rId4"/>
              </a:rPr>
              <a:t>https://</a:t>
            </a:r>
            <a:r>
              <a:rPr lang="en-US" sz="1100" b="0" kern="0" dirty="0">
                <a:solidFill>
                  <a:srgbClr val="000000"/>
                </a:solidFill>
                <a:ea typeface="Arial"/>
                <a:cs typeface="Arial"/>
                <a:sym typeface="Arial"/>
                <a:hlinkClick r:id="rId4"/>
              </a:rPr>
              <a:t>github.com/spack/spack</a:t>
            </a:r>
            <a:r>
              <a:rPr lang="en-US" sz="1100" b="0" kern="0" dirty="0">
                <a:solidFill>
                  <a:srgbClr val="000000"/>
                </a:solidFil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b="0" kern="0" dirty="0">
                <a:solidFill>
                  <a:srgbClr val="000000"/>
                </a:solidFill>
                <a:ea typeface="Arial"/>
                <a:cs typeface="Arial"/>
                <a:sym typeface="Arial"/>
              </a:rPr>
              <a:t>PESO website: </a:t>
            </a:r>
            <a:r>
              <a:rPr lang="en-US" sz="1100" b="0" kern="0" dirty="0">
                <a:solidFill>
                  <a:srgbClr val="000000"/>
                </a:solidFill>
                <a:hlinkClick r:id="rId5"/>
              </a:rPr>
              <a:t>https://pesoproject.org</a:t>
            </a:r>
          </a:p>
        </p:txBody>
      </p:sp>
      <p:grpSp>
        <p:nvGrpSpPr>
          <p:cNvPr id="17" name="Group 16">
            <a:extLst>
              <a:ext uri="{FF2B5EF4-FFF2-40B4-BE49-F238E27FC236}">
                <a16:creationId xmlns:a16="http://schemas.microsoft.com/office/drawing/2014/main" id="{C924034C-6666-2D6C-3754-A1C2013A1AB4}"/>
              </a:ext>
            </a:extLst>
          </p:cNvPr>
          <p:cNvGrpSpPr/>
          <p:nvPr/>
        </p:nvGrpSpPr>
        <p:grpSpPr>
          <a:xfrm>
            <a:off x="46133" y="4994937"/>
            <a:ext cx="6809829" cy="1219473"/>
            <a:chOff x="46133" y="4994937"/>
            <a:chExt cx="6809829" cy="1219473"/>
          </a:xfrm>
        </p:grpSpPr>
        <p:sp>
          <p:nvSpPr>
            <p:cNvPr id="47" name="TextBox 46">
              <a:extLst>
                <a:ext uri="{FF2B5EF4-FFF2-40B4-BE49-F238E27FC236}">
                  <a16:creationId xmlns:a16="http://schemas.microsoft.com/office/drawing/2014/main" id="{9DF756B8-22F7-0A6B-262E-22DCD05C26DA}"/>
                </a:ext>
              </a:extLst>
            </p:cNvPr>
            <p:cNvSpPr txBox="1"/>
            <p:nvPr/>
          </p:nvSpPr>
          <p:spPr>
            <a:xfrm>
              <a:off x="204870" y="5914328"/>
              <a:ext cx="6567952" cy="300082"/>
            </a:xfrm>
            <a:prstGeom prst="rect">
              <a:avLst/>
            </a:prstGeom>
            <a:noFill/>
          </p:spPr>
          <p:txBody>
            <a:bodyPr wrap="none" rtlCol="0">
              <a:spAutoFit/>
            </a:bodyPr>
            <a:lstStyle/>
            <a:p>
              <a:r>
                <a:rPr lang="en-US" sz="1350" i="1" dirty="0"/>
                <a:t>Stewarding and advancing the current and future ecosystem of HPC-AI computing software</a:t>
              </a:r>
            </a:p>
          </p:txBody>
        </p:sp>
        <p:grpSp>
          <p:nvGrpSpPr>
            <p:cNvPr id="12" name="Group 11">
              <a:extLst>
                <a:ext uri="{FF2B5EF4-FFF2-40B4-BE49-F238E27FC236}">
                  <a16:creationId xmlns:a16="http://schemas.microsoft.com/office/drawing/2014/main" id="{44BAA8EE-49E8-A7BD-F7B7-EE6957FE1C02}"/>
                </a:ext>
              </a:extLst>
            </p:cNvPr>
            <p:cNvGrpSpPr/>
            <p:nvPr/>
          </p:nvGrpSpPr>
          <p:grpSpPr>
            <a:xfrm>
              <a:off x="46133" y="5085479"/>
              <a:ext cx="1688848" cy="932420"/>
              <a:chOff x="46133" y="5085479"/>
              <a:chExt cx="1688848" cy="932420"/>
            </a:xfrm>
          </p:grpSpPr>
          <p:sp>
            <p:nvSpPr>
              <p:cNvPr id="72" name="Google Shape;791;p15">
                <a:extLst>
                  <a:ext uri="{FF2B5EF4-FFF2-40B4-BE49-F238E27FC236}">
                    <a16:creationId xmlns:a16="http://schemas.microsoft.com/office/drawing/2014/main" id="{1F9FE1DA-404D-04E7-D349-D448AF731D57}"/>
                  </a:ext>
                </a:extLst>
              </p:cNvPr>
              <p:cNvSpPr txBox="1"/>
              <p:nvPr/>
            </p:nvSpPr>
            <p:spPr>
              <a:xfrm>
                <a:off x="46133" y="5773426"/>
                <a:ext cx="1688848" cy="244473"/>
              </a:xfrm>
              <a:prstGeom prst="rect">
                <a:avLst/>
              </a:prstGeom>
              <a:noFill/>
              <a:ln>
                <a:noFill/>
              </a:ln>
            </p:spPr>
            <p:txBody>
              <a:bodyPr spcFirstLastPara="1" wrap="square" lIns="0" tIns="0" rIns="0" bIns="0" anchor="t" anchorCtr="0">
                <a:noAutofit/>
              </a:bodyPr>
              <a:lstStyle>
                <a:defPPr>
                  <a:defRPr lang="en-US"/>
                </a:defPPr>
                <a:lvl1pPr algn="r">
                  <a:lnSpc>
                    <a:spcPct val="90000"/>
                  </a:lnSpc>
                  <a:defRPr sz="600" b="1" spc="-20">
                    <a:solidFill>
                      <a:schemeClr val="bg1">
                        <a:lumMod val="50000"/>
                      </a:schemeClr>
                    </a:solidFill>
                    <a:latin typeface="Arial"/>
                    <a:ea typeface="Arial"/>
                    <a:cs typeface="Arial"/>
                  </a:defRPr>
                </a:lvl1pPr>
              </a:lstStyle>
              <a:p>
                <a:pPr algn="ctr" defTabSz="609585">
                  <a:buClrTx/>
                </a:pPr>
                <a:r>
                  <a:rPr lang="en-US" sz="1100" b="0" kern="1200" spc="-27" dirty="0">
                    <a:solidFill>
                      <a:srgbClr val="FFFFFF">
                        <a:lumMod val="50000"/>
                      </a:srgbClr>
                    </a:solidFill>
                    <a:hlinkClick r:id="rId6"/>
                  </a:rPr>
                  <a:t>https://pesoproject.org</a:t>
                </a:r>
                <a:r>
                  <a:rPr lang="en-US" sz="1100" b="0" kern="1200" spc="-27" dirty="0">
                    <a:solidFill>
                      <a:srgbClr val="FFFFFF">
                        <a:lumMod val="50000"/>
                      </a:srgbClr>
                    </a:solidFill>
                  </a:rPr>
                  <a:t> </a:t>
                </a:r>
                <a:endParaRPr sz="1100" b="0" kern="1200" spc="-27" dirty="0">
                  <a:solidFill>
                    <a:srgbClr val="FFFFFF">
                      <a:lumMod val="50000"/>
                    </a:srgbClr>
                  </a:solidFill>
                </a:endParaRPr>
              </a:p>
            </p:txBody>
          </p:sp>
          <p:pic>
            <p:nvPicPr>
              <p:cNvPr id="45" name="Google Shape;916;p18" descr="A picture containing graphics, logo, font, symbol&#10;&#10;Description automatically generated">
                <a:extLst>
                  <a:ext uri="{FF2B5EF4-FFF2-40B4-BE49-F238E27FC236}">
                    <a16:creationId xmlns:a16="http://schemas.microsoft.com/office/drawing/2014/main" id="{1219AE27-ACBF-8385-BC88-643F8607C46F}"/>
                  </a:ext>
                </a:extLst>
              </p:cNvPr>
              <p:cNvPicPr preferRelativeResize="0">
                <a:picLocks noChangeAspect="1"/>
              </p:cNvPicPr>
              <p:nvPr/>
            </p:nvPicPr>
            <p:blipFill rotWithShape="1">
              <a:blip r:embed="rId7">
                <a:alphaModFix/>
              </a:blip>
              <a:srcRect r="-585"/>
              <a:stretch/>
            </p:blipFill>
            <p:spPr>
              <a:xfrm>
                <a:off x="333357" y="5085479"/>
                <a:ext cx="968422" cy="628201"/>
              </a:xfrm>
              <a:prstGeom prst="rect">
                <a:avLst/>
              </a:prstGeom>
              <a:noFill/>
              <a:ln>
                <a:noFill/>
              </a:ln>
            </p:spPr>
          </p:pic>
        </p:grpSp>
        <p:grpSp>
          <p:nvGrpSpPr>
            <p:cNvPr id="14" name="Group 13">
              <a:extLst>
                <a:ext uri="{FF2B5EF4-FFF2-40B4-BE49-F238E27FC236}">
                  <a16:creationId xmlns:a16="http://schemas.microsoft.com/office/drawing/2014/main" id="{CFF8EDA8-3983-DE89-74FF-8AB76A3FC654}"/>
                </a:ext>
              </a:extLst>
            </p:cNvPr>
            <p:cNvGrpSpPr/>
            <p:nvPr/>
          </p:nvGrpSpPr>
          <p:grpSpPr>
            <a:xfrm>
              <a:off x="1707697" y="5141051"/>
              <a:ext cx="4936025" cy="737147"/>
              <a:chOff x="1707697" y="5141051"/>
              <a:chExt cx="4936025" cy="737147"/>
            </a:xfrm>
          </p:grpSpPr>
          <p:pic>
            <p:nvPicPr>
              <p:cNvPr id="49" name="Google Shape;651;p13" descr="Lawrence Livermore National Laboratory">
                <a:extLst>
                  <a:ext uri="{FF2B5EF4-FFF2-40B4-BE49-F238E27FC236}">
                    <a16:creationId xmlns:a16="http://schemas.microsoft.com/office/drawing/2014/main" id="{7AA3743E-E747-8934-7CD3-6A52AE426687}"/>
                  </a:ext>
                </a:extLst>
              </p:cNvPr>
              <p:cNvPicPr preferRelativeResize="0">
                <a:picLocks noChangeAspect="1"/>
              </p:cNvPicPr>
              <p:nvPr/>
            </p:nvPicPr>
            <p:blipFill rotWithShape="1">
              <a:blip r:embed="rId8" cstate="hqprint">
                <a:alphaModFix/>
                <a:extLst>
                  <a:ext uri="{28A0092B-C50C-407E-A947-70E740481C1C}">
                    <a14:useLocalDpi xmlns:a14="http://schemas.microsoft.com/office/drawing/2010/main"/>
                  </a:ext>
                </a:extLst>
              </a:blip>
              <a:srcRect/>
              <a:stretch/>
            </p:blipFill>
            <p:spPr>
              <a:xfrm>
                <a:off x="4803462" y="5207688"/>
                <a:ext cx="898608" cy="177817"/>
              </a:xfrm>
              <a:prstGeom prst="rect">
                <a:avLst/>
              </a:prstGeom>
              <a:noFill/>
              <a:ln>
                <a:noFill/>
              </a:ln>
            </p:spPr>
          </p:pic>
          <p:pic>
            <p:nvPicPr>
              <p:cNvPr id="52" name="Google Shape;655;p13" descr="Los Alamos National Laboratory">
                <a:extLst>
                  <a:ext uri="{FF2B5EF4-FFF2-40B4-BE49-F238E27FC236}">
                    <a16:creationId xmlns:a16="http://schemas.microsoft.com/office/drawing/2014/main" id="{AC4811EE-4B1A-0DF8-6AA7-B2DB9B26842C}"/>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5893408" y="5218465"/>
                <a:ext cx="775760" cy="156263"/>
              </a:xfrm>
              <a:prstGeom prst="rect">
                <a:avLst/>
              </a:prstGeom>
              <a:noFill/>
              <a:ln>
                <a:noFill/>
              </a:ln>
            </p:spPr>
          </p:pic>
          <p:pic>
            <p:nvPicPr>
              <p:cNvPr id="53" name="Google Shape;656;p13" descr="Kitware">
                <a:extLst>
                  <a:ext uri="{FF2B5EF4-FFF2-40B4-BE49-F238E27FC236}">
                    <a16:creationId xmlns:a16="http://schemas.microsoft.com/office/drawing/2014/main" id="{C9A3FA12-E29B-E088-701D-0E3545150844}"/>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4145906" y="5245312"/>
                <a:ext cx="466217" cy="102568"/>
              </a:xfrm>
              <a:prstGeom prst="rect">
                <a:avLst/>
              </a:prstGeom>
              <a:noFill/>
              <a:ln>
                <a:noFill/>
              </a:ln>
            </p:spPr>
          </p:pic>
          <p:pic>
            <p:nvPicPr>
              <p:cNvPr id="57" name="Google Shape;661;p13" descr="BerkeleyLabLogo">
                <a:extLst>
                  <a:ext uri="{FF2B5EF4-FFF2-40B4-BE49-F238E27FC236}">
                    <a16:creationId xmlns:a16="http://schemas.microsoft.com/office/drawing/2014/main" id="{00DC9E7D-B2C4-06AC-00B2-28CE94221741}"/>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2656868" y="5141051"/>
                <a:ext cx="411132" cy="311090"/>
              </a:xfrm>
              <a:prstGeom prst="rect">
                <a:avLst/>
              </a:prstGeom>
              <a:noFill/>
              <a:ln>
                <a:noFill/>
              </a:ln>
            </p:spPr>
          </p:pic>
          <p:pic>
            <p:nvPicPr>
              <p:cNvPr id="58" name="Google Shape;662;p13">
                <a:extLst>
                  <a:ext uri="{FF2B5EF4-FFF2-40B4-BE49-F238E27FC236}">
                    <a16:creationId xmlns:a16="http://schemas.microsoft.com/office/drawing/2014/main" id="{AC5E7A36-A55F-9934-7231-11DA9B2E018D}"/>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3259339" y="5209511"/>
                <a:ext cx="695228" cy="174170"/>
              </a:xfrm>
              <a:prstGeom prst="rect">
                <a:avLst/>
              </a:prstGeom>
              <a:noFill/>
              <a:ln>
                <a:noFill/>
              </a:ln>
            </p:spPr>
          </p:pic>
          <p:pic>
            <p:nvPicPr>
              <p:cNvPr id="62" name="Google Shape;652;p13" descr="Sandia National Laboratories">
                <a:extLst>
                  <a:ext uri="{FF2B5EF4-FFF2-40B4-BE49-F238E27FC236}">
                    <a16:creationId xmlns:a16="http://schemas.microsoft.com/office/drawing/2014/main" id="{A4B4F4DE-27A9-6B69-85EE-3707C6B07299}"/>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4004086" y="5641758"/>
                <a:ext cx="505345" cy="201378"/>
              </a:xfrm>
              <a:prstGeom prst="rect">
                <a:avLst/>
              </a:prstGeom>
              <a:noFill/>
              <a:ln>
                <a:noFill/>
              </a:ln>
            </p:spPr>
          </p:pic>
          <p:pic>
            <p:nvPicPr>
              <p:cNvPr id="63" name="Google Shape;654;p13" descr="Oak Ridge National Laboratory">
                <a:extLst>
                  <a:ext uri="{FF2B5EF4-FFF2-40B4-BE49-F238E27FC236}">
                    <a16:creationId xmlns:a16="http://schemas.microsoft.com/office/drawing/2014/main" id="{DB16AF1C-F486-8BBB-B871-E9609EBFA3FF}"/>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1844701" y="5648846"/>
                <a:ext cx="704821" cy="187202"/>
              </a:xfrm>
              <a:prstGeom prst="rect">
                <a:avLst/>
              </a:prstGeom>
              <a:noFill/>
              <a:ln>
                <a:noFill/>
              </a:ln>
            </p:spPr>
          </p:pic>
          <p:pic>
            <p:nvPicPr>
              <p:cNvPr id="66" name="Google Shape;657;p13" descr="University of Oregon">
                <a:extLst>
                  <a:ext uri="{FF2B5EF4-FFF2-40B4-BE49-F238E27FC236}">
                    <a16:creationId xmlns:a16="http://schemas.microsoft.com/office/drawing/2014/main" id="{1E6835CC-DAD6-F8AE-1C22-EE03E8AE5D89}"/>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6106260" y="5683837"/>
                <a:ext cx="537462" cy="117220"/>
              </a:xfrm>
              <a:prstGeom prst="rect">
                <a:avLst/>
              </a:prstGeom>
              <a:noFill/>
              <a:ln>
                <a:noFill/>
              </a:ln>
            </p:spPr>
          </p:pic>
          <p:pic>
            <p:nvPicPr>
              <p:cNvPr id="67" name="Google Shape;659;p13">
                <a:extLst>
                  <a:ext uri="{FF2B5EF4-FFF2-40B4-BE49-F238E27FC236}">
                    <a16:creationId xmlns:a16="http://schemas.microsoft.com/office/drawing/2014/main" id="{C3D16736-5223-712F-7DFE-884B4733732B}"/>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2691567" y="5655362"/>
                <a:ext cx="524852" cy="174170"/>
              </a:xfrm>
              <a:prstGeom prst="rect">
                <a:avLst/>
              </a:prstGeom>
              <a:noFill/>
              <a:ln>
                <a:noFill/>
              </a:ln>
            </p:spPr>
          </p:pic>
          <p:pic>
            <p:nvPicPr>
              <p:cNvPr id="68" name="Google Shape;660;p13">
                <a:extLst>
                  <a:ext uri="{FF2B5EF4-FFF2-40B4-BE49-F238E27FC236}">
                    <a16:creationId xmlns:a16="http://schemas.microsoft.com/office/drawing/2014/main" id="{FA4B11A7-0A95-B52C-1137-288B861A0B3B}"/>
                  </a:ext>
                </a:extLst>
              </p:cNvPr>
              <p:cNvPicPr preferRelativeResize="0"/>
              <p:nvPr/>
            </p:nvPicPr>
            <p:blipFill rotWithShape="1">
              <a:blip r:embed="rId17" cstate="hqprint">
                <a:alphaModFix/>
                <a:extLst>
                  <a:ext uri="{28A0092B-C50C-407E-A947-70E740481C1C}">
                    <a14:useLocalDpi xmlns:a14="http://schemas.microsoft.com/office/drawing/2010/main"/>
                  </a:ext>
                </a:extLst>
              </a:blip>
              <a:srcRect/>
              <a:stretch/>
            </p:blipFill>
            <p:spPr>
              <a:xfrm>
                <a:off x="4651476" y="5611655"/>
                <a:ext cx="670450" cy="261585"/>
              </a:xfrm>
              <a:prstGeom prst="rect">
                <a:avLst/>
              </a:prstGeom>
              <a:noFill/>
              <a:ln>
                <a:noFill/>
              </a:ln>
            </p:spPr>
          </p:pic>
          <p:pic>
            <p:nvPicPr>
              <p:cNvPr id="71" name="Google Shape;663;p13">
                <a:extLst>
                  <a:ext uri="{FF2B5EF4-FFF2-40B4-BE49-F238E27FC236}">
                    <a16:creationId xmlns:a16="http://schemas.microsoft.com/office/drawing/2014/main" id="{0A2F52FC-651E-EE35-E238-415339095F80}"/>
                  </a:ext>
                </a:extLst>
              </p:cNvPr>
              <p:cNvPicPr preferRelativeResize="0"/>
              <p:nvPr/>
            </p:nvPicPr>
            <p:blipFill rotWithShape="1">
              <a:blip r:embed="rId18" cstate="hqprint">
                <a:alphaModFix/>
                <a:extLst>
                  <a:ext uri="{28A0092B-C50C-407E-A947-70E740481C1C}">
                    <a14:useLocalDpi xmlns:a14="http://schemas.microsoft.com/office/drawing/2010/main"/>
                  </a:ext>
                </a:extLst>
              </a:blip>
              <a:srcRect/>
              <a:stretch/>
            </p:blipFill>
            <p:spPr>
              <a:xfrm>
                <a:off x="3358464" y="5669898"/>
                <a:ext cx="503577" cy="145098"/>
              </a:xfrm>
              <a:prstGeom prst="rect">
                <a:avLst/>
              </a:prstGeom>
              <a:noFill/>
              <a:ln>
                <a:noFill/>
              </a:ln>
            </p:spPr>
          </p:pic>
          <p:pic>
            <p:nvPicPr>
              <p:cNvPr id="6" name="Google Shape;300;p1">
                <a:extLst>
                  <a:ext uri="{FF2B5EF4-FFF2-40B4-BE49-F238E27FC236}">
                    <a16:creationId xmlns:a16="http://schemas.microsoft.com/office/drawing/2014/main" id="{D160ADCE-A0E1-75DE-0509-9A68450A1F07}"/>
                  </a:ext>
                </a:extLst>
              </p:cNvPr>
              <p:cNvPicPr preferRelativeResize="0">
                <a:picLocks noChangeAspect="1"/>
              </p:cNvPicPr>
              <p:nvPr/>
            </p:nvPicPr>
            <p:blipFill rotWithShape="1">
              <a:blip r:embed="rId19">
                <a:alphaModFix/>
              </a:blip>
              <a:srcRect/>
              <a:stretch/>
            </p:blipFill>
            <p:spPr>
              <a:xfrm>
                <a:off x="1760708" y="5174360"/>
                <a:ext cx="704821" cy="244473"/>
              </a:xfrm>
              <a:prstGeom prst="rect">
                <a:avLst/>
              </a:prstGeom>
              <a:noFill/>
              <a:ln>
                <a:noFill/>
              </a:ln>
            </p:spPr>
          </p:pic>
        </p:grpSp>
        <p:sp>
          <p:nvSpPr>
            <p:cNvPr id="10" name="Rounded Rectangle 9">
              <a:extLst>
                <a:ext uri="{FF2B5EF4-FFF2-40B4-BE49-F238E27FC236}">
                  <a16:creationId xmlns:a16="http://schemas.microsoft.com/office/drawing/2014/main" id="{68164DBD-1BFF-EF0D-0E26-C40A92422A22}"/>
                </a:ext>
              </a:extLst>
            </p:cNvPr>
            <p:cNvSpPr/>
            <p:nvPr/>
          </p:nvSpPr>
          <p:spPr>
            <a:xfrm>
              <a:off x="131995" y="4994937"/>
              <a:ext cx="6723967" cy="11831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Picture 72" descr="Team Libra logo"/>
            <p:cNvPicPr>
              <a:picLocks noChangeAspect="1"/>
            </p:cNvPicPr>
            <p:nvPr/>
          </p:nvPicPr>
          <p:blipFill>
            <a:blip r:embed="rId20"/>
            <a:stretch>
              <a:fillRect/>
            </a:stretch>
          </p:blipFill>
          <p:spPr>
            <a:xfrm>
              <a:off x="5463971" y="5645054"/>
              <a:ext cx="500246" cy="194786"/>
            </a:xfrm>
            <a:prstGeom prst="rect">
              <a:avLst/>
            </a:prstGeom>
          </p:spPr>
        </p:pic>
      </p:grpSp>
      <p:pic>
        <p:nvPicPr>
          <p:cNvPr id="3" name="Google Shape;28;p1" descr="A picture containing graphical user interface&#10;&#10;Description automatically generated">
            <a:extLst>
              <a:ext uri="{FF2B5EF4-FFF2-40B4-BE49-F238E27FC236}">
                <a16:creationId xmlns:a16="http://schemas.microsoft.com/office/drawing/2014/main" id="{0E4F6B09-331B-6AAD-F1AB-59333EA90562}"/>
              </a:ext>
            </a:extLst>
          </p:cNvPr>
          <p:cNvPicPr preferRelativeResize="0"/>
          <p:nvPr/>
        </p:nvPicPr>
        <p:blipFill rotWithShape="1">
          <a:blip r:embed="rId21">
            <a:alphaModFix/>
          </a:blip>
          <a:srcRect/>
          <a:stretch/>
        </p:blipFill>
        <p:spPr>
          <a:xfrm>
            <a:off x="7187184" y="256032"/>
            <a:ext cx="4128714" cy="2834640"/>
          </a:xfrm>
          <a:prstGeom prst="rect">
            <a:avLst/>
          </a:prstGeom>
          <a:noFill/>
          <a:ln w="9525" cap="flat" cmpd="sng">
            <a:solidFill>
              <a:srgbClr val="7F7F7F"/>
            </a:solidFill>
            <a:prstDash val="solid"/>
            <a:round/>
            <a:headEnd type="none" w="sm" len="sm"/>
            <a:tailEnd type="none" w="sm" len="sm"/>
          </a:ln>
        </p:spPr>
      </p:pic>
    </p:spTree>
    <p:extLst>
      <p:ext uri="{BB962C8B-B14F-4D97-AF65-F5344CB8AC3E}">
        <p14:creationId xmlns:p14="http://schemas.microsoft.com/office/powerpoint/2010/main" val="3201699841"/>
      </p:ext>
    </p:extLst>
  </p:cSld>
  <p:clrMapOvr>
    <a:masterClrMapping/>
  </p:clrMapOvr>
  <p:transition/>
</p:sld>
</file>

<file path=ppt/theme/theme1.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3abd939-9d94-49d1-925a-c93fb1ff4b6e">
      <Terms xmlns="http://schemas.microsoft.com/office/infopath/2007/PartnerControls"/>
    </lcf76f155ced4ddcb4097134ff3c332f>
    <SubjectTags xmlns="d3abd939-9d94-49d1-925a-c93fb1ff4b6e" xsi:nil="true"/>
    <TaxCatchAll xmlns="bc761791-33a0-47b7-8145-9d3c2515a3a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BF6F177D6D67458FBB47B7752A5A77" ma:contentTypeVersion="14" ma:contentTypeDescription="Create a new document." ma:contentTypeScope="" ma:versionID="511b56ef837cb8094633f79cbf6101bb">
  <xsd:schema xmlns:xsd="http://www.w3.org/2001/XMLSchema" xmlns:xs="http://www.w3.org/2001/XMLSchema" xmlns:p="http://schemas.microsoft.com/office/2006/metadata/properties" xmlns:ns2="d3abd939-9d94-49d1-925a-c93fb1ff4b6e" xmlns:ns3="bc761791-33a0-47b7-8145-9d3c2515a3a0" targetNamespace="http://schemas.microsoft.com/office/2006/metadata/properties" ma:root="true" ma:fieldsID="a0782334ac6122055466205749466095" ns2:_="" ns3:_="">
    <xsd:import namespace="d3abd939-9d94-49d1-925a-c93fb1ff4b6e"/>
    <xsd:import namespace="bc761791-33a0-47b7-8145-9d3c2515a3a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SubjectTag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abd939-9d94-49d1-925a-c93fb1ff4b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SubjectTags" ma:index="14" nillable="true" ma:displayName="Subject Tags" ma:description="Insert any relevant topical areas or subjects" ma:format="Dropdown" ma:internalName="SubjectTags">
      <xsd:simpleType>
        <xsd:union memberTypes="dms:Text">
          <xsd:simpleType>
            <xsd:restriction base="dms:Choice">
              <xsd:enumeration value="ECRP"/>
              <xsd:enumeration value="AI"/>
              <xsd:enumeration value="EPSCOR"/>
              <xsd:enumeration value="SciDAC"/>
              <xsd:enumeration value="Data/Vis"/>
              <xsd:enumeration value="Computer Science"/>
              <xsd:enumeration value="Quantum"/>
              <xsd:enumeration value="Budget Related"/>
            </xsd:restriction>
          </xsd:simpleType>
        </xsd:un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761791-33a0-47b7-8145-9d3c2515a3a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ba3bf2f-9f6a-42de-9806-f02ccdd7535d}" ma:internalName="TaxCatchAll" ma:showField="CatchAllData" ma:web="bc761791-33a0-47b7-8145-9d3c2515a3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A43E79-5F32-4471-8B9A-F8FE298C9716}">
  <ds:schemaRefs>
    <ds:schemaRef ds:uri="http://schemas.microsoft.com/office/2006/metadata/properties"/>
    <ds:schemaRef ds:uri="bc761791-33a0-47b7-8145-9d3c2515a3a0"/>
    <ds:schemaRef ds:uri="http://purl.org/dc/terms/"/>
    <ds:schemaRef ds:uri="http://schemas.microsoft.com/office/2006/documentManagement/types"/>
    <ds:schemaRef ds:uri="http://schemas.openxmlformats.org/package/2006/metadata/core-properties"/>
    <ds:schemaRef ds:uri="d3abd939-9d94-49d1-925a-c93fb1ff4b6e"/>
    <ds:schemaRef ds:uri="http://purl.org/dc/elements/1.1/"/>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9B585CC-6C58-4D0F-87F3-D826C458A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abd939-9d94-49d1-925a-c93fb1ff4b6e"/>
    <ds:schemaRef ds:uri="bc761791-33a0-47b7-8145-9d3c2515a3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8EE7F5-A494-4A3A-8402-D6EC287A4F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4245</TotalTime>
  <Words>977</Words>
  <Application>Microsoft Macintosh PowerPoint</Application>
  <PresentationFormat>Widescreen</PresentationFormat>
  <Paragraphs>55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Arial</vt:lpstr>
      <vt:lpstr>AvenirNext LT Pro Regular</vt:lpstr>
      <vt:lpstr>Calibri</vt:lpstr>
      <vt:lpstr>Calibri Light</vt:lpstr>
      <vt:lpstr>7_office theme</vt:lpstr>
      <vt:lpstr>Spack Grows the Commons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PESO Team Contributes to HPSF Growth and Impact</dc:title>
  <dc:subject>Highlight slide for DOE ASCR</dc:subject>
  <dc:creator>Michael Heroux</dc:creator>
  <cp:keywords/>
  <dc:description/>
  <cp:lastModifiedBy>Michael Heroux</cp:lastModifiedBy>
  <cp:revision>44</cp:revision>
  <dcterms:created xsi:type="dcterms:W3CDTF">2025-01-02T22:07:27Z</dcterms:created>
  <dcterms:modified xsi:type="dcterms:W3CDTF">2026-08-05T19:52:45Z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