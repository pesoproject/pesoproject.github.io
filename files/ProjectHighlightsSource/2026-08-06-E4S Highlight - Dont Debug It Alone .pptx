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4"/>
  </p:sldMasterIdLst>
  <p:notesMasterIdLst>
    <p:notesMasterId r:id="rId6"/>
  </p:notes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81BD"/>
    <a:srgbClr val="0000FF"/>
    <a:srgbClr val="020079"/>
    <a:srgbClr val="EEEE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67" autoAdjust="0"/>
    <p:restoredTop sz="71986" autoAdjust="0"/>
  </p:normalViewPr>
  <p:slideViewPr>
    <p:cSldViewPr snapToGrid="0">
      <p:cViewPr varScale="1">
        <p:scale>
          <a:sx n="85" d="100"/>
          <a:sy n="85" d="100"/>
        </p:scale>
        <p:origin x="1440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-9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34BE1-65F2-4435-8B51-6A5EBDF683AE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4650E-E198-4FA3-A1E8-C9B561D8C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81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LOCAL LAB POC:</a:t>
            </a:r>
          </a:p>
          <a:p>
            <a:r>
              <a:rPr lang="en-US" dirty="0"/>
              <a:t>Sameer Shende, University of Oregon, Argonne National Laboratory</a:t>
            </a:r>
            <a:endParaRPr dirty="0"/>
          </a:p>
          <a:p>
            <a:endParaRPr dirty="0"/>
          </a:p>
          <a:p>
            <a:r>
              <a:rPr dirty="0"/>
              <a:t>TALKING POINTS: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New researchers, and the mentors who supervise them, routinely lose their first days or weeks on a project to software setup rather than science. Configuring compilers, libraries, programming models, and dependencies so they work together on a given system is its own specialized skill, one that has nothing to do with the research question at hand.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E4S, the Ecosystem for Science, exists to remove that barrier. It is a curated, tested, and interoperable collection of more than 100 open-source scientific libraries, tools, and applications, deployed through Spack, prebuilt containers, and facility-ready installations, with broad support for NVIDIA, AMD, and Intel CPU and GPU architectures.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addition to easy access to the E4S collection of libraries, tools, and apps, users can access the E4S website (https://e4s.io) for </a:t>
            </a:r>
            <a:r>
              <a:rPr lang="en-US" dirty="0" err="1"/>
              <a:t>quickstart</a:t>
            </a:r>
            <a:r>
              <a:rPr lang="en-US" dirty="0"/>
              <a:t> recipes, a searchable and sortable product catalog, and an AI </a:t>
            </a:r>
            <a:r>
              <a:rPr lang="en-US" dirty="0" err="1"/>
              <a:t>guidebot</a:t>
            </a:r>
            <a:r>
              <a:rPr lang="en-US"/>
              <a:t> to answer user questions.</a:t>
            </a:r>
            <a:endParaRPr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The practical effect is on onboarding. A new student or postdoc, and the mentor who would otherwise walk them through the stack by hand, can instead start from a working, validated environment. Time that used to go to troubleshooting goes to the research itself.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This also benefits reproducibility and portability: the same curated environment that gets a newcomer running on a laptop is deployed and tested on DOE leadership-class systems, so a project's software environment does not have to be rebuilt as people move between machines or as new team members join.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PESO's investment in E4S is DOE turning software infrastructure into faster, more reliable onboarding for the next generation of computational scientists.</a:t>
            </a:r>
          </a:p>
          <a:p>
            <a:endParaRPr dirty="0"/>
          </a:p>
          <a:p>
            <a:r>
              <a:rPr dirty="0"/>
              <a:t>METADATA:</a:t>
            </a:r>
          </a:p>
          <a:p>
            <a:r>
              <a:rPr dirty="0"/>
              <a:t>Name of the associated awarded project: PESO, Consortium for the Advancement of Scientific Software (CASS)</a:t>
            </a:r>
          </a:p>
          <a:p>
            <a:r>
              <a:rPr dirty="0"/>
              <a:t>PI names: Michael Heroux (</a:t>
            </a:r>
            <a:r>
              <a:rPr dirty="0" err="1"/>
              <a:t>ParaTools</a:t>
            </a:r>
            <a:r>
              <a:rPr dirty="0"/>
              <a:t>, Inc.), Lois Curfman McInnes (Argonne National Laboratory)</a:t>
            </a:r>
          </a:p>
          <a:p>
            <a:r>
              <a:rPr dirty="0"/>
              <a:t>E4S lead: Sameer Shende (University of Oregon /</a:t>
            </a:r>
            <a:r>
              <a:rPr lang="en-US" dirty="0"/>
              <a:t> Argonne National Laboratory</a:t>
            </a:r>
            <a:r>
              <a:rPr dirty="0"/>
              <a:t>.)</a:t>
            </a:r>
          </a:p>
          <a:p>
            <a:r>
              <a:rPr dirty="0"/>
              <a:t>Name of the program manager: David Rabson, ASCR Next-Generation Scientific Software Technologies</a:t>
            </a:r>
          </a:p>
          <a:p>
            <a:endParaRPr dirty="0"/>
          </a:p>
          <a:p>
            <a:r>
              <a:rPr dirty="0"/>
              <a:t>Software references: E4S, https://e4s.io ; Spack, https://</a:t>
            </a:r>
            <a:r>
              <a:rPr dirty="0" err="1"/>
              <a:t>spack.io</a:t>
            </a:r>
            <a:r>
              <a:rPr dirty="0"/>
              <a:t> .</a:t>
            </a:r>
          </a:p>
          <a:p>
            <a:endParaRPr dirty="0"/>
          </a:p>
          <a:p>
            <a:r>
              <a:rPr dirty="0"/>
              <a:t>E4S publishes</a:t>
            </a:r>
            <a:r>
              <a:rPr lang="en-US" dirty="0"/>
              <a:t> </a:t>
            </a:r>
            <a:r>
              <a:rPr dirty="0"/>
              <a:t>curated, versioned releases of the full software stack, so a container tag plus a Spack specification is sufficient to reconstruct the exact software environment used by a project or a new team 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4650E-E198-4FA3-A1E8-C9B561D8C6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232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6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9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535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77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0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90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17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23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60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86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487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265990-C2AC-43F4-A5F5-C94F93DD392D}"/>
              </a:ext>
            </a:extLst>
          </p:cNvPr>
          <p:cNvSpPr/>
          <p:nvPr userDrawn="1"/>
        </p:nvSpPr>
        <p:spPr>
          <a:xfrm>
            <a:off x="0" y="6320118"/>
            <a:ext cx="12192000" cy="537882"/>
          </a:xfrm>
          <a:prstGeom prst="rect">
            <a:avLst/>
          </a:prstGeom>
          <a:solidFill>
            <a:srgbClr val="0B2C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4030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AvenirNext LT Pro Regular" panose="020B0504020202020204" pitchFamily="34" charset="0"/>
              </a:defRPr>
            </a:lvl1pPr>
          </a:lstStyle>
          <a:p>
            <a:fld id="{835B6AD7-18B8-4C9C-AA70-ABD830A869AC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667" y="6373156"/>
            <a:ext cx="2149533" cy="394974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9943949" y="6398798"/>
            <a:ext cx="224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>
                <a:solidFill>
                  <a:schemeClr val="bg1"/>
                </a:solidFill>
                <a:latin typeface="AvenirNext LT Pro Regular" panose="020B0504020202020204" pitchFamily="34" charset="0"/>
              </a:rPr>
              <a:t>Energy.gov/science</a:t>
            </a:r>
          </a:p>
        </p:txBody>
      </p:sp>
    </p:spTree>
    <p:extLst>
      <p:ext uri="{BB962C8B-B14F-4D97-AF65-F5344CB8AC3E}">
        <p14:creationId xmlns:p14="http://schemas.microsoft.com/office/powerpoint/2010/main" val="244195493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0F663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18333" y="6351591"/>
            <a:ext cx="50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2249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098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png"/><Relationship Id="rId18" Type="http://schemas.openxmlformats.org/officeDocument/2006/relationships/image" Target="../media/image13.png"/><Relationship Id="rId3" Type="http://schemas.openxmlformats.org/officeDocument/2006/relationships/hyperlink" Target="https://e4s.io/" TargetMode="External"/><Relationship Id="rId21" Type="http://schemas.openxmlformats.org/officeDocument/2006/relationships/image" Target="../media/image16.png"/><Relationship Id="rId7" Type="http://schemas.openxmlformats.org/officeDocument/2006/relationships/image" Target="../media/image2.png"/><Relationship Id="rId12" Type="http://schemas.openxmlformats.org/officeDocument/2006/relationships/image" Target="../media/image7.png"/><Relationship Id="rId1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pesoproject.org/" TargetMode="External"/><Relationship Id="rId11" Type="http://schemas.openxmlformats.org/officeDocument/2006/relationships/image" Target="../media/image6.png"/><Relationship Id="rId5" Type="http://schemas.openxmlformats.org/officeDocument/2006/relationships/hyperlink" Target="https://pesoproject.org" TargetMode="External"/><Relationship Id="rId15" Type="http://schemas.openxmlformats.org/officeDocument/2006/relationships/image" Target="../media/image10.png"/><Relationship Id="rId10" Type="http://schemas.openxmlformats.org/officeDocument/2006/relationships/image" Target="../media/image5.png"/><Relationship Id="rId19" Type="http://schemas.openxmlformats.org/officeDocument/2006/relationships/image" Target="../media/image14.png"/><Relationship Id="rId4" Type="http://schemas.openxmlformats.org/officeDocument/2006/relationships/hyperlink" Target="https://e4s.io" TargetMode="External"/><Relationship Id="rId9" Type="http://schemas.openxmlformats.org/officeDocument/2006/relationships/image" Target="../media/image4.png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6110527-3D5E-DE8A-91D6-0E66981F1564}"/>
              </a:ext>
            </a:extLst>
          </p:cNvPr>
          <p:cNvSpPr/>
          <p:nvPr/>
        </p:nvSpPr>
        <p:spPr>
          <a:xfrm>
            <a:off x="7057342" y="4720433"/>
            <a:ext cx="4864420" cy="1348384"/>
          </a:xfrm>
          <a:prstGeom prst="rect">
            <a:avLst/>
          </a:prstGeom>
          <a:solidFill>
            <a:srgbClr val="8281BD">
              <a:alpha val="12941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7CB983-3D4F-3FB4-37F0-5EBAA0E93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74" y="23094"/>
            <a:ext cx="9043791" cy="608950"/>
          </a:xfrm>
        </p:spPr>
        <p:txBody>
          <a:bodyPr>
            <a:noAutofit/>
          </a:bodyPr>
          <a:lstStyle/>
          <a:p>
            <a:r>
              <a:rPr lang="en-US" sz="2800" b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E4S: No One Should Debug a Software Stack Alone</a:t>
            </a:r>
          </a:p>
        </p:txBody>
      </p:sp>
      <p:sp>
        <p:nvSpPr>
          <p:cNvPr id="7" name="Google Shape;25;p1">
            <a:extLst>
              <a:ext uri="{FF2B5EF4-FFF2-40B4-BE49-F238E27FC236}">
                <a16:creationId xmlns:a16="http://schemas.microsoft.com/office/drawing/2014/main" id="{35E5E467-2727-969B-98F3-BA95D001A982}"/>
              </a:ext>
            </a:extLst>
          </p:cNvPr>
          <p:cNvSpPr/>
          <p:nvPr/>
        </p:nvSpPr>
        <p:spPr>
          <a:xfrm>
            <a:off x="237744" y="512064"/>
            <a:ext cx="6858000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000" b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Scientific Achievement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400" b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E4S</a:t>
            </a:r>
            <a:r>
              <a:rPr lang="en-US" sz="1400" b="0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, the Ecosystem for Science, gives new researchers a curated, tested environment instead of one built from scratch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400" b="0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Spack-based deployment, prebuilt containers, and facility-ready installs replace days-to-weeks of setup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400" b="0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100+ libraries and tools, tested across NVIDIA, AMD, and Intel CPUs/GPUs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400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E4S also provides a growing set of vendor-specific libraries and tools for advanced AI-for-science workflows</a:t>
            </a:r>
            <a:endParaRPr lang="en-US" sz="1400" b="0" kern="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400" b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Result: a new group member productive on day one, not week three</a:t>
            </a:r>
          </a:p>
        </p:txBody>
      </p:sp>
      <p:sp>
        <p:nvSpPr>
          <p:cNvPr id="8" name="Google Shape;26;p1">
            <a:extLst>
              <a:ext uri="{FF2B5EF4-FFF2-40B4-BE49-F238E27FC236}">
                <a16:creationId xmlns:a16="http://schemas.microsoft.com/office/drawing/2014/main" id="{0607B843-0CBD-294A-51EC-D86D699F90C2}"/>
              </a:ext>
            </a:extLst>
          </p:cNvPr>
          <p:cNvSpPr/>
          <p:nvPr/>
        </p:nvSpPr>
        <p:spPr>
          <a:xfrm>
            <a:off x="222691" y="2589312"/>
            <a:ext cx="6858000" cy="119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000" b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Significance and Impact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400" b="0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Removes the setup burden that otherwise falls on a mentor walking a newcomer through the stack by hand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400" b="0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Frees mentor time for the science, not software troubleshooting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400" b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Turns onboarding from a solo struggle into a known quantity</a:t>
            </a:r>
          </a:p>
        </p:txBody>
      </p:sp>
      <p:sp>
        <p:nvSpPr>
          <p:cNvPr id="9" name="Google Shape;27;p1">
            <a:extLst>
              <a:ext uri="{FF2B5EF4-FFF2-40B4-BE49-F238E27FC236}">
                <a16:creationId xmlns:a16="http://schemas.microsoft.com/office/drawing/2014/main" id="{34B9808A-90A5-22A7-F1DB-47BF387DC938}"/>
              </a:ext>
            </a:extLst>
          </p:cNvPr>
          <p:cNvSpPr txBox="1"/>
          <p:nvPr/>
        </p:nvSpPr>
        <p:spPr>
          <a:xfrm>
            <a:off x="7267805" y="3311234"/>
            <a:ext cx="4864420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400" b="0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A research software environment should be a starting point provided by E4S, not the first project a newcomer has to solve alone. In addition to easy access to the E4S collection of libraries, tools, and apps, users can </a:t>
            </a:r>
            <a:r>
              <a:rPr lang="en-US" sz="1400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access </a:t>
            </a:r>
            <a:r>
              <a:rPr lang="en-US" sz="1400" b="0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the E4S website (</a:t>
            </a:r>
            <a:r>
              <a:rPr lang="en-US" sz="1400" b="0" i="1" kern="0" dirty="0">
                <a:solidFill>
                  <a:srgbClr val="000000"/>
                </a:solidFill>
                <a:ea typeface="Arial"/>
                <a:cs typeface="Arial"/>
                <a:sym typeface="Arial"/>
                <a:hlinkClick r:id="rId3"/>
              </a:rPr>
              <a:t>https://e4s.io</a:t>
            </a:r>
            <a:r>
              <a:rPr lang="en-US" sz="1400" b="0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) for </a:t>
            </a:r>
            <a:r>
              <a:rPr lang="en-US" sz="1400" b="0" i="1" kern="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quickstart</a:t>
            </a:r>
            <a:r>
              <a:rPr lang="en-US" sz="1400" b="0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recipes, a searchable and sortable product catalog, and an AI </a:t>
            </a:r>
            <a:r>
              <a:rPr lang="en-US" sz="1400" b="0" i="1" kern="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guidebot</a:t>
            </a:r>
            <a:r>
              <a:rPr lang="en-US" sz="1400" b="0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to answer user questions.</a:t>
            </a:r>
          </a:p>
        </p:txBody>
      </p:sp>
      <p:sp>
        <p:nvSpPr>
          <p:cNvPr id="11" name="Google Shape;29;p1">
            <a:extLst>
              <a:ext uri="{FF2B5EF4-FFF2-40B4-BE49-F238E27FC236}">
                <a16:creationId xmlns:a16="http://schemas.microsoft.com/office/drawing/2014/main" id="{F719EDE8-762E-1830-067F-4414F9F31C7C}"/>
              </a:ext>
            </a:extLst>
          </p:cNvPr>
          <p:cNvSpPr/>
          <p:nvPr/>
        </p:nvSpPr>
        <p:spPr>
          <a:xfrm>
            <a:off x="152774" y="3865571"/>
            <a:ext cx="7197377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000" b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Technical Approach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400" b="0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Spack captures versions, variants, compilers, dependencies for reproducible configuration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400" b="0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Prebuilt containers and facility installs give newcomers a tested baseline, not a blank system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400" b="0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CI on DOE leadership-class platforms </a:t>
            </a:r>
            <a:r>
              <a:rPr lang="en-US" sz="1400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on </a:t>
            </a:r>
            <a:r>
              <a:rPr lang="en-US" sz="1400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Frank@UO</a:t>
            </a:r>
            <a:r>
              <a:rPr lang="en-US" sz="1400" b="0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1400" b="0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catches portability issues early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742054-4F8C-D401-63CE-FEFFCD6C2810}"/>
              </a:ext>
            </a:extLst>
          </p:cNvPr>
          <p:cNvSpPr txBox="1"/>
          <p:nvPr/>
        </p:nvSpPr>
        <p:spPr>
          <a:xfrm>
            <a:off x="7154263" y="4897493"/>
            <a:ext cx="488496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100" b="0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PIs: Michael Heroux, (ParaTools, Inc.), Lois Curfman McInnes (Argonne)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100" b="0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E4S lead: Sameer Shende (U of Oregon/ParaTools)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100" b="0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ASCR Program: Next-Generation Scientific Software Technologies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100" b="0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ASCR PM: David Rabson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100" b="0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E4S website: </a:t>
            </a:r>
            <a:r>
              <a:rPr lang="en-US" sz="1100" b="0" kern="0" dirty="0">
                <a:solidFill>
                  <a:srgbClr val="000000"/>
                </a:solidFill>
                <a:hlinkClick r:id="rId4"/>
              </a:rPr>
              <a:t>https://e4s.io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100" b="0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PESO website: </a:t>
            </a:r>
            <a:r>
              <a:rPr lang="en-US" sz="1100" b="0" kern="0" dirty="0">
                <a:solidFill>
                  <a:srgbClr val="000000"/>
                </a:solidFill>
                <a:hlinkClick r:id="rId5"/>
              </a:rPr>
              <a:t>https://pesoproject.org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924034C-6666-2D6C-3754-A1C2013A1AB4}"/>
              </a:ext>
            </a:extLst>
          </p:cNvPr>
          <p:cNvGrpSpPr/>
          <p:nvPr/>
        </p:nvGrpSpPr>
        <p:grpSpPr>
          <a:xfrm>
            <a:off x="46133" y="4994937"/>
            <a:ext cx="6809829" cy="1219473"/>
            <a:chOff x="46133" y="4994937"/>
            <a:chExt cx="6809829" cy="1219473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DF756B8-22F7-0A6B-262E-22DCD05C26DA}"/>
                </a:ext>
              </a:extLst>
            </p:cNvPr>
            <p:cNvSpPr txBox="1"/>
            <p:nvPr/>
          </p:nvSpPr>
          <p:spPr>
            <a:xfrm>
              <a:off x="204870" y="5914328"/>
              <a:ext cx="6567952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i="1" dirty="0"/>
                <a:t>Stewarding and advancing the current and future ecosystem of HPC-AI computing software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4BAA8EE-49E8-A7BD-F7B7-EE6957FE1C02}"/>
                </a:ext>
              </a:extLst>
            </p:cNvPr>
            <p:cNvGrpSpPr/>
            <p:nvPr/>
          </p:nvGrpSpPr>
          <p:grpSpPr>
            <a:xfrm>
              <a:off x="46133" y="5085479"/>
              <a:ext cx="1688848" cy="932420"/>
              <a:chOff x="46133" y="5085479"/>
              <a:chExt cx="1688848" cy="932420"/>
            </a:xfrm>
          </p:grpSpPr>
          <p:sp>
            <p:nvSpPr>
              <p:cNvPr id="72" name="Google Shape;791;p15">
                <a:extLst>
                  <a:ext uri="{FF2B5EF4-FFF2-40B4-BE49-F238E27FC236}">
                    <a16:creationId xmlns:a16="http://schemas.microsoft.com/office/drawing/2014/main" id="{1F9FE1DA-404D-04E7-D349-D448AF731D57}"/>
                  </a:ext>
                </a:extLst>
              </p:cNvPr>
              <p:cNvSpPr txBox="1"/>
              <p:nvPr/>
            </p:nvSpPr>
            <p:spPr>
              <a:xfrm>
                <a:off x="46133" y="5773426"/>
                <a:ext cx="1688848" cy="2444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>
                <a:defPPr>
                  <a:defRPr lang="en-US"/>
                </a:defPPr>
                <a:lvl1pPr algn="r">
                  <a:lnSpc>
                    <a:spcPct val="90000"/>
                  </a:lnSpc>
                  <a:defRPr sz="600" b="1" spc="-20">
                    <a:solidFill>
                      <a:schemeClr val="bg1">
                        <a:lumMod val="50000"/>
                      </a:schemeClr>
                    </a:solidFill>
                    <a:latin typeface="Arial"/>
                    <a:ea typeface="Arial"/>
                    <a:cs typeface="Arial"/>
                  </a:defRPr>
                </a:lvl1pPr>
              </a:lstStyle>
              <a:p>
                <a:pPr algn="ctr" defTabSz="609585">
                  <a:buClrTx/>
                </a:pPr>
                <a:r>
                  <a:rPr lang="en-US" sz="1100" b="0" kern="1200" spc="-27" dirty="0">
                    <a:solidFill>
                      <a:srgbClr val="FFFFFF">
                        <a:lumMod val="50000"/>
                      </a:srgbClr>
                    </a:solidFill>
                    <a:hlinkClick r:id="rId6"/>
                  </a:rPr>
                  <a:t>https://pesoproject.org</a:t>
                </a:r>
                <a:r>
                  <a:rPr lang="en-US" sz="1100" b="0" kern="1200" spc="-27" dirty="0">
                    <a:solidFill>
                      <a:srgbClr val="FFFFFF">
                        <a:lumMod val="50000"/>
                      </a:srgbClr>
                    </a:solidFill>
                  </a:rPr>
                  <a:t> </a:t>
                </a:r>
                <a:endParaRPr sz="1100" b="0" kern="1200" spc="-27" dirty="0">
                  <a:solidFill>
                    <a:srgbClr val="FFFFFF">
                      <a:lumMod val="50000"/>
                    </a:srgbClr>
                  </a:solidFill>
                </a:endParaRPr>
              </a:p>
            </p:txBody>
          </p:sp>
          <p:pic>
            <p:nvPicPr>
              <p:cNvPr id="45" name="Google Shape;916;p18" descr="A picture containing graphics, logo, font, symbol&#10;&#10;Description automatically generated">
                <a:extLst>
                  <a:ext uri="{FF2B5EF4-FFF2-40B4-BE49-F238E27FC236}">
                    <a16:creationId xmlns:a16="http://schemas.microsoft.com/office/drawing/2014/main" id="{1219AE27-ACBF-8385-BC88-643F8607C46F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 rotWithShape="1">
              <a:blip r:embed="rId7">
                <a:alphaModFix/>
              </a:blip>
              <a:srcRect r="-585"/>
              <a:stretch/>
            </p:blipFill>
            <p:spPr>
              <a:xfrm>
                <a:off x="333357" y="5085479"/>
                <a:ext cx="968422" cy="6282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F8EDA8-3983-DE89-74FF-8AB76A3FC654}"/>
                </a:ext>
              </a:extLst>
            </p:cNvPr>
            <p:cNvGrpSpPr/>
            <p:nvPr/>
          </p:nvGrpSpPr>
          <p:grpSpPr>
            <a:xfrm>
              <a:off x="1707697" y="5141051"/>
              <a:ext cx="4936025" cy="737147"/>
              <a:chOff x="1707697" y="5141051"/>
              <a:chExt cx="4936025" cy="737147"/>
            </a:xfrm>
          </p:grpSpPr>
          <p:pic>
            <p:nvPicPr>
              <p:cNvPr id="49" name="Google Shape;651;p13" descr="Lawrence Livermore National Laboratory">
                <a:extLst>
                  <a:ext uri="{FF2B5EF4-FFF2-40B4-BE49-F238E27FC236}">
                    <a16:creationId xmlns:a16="http://schemas.microsoft.com/office/drawing/2014/main" id="{7AA3743E-E747-8934-7CD3-6A52AE426687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 rotWithShape="1">
              <a:blip r:embed="rId8" cstate="hqprint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4803462" y="5207688"/>
                <a:ext cx="898608" cy="17781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2" name="Google Shape;655;p13" descr="Los Alamos National Laboratory">
                <a:extLst>
                  <a:ext uri="{FF2B5EF4-FFF2-40B4-BE49-F238E27FC236}">
                    <a16:creationId xmlns:a16="http://schemas.microsoft.com/office/drawing/2014/main" id="{AC4811EE-4B1A-0DF8-6AA7-B2DB9B26842C}"/>
                  </a:ext>
                </a:extLst>
              </p:cNvPr>
              <p:cNvPicPr preferRelativeResize="0"/>
              <p:nvPr/>
            </p:nvPicPr>
            <p:blipFill rotWithShape="1">
              <a:blip r:embed="rId9" cstate="hqprint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893408" y="5218465"/>
                <a:ext cx="775760" cy="15626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3" name="Google Shape;656;p13" descr="Kitware">
                <a:extLst>
                  <a:ext uri="{FF2B5EF4-FFF2-40B4-BE49-F238E27FC236}">
                    <a16:creationId xmlns:a16="http://schemas.microsoft.com/office/drawing/2014/main" id="{C9A3FA12-E29B-E088-701D-0E3545150844}"/>
                  </a:ext>
                </a:extLst>
              </p:cNvPr>
              <p:cNvPicPr preferRelativeResize="0"/>
              <p:nvPr/>
            </p:nvPicPr>
            <p:blipFill rotWithShape="1">
              <a:blip r:embed="rId10" cstate="hqprint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4145906" y="5245312"/>
                <a:ext cx="466217" cy="10256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7" name="Google Shape;661;p13" descr="BerkeleyLabLogo">
                <a:extLst>
                  <a:ext uri="{FF2B5EF4-FFF2-40B4-BE49-F238E27FC236}">
                    <a16:creationId xmlns:a16="http://schemas.microsoft.com/office/drawing/2014/main" id="{00DC9E7D-B2C4-06AC-00B2-28CE94221741}"/>
                  </a:ext>
                </a:extLst>
              </p:cNvPr>
              <p:cNvPicPr preferRelativeResize="0"/>
              <p:nvPr/>
            </p:nvPicPr>
            <p:blipFill rotWithShape="1">
              <a:blip r:embed="rId11" cstate="hqprint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656868" y="5141051"/>
                <a:ext cx="411132" cy="31109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8" name="Google Shape;662;p13">
                <a:extLst>
                  <a:ext uri="{FF2B5EF4-FFF2-40B4-BE49-F238E27FC236}">
                    <a16:creationId xmlns:a16="http://schemas.microsoft.com/office/drawing/2014/main" id="{AC5E7A36-A55F-9934-7231-11DA9B2E018D}"/>
                  </a:ext>
                </a:extLst>
              </p:cNvPr>
              <p:cNvPicPr preferRelativeResize="0"/>
              <p:nvPr/>
            </p:nvPicPr>
            <p:blipFill rotWithShape="1">
              <a:blip r:embed="rId12" cstate="hqprint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259339" y="5209511"/>
                <a:ext cx="695228" cy="17417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2" name="Google Shape;652;p13" descr="Sandia National Laboratories">
                <a:extLst>
                  <a:ext uri="{FF2B5EF4-FFF2-40B4-BE49-F238E27FC236}">
                    <a16:creationId xmlns:a16="http://schemas.microsoft.com/office/drawing/2014/main" id="{A4B4F4DE-27A9-6B69-85EE-3707C6B07299}"/>
                  </a:ext>
                </a:extLst>
              </p:cNvPr>
              <p:cNvPicPr preferRelativeResize="0"/>
              <p:nvPr/>
            </p:nvPicPr>
            <p:blipFill rotWithShape="1">
              <a:blip r:embed="rId13" cstate="hqprint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4004086" y="5641758"/>
                <a:ext cx="505345" cy="2013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3" name="Google Shape;654;p13" descr="Oak Ridge National Laboratory">
                <a:extLst>
                  <a:ext uri="{FF2B5EF4-FFF2-40B4-BE49-F238E27FC236}">
                    <a16:creationId xmlns:a16="http://schemas.microsoft.com/office/drawing/2014/main" id="{DB16AF1C-F486-8BBB-B871-E9609EBFA3FF}"/>
                  </a:ext>
                </a:extLst>
              </p:cNvPr>
              <p:cNvPicPr preferRelativeResize="0"/>
              <p:nvPr/>
            </p:nvPicPr>
            <p:blipFill rotWithShape="1">
              <a:blip r:embed="rId14" cstate="hqprint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844701" y="5648846"/>
                <a:ext cx="704821" cy="18720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6" name="Google Shape;657;p13" descr="University of Oregon">
                <a:extLst>
                  <a:ext uri="{FF2B5EF4-FFF2-40B4-BE49-F238E27FC236}">
                    <a16:creationId xmlns:a16="http://schemas.microsoft.com/office/drawing/2014/main" id="{1E6835CC-DAD6-F8AE-1C22-EE03E8AE5D89}"/>
                  </a:ext>
                </a:extLst>
              </p:cNvPr>
              <p:cNvPicPr preferRelativeResize="0"/>
              <p:nvPr/>
            </p:nvPicPr>
            <p:blipFill rotWithShape="1">
              <a:blip r:embed="rId15" cstate="hqprint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6106260" y="5683837"/>
                <a:ext cx="537462" cy="1172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7" name="Google Shape;659;p13">
                <a:extLst>
                  <a:ext uri="{FF2B5EF4-FFF2-40B4-BE49-F238E27FC236}">
                    <a16:creationId xmlns:a16="http://schemas.microsoft.com/office/drawing/2014/main" id="{C3D16736-5223-712F-7DFE-884B4733732B}"/>
                  </a:ext>
                </a:extLst>
              </p:cNvPr>
              <p:cNvPicPr preferRelativeResize="0"/>
              <p:nvPr/>
            </p:nvPicPr>
            <p:blipFill rotWithShape="1">
              <a:blip r:embed="rId16" cstate="hqprint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691567" y="5655362"/>
                <a:ext cx="524852" cy="17417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8" name="Google Shape;660;p13">
                <a:extLst>
                  <a:ext uri="{FF2B5EF4-FFF2-40B4-BE49-F238E27FC236}">
                    <a16:creationId xmlns:a16="http://schemas.microsoft.com/office/drawing/2014/main" id="{FA4B11A7-0A95-B52C-1137-288B861A0B3B}"/>
                  </a:ext>
                </a:extLst>
              </p:cNvPr>
              <p:cNvPicPr preferRelativeResize="0"/>
              <p:nvPr/>
            </p:nvPicPr>
            <p:blipFill rotWithShape="1">
              <a:blip r:embed="rId17" cstate="hqprint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4651476" y="5611655"/>
                <a:ext cx="670450" cy="2615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" name="Google Shape;663;p13">
                <a:extLst>
                  <a:ext uri="{FF2B5EF4-FFF2-40B4-BE49-F238E27FC236}">
                    <a16:creationId xmlns:a16="http://schemas.microsoft.com/office/drawing/2014/main" id="{0A2F52FC-651E-EE35-E238-415339095F80}"/>
                  </a:ext>
                </a:extLst>
              </p:cNvPr>
              <p:cNvPicPr preferRelativeResize="0"/>
              <p:nvPr/>
            </p:nvPicPr>
            <p:blipFill rotWithShape="1">
              <a:blip r:embed="rId18" cstate="hqprint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358464" y="5669898"/>
                <a:ext cx="503577" cy="1450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300;p1">
                <a:extLst>
                  <a:ext uri="{FF2B5EF4-FFF2-40B4-BE49-F238E27FC236}">
                    <a16:creationId xmlns:a16="http://schemas.microsoft.com/office/drawing/2014/main" id="{D160ADCE-A0E1-75DE-0509-9A68450A1F07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 rotWithShape="1">
              <a:blip r:embed="rId19">
                <a:alphaModFix/>
              </a:blip>
              <a:srcRect/>
              <a:stretch/>
            </p:blipFill>
            <p:spPr>
              <a:xfrm>
                <a:off x="1760708" y="5174360"/>
                <a:ext cx="704821" cy="24447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68164DBD-1BFF-EF0D-0E26-C40A92422A22}"/>
                </a:ext>
              </a:extLst>
            </p:cNvPr>
            <p:cNvSpPr/>
            <p:nvPr/>
          </p:nvSpPr>
          <p:spPr>
            <a:xfrm>
              <a:off x="131995" y="4994937"/>
              <a:ext cx="6723967" cy="118318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Picture 72" descr="Team Libra logo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5463971" y="5645054"/>
              <a:ext cx="500246" cy="194786"/>
            </a:xfrm>
            <a:prstGeom prst="rect">
              <a:avLst/>
            </a:prstGeom>
          </p:spPr>
        </p:pic>
      </p:grpSp>
      <p:pic>
        <p:nvPicPr>
          <p:cNvPr id="3" name="Google Shape;28;p1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0E4F6B09-331B-6AAD-F1AB-59333EA90562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7211617" y="527114"/>
            <a:ext cx="4882896" cy="2716859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20169984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7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BF6F177D6D67458FBB47B7752A5A77" ma:contentTypeVersion="14" ma:contentTypeDescription="Create a new document." ma:contentTypeScope="" ma:versionID="511b56ef837cb8094633f79cbf6101bb">
  <xsd:schema xmlns:xsd="http://www.w3.org/2001/XMLSchema" xmlns:xs="http://www.w3.org/2001/XMLSchema" xmlns:p="http://schemas.microsoft.com/office/2006/metadata/properties" xmlns:ns2="d3abd939-9d94-49d1-925a-c93fb1ff4b6e" xmlns:ns3="bc761791-33a0-47b7-8145-9d3c2515a3a0" targetNamespace="http://schemas.microsoft.com/office/2006/metadata/properties" ma:root="true" ma:fieldsID="a0782334ac6122055466205749466095" ns2:_="" ns3:_="">
    <xsd:import namespace="d3abd939-9d94-49d1-925a-c93fb1ff4b6e"/>
    <xsd:import namespace="bc761791-33a0-47b7-8145-9d3c2515a3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SubjectTag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abd939-9d94-49d1-925a-c93fb1ff4b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ubjectTags" ma:index="14" nillable="true" ma:displayName="Subject Tags" ma:description="Insert any relevant topical areas or subjects" ma:format="Dropdown" ma:internalName="SubjectTags">
      <xsd:simpleType>
        <xsd:union memberTypes="dms:Text">
          <xsd:simpleType>
            <xsd:restriction base="dms:Choice">
              <xsd:enumeration value="ECRP"/>
              <xsd:enumeration value="AI"/>
              <xsd:enumeration value="EPSCOR"/>
              <xsd:enumeration value="SciDAC"/>
              <xsd:enumeration value="Data/Vis"/>
              <xsd:enumeration value="Computer Science"/>
              <xsd:enumeration value="Quantum"/>
              <xsd:enumeration value="Budget Related"/>
            </xsd:restriction>
          </xsd:simpleType>
        </xsd:union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dabcefd-7191-4d78-9d18-d223e822eda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761791-33a0-47b7-8145-9d3c2515a3a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0ba3bf2f-9f6a-42de-9806-f02ccdd7535d}" ma:internalName="TaxCatchAll" ma:showField="CatchAllData" ma:web="bc761791-33a0-47b7-8145-9d3c2515a3a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3abd939-9d94-49d1-925a-c93fb1ff4b6e">
      <Terms xmlns="http://schemas.microsoft.com/office/infopath/2007/PartnerControls"/>
    </lcf76f155ced4ddcb4097134ff3c332f>
    <SubjectTags xmlns="d3abd939-9d94-49d1-925a-c93fb1ff4b6e" xsi:nil="true"/>
    <TaxCatchAll xmlns="bc761791-33a0-47b7-8145-9d3c2515a3a0" xsi:nil="true"/>
  </documentManagement>
</p:properties>
</file>

<file path=customXml/itemProps1.xml><?xml version="1.0" encoding="utf-8"?>
<ds:datastoreItem xmlns:ds="http://schemas.openxmlformats.org/officeDocument/2006/customXml" ds:itemID="{A9B585CC-6C58-4D0F-87F3-D826C458A2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abd939-9d94-49d1-925a-c93fb1ff4b6e"/>
    <ds:schemaRef ds:uri="bc761791-33a0-47b7-8145-9d3c2515a3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8EE7F5-A494-4A3A-8402-D6EC287A4F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A43E79-5F32-4471-8B9A-F8FE298C9716}">
  <ds:schemaRefs>
    <ds:schemaRef ds:uri="http://schemas.microsoft.com/office/2006/metadata/properties"/>
    <ds:schemaRef ds:uri="bc761791-33a0-47b7-8145-9d3c2515a3a0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d3abd939-9d94-49d1-925a-c93fb1ff4b6e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4280</TotalTime>
  <Words>764</Words>
  <Application>Microsoft Macintosh PowerPoint</Application>
  <PresentationFormat>Widescreen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AvenirNext LT Pro Regular</vt:lpstr>
      <vt:lpstr>Calibri</vt:lpstr>
      <vt:lpstr>Calibri Light</vt:lpstr>
      <vt:lpstr>7_office theme</vt:lpstr>
      <vt:lpstr>E4S: No One Should Debug a Software Stack Alone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PESO Team Contributes to HPSF Growth and Impact</dc:title>
  <dc:subject>Highlight slide for DOE ASCR</dc:subject>
  <dc:creator>Michael Heroux</dc:creator>
  <cp:keywords/>
  <dc:description/>
  <cp:lastModifiedBy>Michael Heroux</cp:lastModifiedBy>
  <cp:revision>47</cp:revision>
  <dcterms:created xsi:type="dcterms:W3CDTF">2025-01-02T22:07:27Z</dcterms:created>
  <dcterms:modified xsi:type="dcterms:W3CDTF">2026-08-06T16:58:07Z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0x010100D0BF6F177D6D67458FBB47B7752A5A77</vt:lpwstr>
  </property>
  <property fmtid="{D5CDD505-2E9C-101B-9397-08002B2CF9AE}" pid="3" name="MediaServiceImageTags">
    <vt:lpwstr/>
  </property>
</Properties>
</file>