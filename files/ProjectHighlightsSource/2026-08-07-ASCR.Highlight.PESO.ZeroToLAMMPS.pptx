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4"/>
  </p:sldMasterIdLst>
  <p:notesMasterIdLst>
    <p:notesMasterId r:id="rId6"/>
  </p:notesMasterIdLst>
  <p:sldIdLst>
    <p:sldId id="257"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281BD"/>
    <a:srgbClr val="0000FF"/>
    <a:srgbClr val="020079"/>
    <a:srgbClr val="EEEEF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002" autoAdjust="0"/>
    <p:restoredTop sz="80137" autoAdjust="0"/>
  </p:normalViewPr>
  <p:slideViewPr>
    <p:cSldViewPr snapToGrid="0">
      <p:cViewPr varScale="1">
        <p:scale>
          <a:sx n="96" d="100"/>
          <a:sy n="96" d="100"/>
        </p:scale>
        <p:origin x="544" y="168"/>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8134BE1-65F2-4435-8B51-6A5EBDF683AE}" type="datetimeFigureOut">
              <a:rPr lang="en-US" smtClean="0"/>
              <a:t>8/4/26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04650E-E198-4FA3-A1E8-C9B561D8C60E}" type="slidenum">
              <a:rPr lang="en-US" smtClean="0"/>
              <a:t>‹#›</a:t>
            </a:fld>
            <a:endParaRPr lang="en-US"/>
          </a:p>
        </p:txBody>
      </p:sp>
    </p:spTree>
    <p:extLst>
      <p:ext uri="{BB962C8B-B14F-4D97-AF65-F5344CB8AC3E}">
        <p14:creationId xmlns:p14="http://schemas.microsoft.com/office/powerpoint/2010/main" val="3365810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LOCAL LAB POC: </a:t>
            </a:r>
            <a:r>
              <a:rPr lang="en-US" dirty="0"/>
              <a:t>Michael Heroux, </a:t>
            </a:r>
            <a:r>
              <a:rPr lang="en-US" dirty="0" err="1"/>
              <a:t>ParaTools</a:t>
            </a:r>
            <a:r>
              <a:rPr lang="en-US" dirty="0"/>
              <a:t>, Inc. (</a:t>
            </a:r>
            <a:r>
              <a:rPr lang="en-US" dirty="0" err="1"/>
              <a:t>mheroux@paratools.com</a:t>
            </a:r>
            <a:r>
              <a:rPr lang="en-US" dirty="0"/>
              <a:t>) </a:t>
            </a:r>
            <a:endParaRPr dirty="0"/>
          </a:p>
          <a:p>
            <a:endParaRPr dirty="0"/>
          </a:p>
          <a:p>
            <a:r>
              <a:rPr dirty="0"/>
              <a:t>TALKING POINTS:</a:t>
            </a:r>
          </a:p>
          <a:p>
            <a:r>
              <a:rPr dirty="0"/>
              <a:t>Scientific software is usually hard to install. A researcher who wants to try a new simulation code often spends hours, sometimes days, resolving compilers, libraries, and dependencies before running anything at all. That setup cost is a real barrier to entry, and it falls hardest on newcomers and on scientists whose expertise is in the science rather than the software.</a:t>
            </a:r>
          </a:p>
          <a:p>
            <a:endParaRPr dirty="0"/>
          </a:p>
          <a:p>
            <a:r>
              <a:rPr dirty="0"/>
              <a:t>E4S</a:t>
            </a:r>
            <a:r>
              <a:rPr lang="en-US" dirty="0"/>
              <a:t> (Ecosystem for Science)</a:t>
            </a:r>
            <a:r>
              <a:rPr dirty="0"/>
              <a:t> removes that barrier. The PESO project delivers it through what we call the E4S Cache-backed Image: a deliberately small container holding just Spack and MPICH, backed by a Spack build cache that reaches the entire curated E4S collection. The image stays small precisely because it does not carry the software — it carries the means to fetch any of it, already built and already tested, on demand.</a:t>
            </a:r>
          </a:p>
          <a:p>
            <a:endParaRPr dirty="0"/>
          </a:p>
          <a:p>
            <a:r>
              <a:rPr dirty="0"/>
              <a:t>Here is what that looks like in practice on an ordinary laptop. Pulling the E4S Cache-backed Image took 42 seconds. Installing LAMMPS, a widely used molecular dynamics code, took another 75 seconds. Two minutes after starting, we were running a real parallel simulation of 32,000 atoms across four MPI ranks and four OpenMP threads per rank.</a:t>
            </a:r>
          </a:p>
          <a:p>
            <a:endParaRPr dirty="0"/>
          </a:p>
          <a:p>
            <a:r>
              <a:rPr dirty="0"/>
              <a:t>This matters well beyond convenience. Running a simulation code is the first step in a great many AI-for-science workflows, such as generating the training data behind a surrogate model. Making that first step take two minutes instead of two days changes what researchers are willing to attempt.</a:t>
            </a:r>
          </a:p>
          <a:p>
            <a:endParaRPr dirty="0"/>
          </a:p>
          <a:p>
            <a:r>
              <a:rPr dirty="0"/>
              <a:t>The same Cache-backed Image runs unchanged on a laptop, in the cloud, and on leadership-class systems, and published E4S releases let others reproduce a computational result exactly. This is DOE software investment being turned into something any scientist can pick up and use immediately.</a:t>
            </a:r>
          </a:p>
          <a:p>
            <a:endParaRPr dirty="0"/>
          </a:p>
          <a:p>
            <a:r>
              <a:rPr dirty="0"/>
              <a:t>METADATA:</a:t>
            </a:r>
          </a:p>
          <a:p>
            <a:r>
              <a:rPr dirty="0"/>
              <a:t>Name of the associated awarded project: PESO (Partnering for Scientific-software Ecosystem Stewardship Opportunities), Consortium for the Advancement of Scientific Software (CASS)</a:t>
            </a:r>
          </a:p>
          <a:p>
            <a:r>
              <a:rPr dirty="0"/>
              <a:t>PI names: Michael Heroux (</a:t>
            </a:r>
            <a:r>
              <a:rPr dirty="0" err="1"/>
              <a:t>ParaTools</a:t>
            </a:r>
            <a:r>
              <a:rPr dirty="0"/>
              <a:t>, Inc.), Lois Curfman McInnes (Argonne National Laboratory)</a:t>
            </a:r>
          </a:p>
          <a:p>
            <a:r>
              <a:rPr dirty="0"/>
              <a:t>E4S lead: Sameer Shende (University of Oregon / </a:t>
            </a:r>
            <a:r>
              <a:rPr dirty="0" err="1"/>
              <a:t>ParaTools</a:t>
            </a:r>
            <a:r>
              <a:rPr dirty="0"/>
              <a:t>, Inc.)</a:t>
            </a:r>
          </a:p>
          <a:p>
            <a:r>
              <a:rPr dirty="0"/>
              <a:t>Name of the program manager: David Rabson, ASCR Next-Generation Scientific Software Technologies</a:t>
            </a:r>
          </a:p>
          <a:p>
            <a:endParaRPr dirty="0"/>
          </a:p>
          <a:p>
            <a:r>
              <a:rPr dirty="0"/>
              <a:t>Software / product references: E4S, https://e4s.io ; Spack, https://</a:t>
            </a:r>
            <a:r>
              <a:rPr dirty="0" err="1"/>
              <a:t>spack.io</a:t>
            </a:r>
            <a:r>
              <a:rPr dirty="0"/>
              <a:t> ; LAMMPS, https://</a:t>
            </a:r>
            <a:r>
              <a:rPr dirty="0" err="1"/>
              <a:t>www.lammps.org</a:t>
            </a:r>
            <a:r>
              <a:rPr dirty="0"/>
              <a:t> ; E4S Cache-backed Image, ecpe4s/e4s-spack-cpu.</a:t>
            </a:r>
          </a:p>
          <a:p>
            <a:endParaRPr dirty="0"/>
          </a:p>
          <a:p>
            <a:r>
              <a:rPr dirty="0"/>
              <a:t>REPRODUCIBILITY: E4S publishes curated, versioned releases of the full software stack, so a container tag plus a Spack specification is sufficient to reconstruct the exact software environment used for a published run. Add any formal reproducibility badges here if the associated publications carry them.</a:t>
            </a:r>
          </a:p>
          <a:p>
            <a:endParaRPr dirty="0"/>
          </a:p>
          <a:p>
            <a:r>
              <a:rPr dirty="0"/>
              <a:t>BACKGROUND AND CONTEXT INFORMATION:</a:t>
            </a:r>
          </a:p>
          <a:p>
            <a:r>
              <a:rPr dirty="0"/>
              <a:t>Terminology: the E4S Cache-backed Image is the minimal ecpe4s/e4s-spack-cpu container — Spack and MPICH only — paired with the E4S Spack build cache that backs it. Use the full name on first mention in any talk; "Cache-backed Image" is fine thereafter.</a:t>
            </a:r>
          </a:p>
          <a:p>
            <a:endParaRPr dirty="0"/>
          </a:p>
          <a:p>
            <a:r>
              <a:rPr dirty="0"/>
              <a:t>Timings shown on the slide were measured on a MacBook (aarch64) using the E4S Cache-backed Image, ecpe4s/e4s-spack-cpu:latest, and LAMMPS 22 Jul 2025. The benchmark is the standard LAMMPS Lennard-Jones melt input, </a:t>
            </a:r>
            <a:r>
              <a:rPr dirty="0" err="1"/>
              <a:t>in.lj</a:t>
            </a:r>
            <a:r>
              <a:rPr dirty="0"/>
              <a:t>, with 32,000 atoms for 100 timesteps: loop time 0.182 s on 16 processors, 548.3 timesteps/s, 17.545 Matom-step/s, with 100.6% CPU use across 4 MPI tasks by 4 OpenMP threads. Numbers will vary with hardware and network speed; the point is the order of magnitude, not the exact seconds.</a:t>
            </a:r>
          </a:p>
          <a:p>
            <a:endParaRPr dirty="0"/>
          </a:p>
          <a:p>
            <a:r>
              <a:rPr dirty="0"/>
              <a:t>The speed comes from the cache half of the Cache-backed Image. Rather than compiling LAMMPS and its dependencies from source, Spack retrieves prebuilt binaries that E4S has already built and tested against the image's compiler and MPI, so an install that would normally take hours completes in about a minute.</a:t>
            </a:r>
          </a:p>
          <a:p>
            <a:endParaRPr dirty="0"/>
          </a:p>
          <a:p>
            <a:r>
              <a:rPr dirty="0"/>
              <a:t>The E4S Quick Start guide at e4s.io presents this as four steps: download the Cache-backed Image, supply MPI code, launch the container interactively, then compile and run. The E4S Guide Bot provides interactive help alongside the documentation.</a:t>
            </a:r>
          </a:p>
        </p:txBody>
      </p:sp>
      <p:sp>
        <p:nvSpPr>
          <p:cNvPr id="4" name="Slide Number Placeholder 3"/>
          <p:cNvSpPr>
            <a:spLocks noGrp="1"/>
          </p:cNvSpPr>
          <p:nvPr>
            <p:ph type="sldNum" sz="quarter" idx="5"/>
          </p:nvPr>
        </p:nvSpPr>
        <p:spPr/>
        <p:txBody>
          <a:bodyPr/>
          <a:lstStyle/>
          <a:p>
            <a:fld id="{AA04650E-E198-4FA3-A1E8-C9B561D8C60E}" type="slidenum">
              <a:rPr lang="en-US" smtClean="0"/>
              <a:t>1</a:t>
            </a:fld>
            <a:endParaRPr lang="en-US"/>
          </a:p>
        </p:txBody>
      </p:sp>
    </p:spTree>
    <p:extLst>
      <p:ext uri="{BB962C8B-B14F-4D97-AF65-F5344CB8AC3E}">
        <p14:creationId xmlns:p14="http://schemas.microsoft.com/office/powerpoint/2010/main" val="7212326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8/4/26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4666609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8/4/26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382992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8/4/26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05351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8/4/26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6151777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8/4/26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535603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8/4/26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4586904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8/4/26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8443176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8/4/26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9938231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8/4/26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4585604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8/4/26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5537863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8/4/26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1754874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title</a:t>
            </a:r>
          </a:p>
        </p:txBody>
      </p:sp>
      <p:sp>
        <p:nvSpPr>
          <p:cNvPr id="4" name="Rectangle 3">
            <a:extLst>
              <a:ext uri="{FF2B5EF4-FFF2-40B4-BE49-F238E27FC236}">
                <a16:creationId xmlns:a16="http://schemas.microsoft.com/office/drawing/2014/main" id="{9D265990-C2AC-43F4-A5F5-C94F93DD392D}"/>
              </a:ext>
            </a:extLst>
          </p:cNvPr>
          <p:cNvSpPr/>
          <p:nvPr userDrawn="1"/>
        </p:nvSpPr>
        <p:spPr>
          <a:xfrm>
            <a:off x="0" y="6320118"/>
            <a:ext cx="12192000" cy="537882"/>
          </a:xfrm>
          <a:prstGeom prst="rect">
            <a:avLst/>
          </a:prstGeom>
          <a:solidFill>
            <a:srgbClr val="0B2C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5"/>
          <p:cNvSpPr>
            <a:spLocks noGrp="1"/>
          </p:cNvSpPr>
          <p:nvPr>
            <p:ph type="sldNum" sz="quarter" idx="4"/>
          </p:nvPr>
        </p:nvSpPr>
        <p:spPr>
          <a:xfrm>
            <a:off x="4724400" y="6403005"/>
            <a:ext cx="2743200" cy="365125"/>
          </a:xfrm>
          <a:prstGeom prst="rect">
            <a:avLst/>
          </a:prstGeom>
        </p:spPr>
        <p:txBody>
          <a:bodyPr vert="horz" lIns="91440" tIns="45720" rIns="91440" bIns="45720" rtlCol="0" anchor="ctr"/>
          <a:lstStyle>
            <a:lvl1pPr algn="ctr">
              <a:defRPr sz="1400">
                <a:solidFill>
                  <a:schemeClr val="bg1"/>
                </a:solidFill>
                <a:latin typeface="AvenirNext LT Pro Regular" panose="020B0504020202020204" pitchFamily="34" charset="0"/>
              </a:defRPr>
            </a:lvl1pPr>
          </a:lstStyle>
          <a:p>
            <a:fld id="{835B6AD7-18B8-4C9C-AA70-ABD830A869AC}" type="slidenum">
              <a:rPr lang="en-US" smtClean="0"/>
              <a:t>‹#›</a:t>
            </a:fld>
            <a:endParaRPr lang="en-US"/>
          </a:p>
        </p:txBody>
      </p:sp>
      <p:pic>
        <p:nvPicPr>
          <p:cNvPr id="6" name="Picture 5"/>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12667" y="6373156"/>
            <a:ext cx="2149533" cy="394974"/>
          </a:xfrm>
          <a:prstGeom prst="rect">
            <a:avLst/>
          </a:prstGeom>
        </p:spPr>
      </p:pic>
      <p:sp>
        <p:nvSpPr>
          <p:cNvPr id="7" name="TextBox 6"/>
          <p:cNvSpPr txBox="1"/>
          <p:nvPr userDrawn="1"/>
        </p:nvSpPr>
        <p:spPr>
          <a:xfrm>
            <a:off x="9943949" y="6398798"/>
            <a:ext cx="2248051" cy="369332"/>
          </a:xfrm>
          <a:prstGeom prst="rect">
            <a:avLst/>
          </a:prstGeom>
          <a:noFill/>
        </p:spPr>
        <p:txBody>
          <a:bodyPr wrap="none" rtlCol="0">
            <a:spAutoFit/>
          </a:bodyPr>
          <a:lstStyle/>
          <a:p>
            <a:pPr algn="r"/>
            <a:r>
              <a:rPr lang="en-US">
                <a:solidFill>
                  <a:schemeClr val="bg1"/>
                </a:solidFill>
                <a:latin typeface="AvenirNext LT Pro Regular" panose="020B0504020202020204" pitchFamily="34" charset="0"/>
              </a:rPr>
              <a:t>Energy.gov/science</a:t>
            </a:r>
          </a:p>
        </p:txBody>
      </p:sp>
    </p:spTree>
    <p:extLst>
      <p:ext uri="{BB962C8B-B14F-4D97-AF65-F5344CB8AC3E}">
        <p14:creationId xmlns:p14="http://schemas.microsoft.com/office/powerpoint/2010/main" val="2441954933"/>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8/4/26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269098563"/>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png"/><Relationship Id="rId13" Type="http://schemas.openxmlformats.org/officeDocument/2006/relationships/image" Target="../media/image9.png"/><Relationship Id="rId18" Type="http://schemas.openxmlformats.org/officeDocument/2006/relationships/image" Target="../media/image14.png"/><Relationship Id="rId3" Type="http://schemas.openxmlformats.org/officeDocument/2006/relationships/image" Target="../media/image2.png"/><Relationship Id="rId7" Type="http://schemas.openxmlformats.org/officeDocument/2006/relationships/image" Target="../media/image3.png"/><Relationship Id="rId12" Type="http://schemas.openxmlformats.org/officeDocument/2006/relationships/image" Target="../media/image8.png"/><Relationship Id="rId17" Type="http://schemas.openxmlformats.org/officeDocument/2006/relationships/image" Target="../media/image13.png"/><Relationship Id="rId2" Type="http://schemas.openxmlformats.org/officeDocument/2006/relationships/notesSlide" Target="../notesSlides/notesSlide1.xml"/><Relationship Id="rId16" Type="http://schemas.openxmlformats.org/officeDocument/2006/relationships/image" Target="../media/image12.png"/><Relationship Id="rId20" Type="http://schemas.openxmlformats.org/officeDocument/2006/relationships/image" Target="../media/image16.png"/><Relationship Id="rId1" Type="http://schemas.openxmlformats.org/officeDocument/2006/relationships/slideLayout" Target="../slideLayouts/slideLayout12.xml"/><Relationship Id="rId6" Type="http://schemas.openxmlformats.org/officeDocument/2006/relationships/hyperlink" Target="https://www.lammps.org/" TargetMode="External"/><Relationship Id="rId11" Type="http://schemas.openxmlformats.org/officeDocument/2006/relationships/image" Target="../media/image7.png"/><Relationship Id="rId5" Type="http://schemas.openxmlformats.org/officeDocument/2006/relationships/hyperlink" Target="https://pesoproject.org/" TargetMode="External"/><Relationship Id="rId15" Type="http://schemas.openxmlformats.org/officeDocument/2006/relationships/image" Target="../media/image11.png"/><Relationship Id="rId10" Type="http://schemas.openxmlformats.org/officeDocument/2006/relationships/image" Target="../media/image6.png"/><Relationship Id="rId19" Type="http://schemas.openxmlformats.org/officeDocument/2006/relationships/image" Target="../media/image15.png"/><Relationship Id="rId4" Type="http://schemas.openxmlformats.org/officeDocument/2006/relationships/hyperlink" Target="https://e4s.io/" TargetMode="External"/><Relationship Id="rId9" Type="http://schemas.openxmlformats.org/officeDocument/2006/relationships/image" Target="../media/image5.png"/><Relationship Id="rId1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Terminal session showing a 42-second docker pull of the E4S base container, a 75-second spack install of LAMMPS, and a parallel LAMMPS run, totalling about two minutes">
            <a:extLst>
              <a:ext uri="{FF2B5EF4-FFF2-40B4-BE49-F238E27FC236}">
                <a16:creationId xmlns:a16="http://schemas.microsoft.com/office/drawing/2014/main" id="{F70C1BAA-12BE-8754-8269-41BC117E3A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87184" y="256032"/>
            <a:ext cx="4882896" cy="2747442"/>
          </a:xfrm>
          <a:prstGeom prst="rect">
            <a:avLst/>
          </a:prstGeom>
          <a:noFill/>
          <a:extLst>
            <a:ext uri="{909E8E84-426E-40DD-AFC4-6F175D3DCCD1}">
              <a14:hiddenFill xmlns:a14="http://schemas.microsoft.com/office/drawing/2010/main">
                <a:solidFill>
                  <a:srgbClr val="FFFFFF"/>
                </a:solidFill>
              </a14:hiddenFill>
            </a:ext>
          </a:extLst>
        </p:spPr>
      </p:pic>
      <p:sp>
        <p:nvSpPr>
          <p:cNvPr id="16" name="Rectangle 15">
            <a:extLst>
              <a:ext uri="{FF2B5EF4-FFF2-40B4-BE49-F238E27FC236}">
                <a16:creationId xmlns:a16="http://schemas.microsoft.com/office/drawing/2014/main" id="{46110527-3D5E-DE8A-91D6-0E66981F1564}"/>
              </a:ext>
            </a:extLst>
          </p:cNvPr>
          <p:cNvSpPr/>
          <p:nvPr/>
        </p:nvSpPr>
        <p:spPr>
          <a:xfrm>
            <a:off x="7057342" y="4720433"/>
            <a:ext cx="4864420" cy="1348384"/>
          </a:xfrm>
          <a:prstGeom prst="rect">
            <a:avLst/>
          </a:prstGeom>
          <a:solidFill>
            <a:srgbClr val="8281BD">
              <a:alpha val="12941"/>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C7CB983-3D4F-3FB4-37F0-5EBAA0E93936}"/>
              </a:ext>
            </a:extLst>
          </p:cNvPr>
          <p:cNvSpPr>
            <a:spLocks noGrp="1"/>
          </p:cNvSpPr>
          <p:nvPr>
            <p:ph type="title"/>
          </p:nvPr>
        </p:nvSpPr>
        <p:spPr>
          <a:xfrm>
            <a:off x="152774" y="23094"/>
            <a:ext cx="9043791" cy="608950"/>
          </a:xfrm>
        </p:spPr>
        <p:txBody>
          <a:bodyPr>
            <a:noAutofit/>
          </a:bodyPr>
          <a:lstStyle/>
          <a:p>
            <a:r>
              <a:rPr lang="en-US" sz="2800" b="1" kern="0" dirty="0">
                <a:solidFill>
                  <a:srgbClr val="000000"/>
                </a:solidFill>
                <a:latin typeface="+mn-lt"/>
                <a:ea typeface="Arial"/>
                <a:cs typeface="Arial"/>
                <a:sym typeface="Arial"/>
              </a:rPr>
              <a:t>Zero to LAMMPS in Two Minutes</a:t>
            </a:r>
          </a:p>
        </p:txBody>
      </p:sp>
      <p:sp>
        <p:nvSpPr>
          <p:cNvPr id="7" name="Google Shape;25;p1">
            <a:extLst>
              <a:ext uri="{FF2B5EF4-FFF2-40B4-BE49-F238E27FC236}">
                <a16:creationId xmlns:a16="http://schemas.microsoft.com/office/drawing/2014/main" id="{35E5E467-2727-969B-98F3-BA95D001A982}"/>
              </a:ext>
            </a:extLst>
          </p:cNvPr>
          <p:cNvSpPr/>
          <p:nvPr/>
        </p:nvSpPr>
        <p:spPr>
          <a:xfrm>
            <a:off x="237744" y="512064"/>
            <a:ext cx="6858000" cy="1755648"/>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2000" b="1" kern="0" dirty="0">
                <a:solidFill>
                  <a:srgbClr val="000000"/>
                </a:solidFill>
                <a:ea typeface="Arial"/>
                <a:cs typeface="Arial"/>
                <a:sym typeface="Arial"/>
              </a:rPr>
              <a:t>Scientific Achievement</a:t>
            </a:r>
          </a:p>
          <a:p>
            <a:pPr marL="285750" indent="-285750">
              <a:buClr>
                <a:srgbClr val="000000"/>
              </a:buClr>
              <a:buFont typeface="Arial" panose="020B0604020202020204" pitchFamily="34" charset="0"/>
              <a:buChar char="•"/>
              <a:defRPr/>
            </a:pPr>
            <a:r>
              <a:rPr lang="en-US" sz="1400" b="1" kern="0" dirty="0">
                <a:solidFill>
                  <a:srgbClr val="000000"/>
                </a:solidFill>
                <a:ea typeface="Arial"/>
                <a:cs typeface="Arial"/>
                <a:sym typeface="Arial"/>
              </a:rPr>
              <a:t>E4S Cache-backed Image (E4S CBI):</a:t>
            </a:r>
            <a:r>
              <a:rPr lang="en-US" sz="1400" b="0" kern="0" dirty="0">
                <a:solidFill>
                  <a:srgbClr val="000000"/>
                </a:solidFill>
                <a:ea typeface="Arial"/>
                <a:cs typeface="Arial"/>
                <a:sym typeface="Arial"/>
              </a:rPr>
              <a:t> a minimal container (Spack, MPICH) backed by a Spack build cache that can access all of the hundreds of libraries, tools, and apps in E4S</a:t>
            </a:r>
          </a:p>
          <a:p>
            <a:pPr marL="285750" indent="-285750">
              <a:buClr>
                <a:srgbClr val="000000"/>
              </a:buClr>
              <a:buFont typeface="Arial" panose="020B0604020202020204" pitchFamily="34" charset="0"/>
              <a:buChar char="•"/>
              <a:defRPr/>
            </a:pPr>
            <a:r>
              <a:rPr lang="en-US" sz="1400" b="0" kern="0" dirty="0">
                <a:solidFill>
                  <a:srgbClr val="000000"/>
                </a:solidFill>
                <a:ea typeface="Arial"/>
                <a:cs typeface="Arial"/>
                <a:sym typeface="Arial"/>
              </a:rPr>
              <a:t>Any E4S library, tool, or application available in “real time” — curated, reproducible, ubiquitous</a:t>
            </a:r>
          </a:p>
          <a:p>
            <a:pPr marL="285750" indent="-285750">
              <a:buClr>
                <a:srgbClr val="000000"/>
              </a:buClr>
              <a:buFont typeface="Arial" panose="020B0604020202020204" pitchFamily="34" charset="0"/>
              <a:buChar char="•"/>
              <a:defRPr/>
            </a:pPr>
            <a:r>
              <a:rPr lang="en-US" sz="1400" b="0" kern="0" dirty="0">
                <a:solidFill>
                  <a:srgbClr val="000000"/>
                </a:solidFill>
                <a:ea typeface="Arial"/>
                <a:cs typeface="Arial"/>
                <a:sym typeface="Arial"/>
              </a:rPr>
              <a:t>On a laptop: 42 s to pull the image, 75 s to install LAMMPS from the cache</a:t>
            </a:r>
          </a:p>
          <a:p>
            <a:pPr marL="285750" indent="-285750">
              <a:buClr>
                <a:srgbClr val="000000"/>
              </a:buClr>
              <a:buFont typeface="Arial" panose="020B0604020202020204" pitchFamily="34" charset="0"/>
              <a:buChar char="•"/>
              <a:defRPr/>
            </a:pPr>
            <a:r>
              <a:rPr lang="en-US" sz="1400" b="1" kern="0" dirty="0">
                <a:solidFill>
                  <a:srgbClr val="000000"/>
                </a:solidFill>
                <a:ea typeface="Arial"/>
                <a:cs typeface="Arial"/>
                <a:sym typeface="Arial"/>
              </a:rPr>
              <a:t>Result: a fully functional parallel LAMMPS in under two minutes</a:t>
            </a:r>
          </a:p>
        </p:txBody>
      </p:sp>
      <p:sp>
        <p:nvSpPr>
          <p:cNvPr id="8" name="Google Shape;26;p1">
            <a:extLst>
              <a:ext uri="{FF2B5EF4-FFF2-40B4-BE49-F238E27FC236}">
                <a16:creationId xmlns:a16="http://schemas.microsoft.com/office/drawing/2014/main" id="{0607B843-0CBD-294A-51EC-D86D699F90C2}"/>
              </a:ext>
            </a:extLst>
          </p:cNvPr>
          <p:cNvSpPr/>
          <p:nvPr/>
        </p:nvSpPr>
        <p:spPr>
          <a:xfrm>
            <a:off x="237744" y="2331720"/>
            <a:ext cx="6858000" cy="1389888"/>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2000" b="1" kern="0" dirty="0">
                <a:solidFill>
                  <a:srgbClr val="000000"/>
                </a:solidFill>
                <a:ea typeface="Arial"/>
                <a:cs typeface="Arial"/>
                <a:sym typeface="Arial"/>
              </a:rPr>
              <a:t>Significance and Impact</a:t>
            </a:r>
          </a:p>
          <a:p>
            <a:pPr marL="285750" indent="-285750">
              <a:buClr>
                <a:srgbClr val="000000"/>
              </a:buClr>
              <a:buFont typeface="Arial" panose="020B0604020202020204" pitchFamily="34" charset="0"/>
              <a:buChar char="•"/>
              <a:defRPr/>
            </a:pPr>
            <a:r>
              <a:rPr lang="en-US" sz="1400" b="0" kern="0" dirty="0">
                <a:solidFill>
                  <a:srgbClr val="000000"/>
                </a:solidFill>
                <a:ea typeface="Arial"/>
                <a:cs typeface="Arial"/>
                <a:sym typeface="Arial"/>
              </a:rPr>
              <a:t>Removes the build-and-install barrier between a researcher and a running application</a:t>
            </a:r>
          </a:p>
          <a:p>
            <a:pPr marL="285750" indent="-285750">
              <a:buClr>
                <a:srgbClr val="000000"/>
              </a:buClr>
              <a:buFont typeface="Arial" panose="020B0604020202020204" pitchFamily="34" charset="0"/>
              <a:buChar char="•"/>
              <a:defRPr/>
            </a:pPr>
            <a:r>
              <a:rPr lang="en-US" sz="1400" b="0" kern="0" dirty="0">
                <a:solidFill>
                  <a:srgbClr val="000000"/>
                </a:solidFill>
                <a:ea typeface="Arial"/>
                <a:cs typeface="Arial"/>
                <a:sym typeface="Arial"/>
              </a:rPr>
              <a:t>Simulation is the entry point for many AI-for-science workflows, including surrogate training</a:t>
            </a:r>
          </a:p>
          <a:p>
            <a:pPr marL="285750" indent="-285750">
              <a:buClr>
                <a:srgbClr val="000000"/>
              </a:buClr>
              <a:buFont typeface="Arial" panose="020B0604020202020204" pitchFamily="34" charset="0"/>
              <a:buChar char="•"/>
              <a:defRPr/>
            </a:pPr>
            <a:r>
              <a:rPr lang="en-US" sz="1400" b="1" kern="0" dirty="0">
                <a:solidFill>
                  <a:srgbClr val="000000"/>
                </a:solidFill>
                <a:ea typeface="Arial"/>
                <a:cs typeface="Arial"/>
                <a:sym typeface="Arial"/>
              </a:rPr>
              <a:t>Scales unchanged from a laptop quick start to leadership-class runs and the cloud</a:t>
            </a:r>
          </a:p>
        </p:txBody>
      </p:sp>
      <p:sp>
        <p:nvSpPr>
          <p:cNvPr id="9" name="Google Shape;27;p1">
            <a:extLst>
              <a:ext uri="{FF2B5EF4-FFF2-40B4-BE49-F238E27FC236}">
                <a16:creationId xmlns:a16="http://schemas.microsoft.com/office/drawing/2014/main" id="{34B9808A-90A5-22A7-F1DB-47BF387DC938}"/>
              </a:ext>
            </a:extLst>
          </p:cNvPr>
          <p:cNvSpPr txBox="1"/>
          <p:nvPr/>
        </p:nvSpPr>
        <p:spPr>
          <a:xfrm>
            <a:off x="7168896" y="3108960"/>
            <a:ext cx="4956048" cy="1477287"/>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000" b="0" i="1" kern="0" dirty="0">
                <a:solidFill>
                  <a:srgbClr val="000000"/>
                </a:solidFill>
                <a:ea typeface="Arial"/>
                <a:cs typeface="Arial"/>
                <a:sym typeface="Arial"/>
              </a:rPr>
              <a:t>Captured on a laptop: a 42-second docker pull of the E4S Cache-backed Image (ecpe4s/e4s-spack-cpu), a 75-second spack install lammps from the E4S build cache, and a four-rank, four-thread LAMMPS run — about two minutes end to end. E4S CBIs are available for all major CPU and GPU platforms.  User content runs essentially unchanged from laptop to cloud to leadership-class systems.</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000" b="0" i="1" kern="0" dirty="0">
                <a:solidFill>
                  <a:srgbClr val="000000"/>
                </a:solidFil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000" b="0" i="1" kern="0" dirty="0">
                <a:solidFill>
                  <a:srgbClr val="000000"/>
                </a:solidFill>
                <a:ea typeface="Arial"/>
                <a:cs typeface="Arial"/>
                <a:sym typeface="Arial"/>
              </a:rPr>
              <a:t>The E4S Quick Start guide walks a new user through the same four steps — pull the Docker image, supply MPI code, launch the container, then compile and run — and the E4S Guide Bot answers questions interactively along the way.  (Source: </a:t>
            </a:r>
            <a:r>
              <a:rPr lang="en-US" sz="1000" b="0" i="1" kern="0" dirty="0">
                <a:solidFill>
                  <a:srgbClr val="000000"/>
                </a:solidFill>
                <a:hlinkClick r:id="rId4"/>
              </a:rPr>
              <a:t>e4s.io</a:t>
            </a:r>
            <a:r>
              <a:rPr lang="en-US" sz="1000" b="0" i="1" kern="0" dirty="0">
                <a:solidFill>
                  <a:srgbClr val="000000"/>
                </a:solidFill>
                <a:ea typeface="Arial"/>
                <a:cs typeface="Arial"/>
                <a:sym typeface="Arial"/>
              </a:rPr>
              <a:t>)</a:t>
            </a:r>
          </a:p>
        </p:txBody>
      </p:sp>
      <p:sp>
        <p:nvSpPr>
          <p:cNvPr id="11" name="Google Shape;29;p1">
            <a:extLst>
              <a:ext uri="{FF2B5EF4-FFF2-40B4-BE49-F238E27FC236}">
                <a16:creationId xmlns:a16="http://schemas.microsoft.com/office/drawing/2014/main" id="{F719EDE8-762E-1830-067F-4414F9F31C7C}"/>
              </a:ext>
            </a:extLst>
          </p:cNvPr>
          <p:cNvSpPr/>
          <p:nvPr/>
        </p:nvSpPr>
        <p:spPr>
          <a:xfrm>
            <a:off x="237744" y="3710665"/>
            <a:ext cx="6858000" cy="1170432"/>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2000" b="1" kern="0" dirty="0">
                <a:solidFill>
                  <a:srgbClr val="000000"/>
                </a:solidFill>
                <a:ea typeface="Arial"/>
                <a:cs typeface="Arial"/>
                <a:sym typeface="Arial"/>
              </a:rPr>
              <a:t>Technical Approach</a:t>
            </a:r>
          </a:p>
          <a:p>
            <a:pPr marL="285750" indent="-285750">
              <a:buClr>
                <a:srgbClr val="000000"/>
              </a:buClr>
              <a:buFont typeface="Arial" panose="020B0604020202020204" pitchFamily="34" charset="0"/>
              <a:buChar char="•"/>
              <a:defRPr/>
            </a:pPr>
            <a:r>
              <a:rPr lang="en-US" sz="1400" b="0" kern="0" dirty="0">
                <a:solidFill>
                  <a:srgbClr val="000000"/>
                </a:solidFill>
                <a:ea typeface="Arial"/>
                <a:cs typeface="Arial"/>
                <a:sym typeface="Arial"/>
              </a:rPr>
              <a:t>The Cache-backed Image stays small; the build cache supplies the rest of E4S on demand</a:t>
            </a:r>
          </a:p>
          <a:p>
            <a:pPr marL="285750" indent="-285750">
              <a:buClr>
                <a:srgbClr val="000000"/>
              </a:buClr>
              <a:buFont typeface="Arial" panose="020B0604020202020204" pitchFamily="34" charset="0"/>
              <a:buChar char="•"/>
              <a:defRPr/>
            </a:pPr>
            <a:r>
              <a:rPr lang="en-US" sz="1400" b="0" kern="0" dirty="0">
                <a:solidFill>
                  <a:srgbClr val="000000"/>
                </a:solidFill>
                <a:ea typeface="Arial"/>
                <a:cs typeface="Arial"/>
                <a:sym typeface="Arial"/>
              </a:rPr>
              <a:t>Cached binaries replace source builds, cutting a multi-hour install to 75 seconds</a:t>
            </a:r>
          </a:p>
          <a:p>
            <a:pPr marL="285750" indent="-285750">
              <a:buClr>
                <a:srgbClr val="000000"/>
              </a:buClr>
              <a:buFont typeface="Arial" panose="020B0604020202020204" pitchFamily="34" charset="0"/>
              <a:buChar char="•"/>
              <a:defRPr/>
            </a:pPr>
            <a:r>
              <a:rPr lang="en-US" sz="1400" b="0" kern="0" dirty="0">
                <a:solidFill>
                  <a:srgbClr val="000000"/>
                </a:solidFill>
                <a:ea typeface="Arial"/>
                <a:cs typeface="Arial"/>
                <a:sym typeface="Arial"/>
              </a:rPr>
              <a:t>LAMMPS in.lj: 32,000 atoms, 4 MPI ranks × 4 OpenMP threads, 17.5 Matom-step/s</a:t>
            </a:r>
          </a:p>
        </p:txBody>
      </p:sp>
      <p:sp>
        <p:nvSpPr>
          <p:cNvPr id="15" name="TextBox 14">
            <a:extLst>
              <a:ext uri="{FF2B5EF4-FFF2-40B4-BE49-F238E27FC236}">
                <a16:creationId xmlns:a16="http://schemas.microsoft.com/office/drawing/2014/main" id="{1C742054-4F8C-D401-63CE-FEFFCD6C2810}"/>
              </a:ext>
            </a:extLst>
          </p:cNvPr>
          <p:cNvSpPr txBox="1"/>
          <p:nvPr/>
        </p:nvSpPr>
        <p:spPr>
          <a:xfrm>
            <a:off x="7175041" y="4791544"/>
            <a:ext cx="4884963" cy="127727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100" b="0" kern="0" dirty="0">
                <a:solidFill>
                  <a:srgbClr val="000000"/>
                </a:solidFill>
                <a:ea typeface="Arial"/>
                <a:cs typeface="Arial"/>
                <a:sym typeface="Arial"/>
              </a:rPr>
              <a:t>PIs: Michael Heroux, (ParaTools, Inc.), Lois Curfman McInnes (Argonne)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100" b="0" kern="0" dirty="0">
                <a:solidFill>
                  <a:srgbClr val="000000"/>
                </a:solidFill>
                <a:ea typeface="Arial"/>
                <a:cs typeface="Arial"/>
                <a:sym typeface="Arial"/>
              </a:rPr>
              <a:t>E4S lead: Sameer Shende (U of Oregon/ParaTools)</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100" b="0" kern="0" dirty="0">
                <a:solidFill>
                  <a:srgbClr val="000000"/>
                </a:solidFill>
                <a:ea typeface="Arial"/>
                <a:cs typeface="Arial"/>
                <a:sym typeface="Arial"/>
              </a:rPr>
              <a:t>E4S Cache-backed Image: ecpe4s/e4s-spack-cpu; stack curated by E4S/Spack</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100" b="0" kern="0" dirty="0">
                <a:solidFill>
                  <a:srgbClr val="000000"/>
                </a:solidFill>
                <a:ea typeface="Arial"/>
                <a:cs typeface="Arial"/>
                <a:sym typeface="Arial"/>
              </a:rPr>
              <a:t>ASCR Program: Next-Generation Scientific Software Technologies</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100" b="0" kern="0" dirty="0">
                <a:solidFill>
                  <a:srgbClr val="000000"/>
                </a:solidFill>
                <a:ea typeface="Arial"/>
                <a:cs typeface="Arial"/>
                <a:sym typeface="Arial"/>
              </a:rPr>
              <a:t>ASCR PM: David Rabson</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100" b="0" kern="0" dirty="0">
                <a:solidFill>
                  <a:srgbClr val="000000"/>
                </a:solidFill>
                <a:ea typeface="Arial"/>
                <a:cs typeface="Arial"/>
                <a:sym typeface="Arial"/>
              </a:rPr>
              <a:t>E4S website: </a:t>
            </a:r>
            <a:r>
              <a:rPr lang="en-US" sz="1100" b="0" kern="0" dirty="0">
                <a:solidFill>
                  <a:srgbClr val="000000"/>
                </a:solidFill>
                <a:hlinkClick r:id="rId4"/>
              </a:rPr>
              <a:t>https://e4s.io</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100" b="0" kern="0" dirty="0">
                <a:solidFill>
                  <a:srgbClr val="000000"/>
                </a:solidFill>
                <a:ea typeface="Arial"/>
                <a:cs typeface="Arial"/>
                <a:sym typeface="Arial"/>
              </a:rPr>
              <a:t>PESO website: </a:t>
            </a:r>
            <a:r>
              <a:rPr lang="en-US" sz="1100" b="0" kern="0" dirty="0">
                <a:solidFill>
                  <a:srgbClr val="000000"/>
                </a:solidFill>
                <a:hlinkClick r:id="rId5"/>
              </a:rPr>
              <a:t>https://pesoproject.org</a:t>
            </a:r>
            <a:r>
              <a:rPr lang="en-US" sz="1100" b="0" kern="0" dirty="0">
                <a:solidFill>
                  <a:srgbClr val="000000"/>
                </a:solidFill>
                <a:ea typeface="Arial"/>
                <a:cs typeface="Arial"/>
                <a:sym typeface="Arial"/>
              </a:rPr>
              <a:t>   LAMMPS: </a:t>
            </a:r>
            <a:r>
              <a:rPr lang="en-US" sz="1100" b="0" kern="0" dirty="0">
                <a:solidFill>
                  <a:srgbClr val="000000"/>
                </a:solidFill>
                <a:hlinkClick r:id="rId6"/>
              </a:rPr>
              <a:t>https://www.lammps.org</a:t>
            </a:r>
          </a:p>
        </p:txBody>
      </p:sp>
      <p:sp>
        <p:nvSpPr>
          <p:cNvPr id="47" name="TextBox 46">
            <a:extLst>
              <a:ext uri="{FF2B5EF4-FFF2-40B4-BE49-F238E27FC236}">
                <a16:creationId xmlns:a16="http://schemas.microsoft.com/office/drawing/2014/main" id="{9DF756B8-22F7-0A6B-262E-22DCD05C26DA}"/>
              </a:ext>
            </a:extLst>
          </p:cNvPr>
          <p:cNvSpPr txBox="1"/>
          <p:nvPr/>
        </p:nvSpPr>
        <p:spPr>
          <a:xfrm>
            <a:off x="204870" y="5914328"/>
            <a:ext cx="6567952" cy="300082"/>
          </a:xfrm>
          <a:prstGeom prst="rect">
            <a:avLst/>
          </a:prstGeom>
          <a:noFill/>
        </p:spPr>
        <p:txBody>
          <a:bodyPr wrap="none" rtlCol="0">
            <a:spAutoFit/>
          </a:bodyPr>
          <a:lstStyle/>
          <a:p>
            <a:r>
              <a:rPr lang="en-US" sz="1350" i="1" dirty="0"/>
              <a:t>Stewarding and advancing the current and future ecosystem of HPC-AI computing software</a:t>
            </a:r>
          </a:p>
        </p:txBody>
      </p:sp>
      <p:sp>
        <p:nvSpPr>
          <p:cNvPr id="72" name="Google Shape;791;p15">
            <a:extLst>
              <a:ext uri="{FF2B5EF4-FFF2-40B4-BE49-F238E27FC236}">
                <a16:creationId xmlns:a16="http://schemas.microsoft.com/office/drawing/2014/main" id="{1F9FE1DA-404D-04E7-D349-D448AF731D57}"/>
              </a:ext>
            </a:extLst>
          </p:cNvPr>
          <p:cNvSpPr txBox="1"/>
          <p:nvPr/>
        </p:nvSpPr>
        <p:spPr>
          <a:xfrm>
            <a:off x="46133" y="5773426"/>
            <a:ext cx="1688848" cy="244473"/>
          </a:xfrm>
          <a:prstGeom prst="rect">
            <a:avLst/>
          </a:prstGeom>
          <a:noFill/>
          <a:ln>
            <a:noFill/>
          </a:ln>
        </p:spPr>
        <p:txBody>
          <a:bodyPr spcFirstLastPara="1" wrap="square" lIns="0" tIns="0" rIns="0" bIns="0" anchor="t" anchorCtr="0">
            <a:noAutofit/>
          </a:bodyPr>
          <a:lstStyle>
            <a:defPPr>
              <a:defRPr lang="en-US"/>
            </a:defPPr>
            <a:lvl1pPr algn="r">
              <a:lnSpc>
                <a:spcPct val="90000"/>
              </a:lnSpc>
              <a:defRPr sz="600" b="1" spc="-20">
                <a:solidFill>
                  <a:schemeClr val="bg1">
                    <a:lumMod val="50000"/>
                  </a:schemeClr>
                </a:solidFill>
                <a:latin typeface="Arial"/>
                <a:ea typeface="Arial"/>
                <a:cs typeface="Arial"/>
              </a:defRPr>
            </a:lvl1pPr>
          </a:lstStyle>
          <a:p>
            <a:pPr algn="ctr" defTabSz="609585">
              <a:buClrTx/>
            </a:pPr>
            <a:r>
              <a:rPr lang="en-US" sz="1100" b="0" kern="1200" spc="-27" dirty="0">
                <a:solidFill>
                  <a:srgbClr val="FFFFFF">
                    <a:lumMod val="50000"/>
                  </a:srgbClr>
                </a:solidFill>
                <a:hlinkClick r:id="rId5"/>
              </a:rPr>
              <a:t>https://pesoproject.org</a:t>
            </a:r>
            <a:r>
              <a:rPr lang="en-US" sz="1100" b="0" kern="1200" spc="-27" dirty="0">
                <a:solidFill>
                  <a:srgbClr val="FFFFFF">
                    <a:lumMod val="50000"/>
                  </a:srgbClr>
                </a:solidFill>
              </a:rPr>
              <a:t> </a:t>
            </a:r>
            <a:endParaRPr sz="1100" b="0" kern="1200" spc="-27" dirty="0">
              <a:solidFill>
                <a:srgbClr val="FFFFFF">
                  <a:lumMod val="50000"/>
                </a:srgbClr>
              </a:solidFill>
            </a:endParaRPr>
          </a:p>
        </p:txBody>
      </p:sp>
      <p:pic>
        <p:nvPicPr>
          <p:cNvPr id="45" name="Google Shape;916;p18" descr="A picture containing graphics, logo, font, symbol&#10;&#10;Description automatically generated">
            <a:extLst>
              <a:ext uri="{FF2B5EF4-FFF2-40B4-BE49-F238E27FC236}">
                <a16:creationId xmlns:a16="http://schemas.microsoft.com/office/drawing/2014/main" id="{1219AE27-ACBF-8385-BC88-643F8607C46F}"/>
              </a:ext>
            </a:extLst>
          </p:cNvPr>
          <p:cNvPicPr preferRelativeResize="0">
            <a:picLocks noChangeAspect="1"/>
          </p:cNvPicPr>
          <p:nvPr/>
        </p:nvPicPr>
        <p:blipFill rotWithShape="1">
          <a:blip r:embed="rId7">
            <a:alphaModFix/>
          </a:blip>
          <a:srcRect r="-585"/>
          <a:stretch/>
        </p:blipFill>
        <p:spPr>
          <a:xfrm>
            <a:off x="333357" y="5085479"/>
            <a:ext cx="968422" cy="628201"/>
          </a:xfrm>
          <a:prstGeom prst="rect">
            <a:avLst/>
          </a:prstGeom>
          <a:noFill/>
          <a:ln>
            <a:noFill/>
          </a:ln>
        </p:spPr>
      </p:pic>
      <p:pic>
        <p:nvPicPr>
          <p:cNvPr id="49" name="Google Shape;651;p13" descr="Lawrence Livermore National Laboratory">
            <a:extLst>
              <a:ext uri="{FF2B5EF4-FFF2-40B4-BE49-F238E27FC236}">
                <a16:creationId xmlns:a16="http://schemas.microsoft.com/office/drawing/2014/main" id="{7AA3743E-E747-8934-7CD3-6A52AE426687}"/>
              </a:ext>
            </a:extLst>
          </p:cNvPr>
          <p:cNvPicPr preferRelativeResize="0">
            <a:picLocks noChangeAspect="1"/>
          </p:cNvPicPr>
          <p:nvPr/>
        </p:nvPicPr>
        <p:blipFill rotWithShape="1">
          <a:blip r:embed="rId8" cstate="hqprint">
            <a:alphaModFix/>
            <a:extLst>
              <a:ext uri="{28A0092B-C50C-407E-A947-70E740481C1C}">
                <a14:useLocalDpi xmlns:a14="http://schemas.microsoft.com/office/drawing/2010/main"/>
              </a:ext>
            </a:extLst>
          </a:blip>
          <a:srcRect/>
          <a:stretch/>
        </p:blipFill>
        <p:spPr>
          <a:xfrm>
            <a:off x="4803462" y="5207688"/>
            <a:ext cx="898608" cy="177817"/>
          </a:xfrm>
          <a:prstGeom prst="rect">
            <a:avLst/>
          </a:prstGeom>
          <a:noFill/>
          <a:ln>
            <a:noFill/>
          </a:ln>
        </p:spPr>
      </p:pic>
      <p:pic>
        <p:nvPicPr>
          <p:cNvPr id="52" name="Google Shape;655;p13" descr="Los Alamos National Laboratory">
            <a:extLst>
              <a:ext uri="{FF2B5EF4-FFF2-40B4-BE49-F238E27FC236}">
                <a16:creationId xmlns:a16="http://schemas.microsoft.com/office/drawing/2014/main" id="{AC4811EE-4B1A-0DF8-6AA7-B2DB9B26842C}"/>
              </a:ext>
            </a:extLst>
          </p:cNvPr>
          <p:cNvPicPr preferRelativeResize="0"/>
          <p:nvPr/>
        </p:nvPicPr>
        <p:blipFill rotWithShape="1">
          <a:blip r:embed="rId9" cstate="hqprint">
            <a:alphaModFix/>
            <a:extLst>
              <a:ext uri="{28A0092B-C50C-407E-A947-70E740481C1C}">
                <a14:useLocalDpi xmlns:a14="http://schemas.microsoft.com/office/drawing/2010/main"/>
              </a:ext>
            </a:extLst>
          </a:blip>
          <a:srcRect/>
          <a:stretch/>
        </p:blipFill>
        <p:spPr>
          <a:xfrm>
            <a:off x="5893408" y="5218465"/>
            <a:ext cx="775760" cy="156263"/>
          </a:xfrm>
          <a:prstGeom prst="rect">
            <a:avLst/>
          </a:prstGeom>
          <a:noFill/>
          <a:ln>
            <a:noFill/>
          </a:ln>
        </p:spPr>
      </p:pic>
      <p:pic>
        <p:nvPicPr>
          <p:cNvPr id="53" name="Google Shape;656;p13" descr="Kitware">
            <a:extLst>
              <a:ext uri="{FF2B5EF4-FFF2-40B4-BE49-F238E27FC236}">
                <a16:creationId xmlns:a16="http://schemas.microsoft.com/office/drawing/2014/main" id="{C9A3FA12-E29B-E088-701D-0E3545150844}"/>
              </a:ext>
            </a:extLst>
          </p:cNvPr>
          <p:cNvPicPr preferRelativeResize="0"/>
          <p:nvPr/>
        </p:nvPicPr>
        <p:blipFill rotWithShape="1">
          <a:blip r:embed="rId10" cstate="hqprint">
            <a:alphaModFix/>
            <a:extLst>
              <a:ext uri="{28A0092B-C50C-407E-A947-70E740481C1C}">
                <a14:useLocalDpi xmlns:a14="http://schemas.microsoft.com/office/drawing/2010/main"/>
              </a:ext>
            </a:extLst>
          </a:blip>
          <a:srcRect/>
          <a:stretch/>
        </p:blipFill>
        <p:spPr>
          <a:xfrm>
            <a:off x="4145906" y="5245312"/>
            <a:ext cx="466217" cy="102568"/>
          </a:xfrm>
          <a:prstGeom prst="rect">
            <a:avLst/>
          </a:prstGeom>
          <a:noFill/>
          <a:ln>
            <a:noFill/>
          </a:ln>
        </p:spPr>
      </p:pic>
      <p:pic>
        <p:nvPicPr>
          <p:cNvPr id="57" name="Google Shape;661;p13" descr="BerkeleyLabLogo">
            <a:extLst>
              <a:ext uri="{FF2B5EF4-FFF2-40B4-BE49-F238E27FC236}">
                <a16:creationId xmlns:a16="http://schemas.microsoft.com/office/drawing/2014/main" id="{00DC9E7D-B2C4-06AC-00B2-28CE94221741}"/>
              </a:ext>
            </a:extLst>
          </p:cNvPr>
          <p:cNvPicPr preferRelativeResize="0"/>
          <p:nvPr/>
        </p:nvPicPr>
        <p:blipFill rotWithShape="1">
          <a:blip r:embed="rId11" cstate="hqprint">
            <a:alphaModFix/>
            <a:extLst>
              <a:ext uri="{28A0092B-C50C-407E-A947-70E740481C1C}">
                <a14:useLocalDpi xmlns:a14="http://schemas.microsoft.com/office/drawing/2010/main"/>
              </a:ext>
            </a:extLst>
          </a:blip>
          <a:srcRect/>
          <a:stretch/>
        </p:blipFill>
        <p:spPr>
          <a:xfrm>
            <a:off x="2656868" y="5141051"/>
            <a:ext cx="411132" cy="311090"/>
          </a:xfrm>
          <a:prstGeom prst="rect">
            <a:avLst/>
          </a:prstGeom>
          <a:noFill/>
          <a:ln>
            <a:noFill/>
          </a:ln>
        </p:spPr>
      </p:pic>
      <p:pic>
        <p:nvPicPr>
          <p:cNvPr id="58" name="Google Shape;662;p13">
            <a:extLst>
              <a:ext uri="{FF2B5EF4-FFF2-40B4-BE49-F238E27FC236}">
                <a16:creationId xmlns:a16="http://schemas.microsoft.com/office/drawing/2014/main" id="{AC5E7A36-A55F-9934-7231-11DA9B2E018D}"/>
              </a:ext>
            </a:extLst>
          </p:cNvPr>
          <p:cNvPicPr preferRelativeResize="0"/>
          <p:nvPr/>
        </p:nvPicPr>
        <p:blipFill rotWithShape="1">
          <a:blip r:embed="rId12" cstate="hqprint">
            <a:alphaModFix/>
            <a:extLst>
              <a:ext uri="{28A0092B-C50C-407E-A947-70E740481C1C}">
                <a14:useLocalDpi xmlns:a14="http://schemas.microsoft.com/office/drawing/2010/main"/>
              </a:ext>
            </a:extLst>
          </a:blip>
          <a:srcRect/>
          <a:stretch/>
        </p:blipFill>
        <p:spPr>
          <a:xfrm>
            <a:off x="3259339" y="5209511"/>
            <a:ext cx="695228" cy="174170"/>
          </a:xfrm>
          <a:prstGeom prst="rect">
            <a:avLst/>
          </a:prstGeom>
          <a:noFill/>
          <a:ln>
            <a:noFill/>
          </a:ln>
        </p:spPr>
      </p:pic>
      <p:pic>
        <p:nvPicPr>
          <p:cNvPr id="62" name="Google Shape;652;p13" descr="Sandia National Laboratories">
            <a:extLst>
              <a:ext uri="{FF2B5EF4-FFF2-40B4-BE49-F238E27FC236}">
                <a16:creationId xmlns:a16="http://schemas.microsoft.com/office/drawing/2014/main" id="{A4B4F4DE-27A9-6B69-85EE-3707C6B07299}"/>
              </a:ext>
            </a:extLst>
          </p:cNvPr>
          <p:cNvPicPr preferRelativeResize="0"/>
          <p:nvPr/>
        </p:nvPicPr>
        <p:blipFill rotWithShape="1">
          <a:blip r:embed="rId13" cstate="hqprint">
            <a:alphaModFix/>
            <a:extLst>
              <a:ext uri="{28A0092B-C50C-407E-A947-70E740481C1C}">
                <a14:useLocalDpi xmlns:a14="http://schemas.microsoft.com/office/drawing/2010/main"/>
              </a:ext>
            </a:extLst>
          </a:blip>
          <a:srcRect/>
          <a:stretch/>
        </p:blipFill>
        <p:spPr>
          <a:xfrm>
            <a:off x="4004086" y="5641758"/>
            <a:ext cx="505345" cy="201378"/>
          </a:xfrm>
          <a:prstGeom prst="rect">
            <a:avLst/>
          </a:prstGeom>
          <a:noFill/>
          <a:ln>
            <a:noFill/>
          </a:ln>
        </p:spPr>
      </p:pic>
      <p:pic>
        <p:nvPicPr>
          <p:cNvPr id="63" name="Google Shape;654;p13" descr="Oak Ridge National Laboratory">
            <a:extLst>
              <a:ext uri="{FF2B5EF4-FFF2-40B4-BE49-F238E27FC236}">
                <a16:creationId xmlns:a16="http://schemas.microsoft.com/office/drawing/2014/main" id="{DB16AF1C-F486-8BBB-B871-E9609EBFA3FF}"/>
              </a:ext>
            </a:extLst>
          </p:cNvPr>
          <p:cNvPicPr preferRelativeResize="0"/>
          <p:nvPr/>
        </p:nvPicPr>
        <p:blipFill rotWithShape="1">
          <a:blip r:embed="rId14" cstate="hqprint">
            <a:alphaModFix/>
            <a:extLst>
              <a:ext uri="{28A0092B-C50C-407E-A947-70E740481C1C}">
                <a14:useLocalDpi xmlns:a14="http://schemas.microsoft.com/office/drawing/2010/main"/>
              </a:ext>
            </a:extLst>
          </a:blip>
          <a:srcRect/>
          <a:stretch/>
        </p:blipFill>
        <p:spPr>
          <a:xfrm>
            <a:off x="1844701" y="5648846"/>
            <a:ext cx="704821" cy="187202"/>
          </a:xfrm>
          <a:prstGeom prst="rect">
            <a:avLst/>
          </a:prstGeom>
          <a:noFill/>
          <a:ln>
            <a:noFill/>
          </a:ln>
        </p:spPr>
      </p:pic>
      <p:pic>
        <p:nvPicPr>
          <p:cNvPr id="66" name="Google Shape;657;p13" descr="University of Oregon">
            <a:extLst>
              <a:ext uri="{FF2B5EF4-FFF2-40B4-BE49-F238E27FC236}">
                <a16:creationId xmlns:a16="http://schemas.microsoft.com/office/drawing/2014/main" id="{1E6835CC-DAD6-F8AE-1C22-EE03E8AE5D89}"/>
              </a:ext>
            </a:extLst>
          </p:cNvPr>
          <p:cNvPicPr preferRelativeResize="0"/>
          <p:nvPr/>
        </p:nvPicPr>
        <p:blipFill rotWithShape="1">
          <a:blip r:embed="rId15" cstate="hqprint">
            <a:alphaModFix/>
            <a:extLst>
              <a:ext uri="{28A0092B-C50C-407E-A947-70E740481C1C}">
                <a14:useLocalDpi xmlns:a14="http://schemas.microsoft.com/office/drawing/2010/main"/>
              </a:ext>
            </a:extLst>
          </a:blip>
          <a:srcRect/>
          <a:stretch/>
        </p:blipFill>
        <p:spPr>
          <a:xfrm>
            <a:off x="6106260" y="5683837"/>
            <a:ext cx="537462" cy="117220"/>
          </a:xfrm>
          <a:prstGeom prst="rect">
            <a:avLst/>
          </a:prstGeom>
          <a:noFill/>
          <a:ln>
            <a:noFill/>
          </a:ln>
        </p:spPr>
      </p:pic>
      <p:pic>
        <p:nvPicPr>
          <p:cNvPr id="67" name="Google Shape;659;p13">
            <a:extLst>
              <a:ext uri="{FF2B5EF4-FFF2-40B4-BE49-F238E27FC236}">
                <a16:creationId xmlns:a16="http://schemas.microsoft.com/office/drawing/2014/main" id="{C3D16736-5223-712F-7DFE-884B4733732B}"/>
              </a:ext>
            </a:extLst>
          </p:cNvPr>
          <p:cNvPicPr preferRelativeResize="0"/>
          <p:nvPr/>
        </p:nvPicPr>
        <p:blipFill rotWithShape="1">
          <a:blip r:embed="rId16" cstate="hqprint">
            <a:alphaModFix/>
            <a:extLst>
              <a:ext uri="{28A0092B-C50C-407E-A947-70E740481C1C}">
                <a14:useLocalDpi xmlns:a14="http://schemas.microsoft.com/office/drawing/2010/main"/>
              </a:ext>
            </a:extLst>
          </a:blip>
          <a:srcRect/>
          <a:stretch/>
        </p:blipFill>
        <p:spPr>
          <a:xfrm>
            <a:off x="2691567" y="5655362"/>
            <a:ext cx="524852" cy="174170"/>
          </a:xfrm>
          <a:prstGeom prst="rect">
            <a:avLst/>
          </a:prstGeom>
          <a:noFill/>
          <a:ln>
            <a:noFill/>
          </a:ln>
        </p:spPr>
      </p:pic>
      <p:pic>
        <p:nvPicPr>
          <p:cNvPr id="68" name="Google Shape;660;p13">
            <a:extLst>
              <a:ext uri="{FF2B5EF4-FFF2-40B4-BE49-F238E27FC236}">
                <a16:creationId xmlns:a16="http://schemas.microsoft.com/office/drawing/2014/main" id="{FA4B11A7-0A95-B52C-1137-288B861A0B3B}"/>
              </a:ext>
            </a:extLst>
          </p:cNvPr>
          <p:cNvPicPr preferRelativeResize="0"/>
          <p:nvPr/>
        </p:nvPicPr>
        <p:blipFill rotWithShape="1">
          <a:blip r:embed="rId17" cstate="hqprint">
            <a:alphaModFix/>
            <a:extLst>
              <a:ext uri="{28A0092B-C50C-407E-A947-70E740481C1C}">
                <a14:useLocalDpi xmlns:a14="http://schemas.microsoft.com/office/drawing/2010/main"/>
              </a:ext>
            </a:extLst>
          </a:blip>
          <a:srcRect/>
          <a:stretch/>
        </p:blipFill>
        <p:spPr>
          <a:xfrm>
            <a:off x="4651476" y="5611655"/>
            <a:ext cx="670450" cy="261585"/>
          </a:xfrm>
          <a:prstGeom prst="rect">
            <a:avLst/>
          </a:prstGeom>
          <a:noFill/>
          <a:ln>
            <a:noFill/>
          </a:ln>
        </p:spPr>
      </p:pic>
      <p:pic>
        <p:nvPicPr>
          <p:cNvPr id="71" name="Google Shape;663;p13">
            <a:extLst>
              <a:ext uri="{FF2B5EF4-FFF2-40B4-BE49-F238E27FC236}">
                <a16:creationId xmlns:a16="http://schemas.microsoft.com/office/drawing/2014/main" id="{0A2F52FC-651E-EE35-E238-415339095F80}"/>
              </a:ext>
            </a:extLst>
          </p:cNvPr>
          <p:cNvPicPr preferRelativeResize="0"/>
          <p:nvPr/>
        </p:nvPicPr>
        <p:blipFill rotWithShape="1">
          <a:blip r:embed="rId18" cstate="hqprint">
            <a:alphaModFix/>
            <a:extLst>
              <a:ext uri="{28A0092B-C50C-407E-A947-70E740481C1C}">
                <a14:useLocalDpi xmlns:a14="http://schemas.microsoft.com/office/drawing/2010/main"/>
              </a:ext>
            </a:extLst>
          </a:blip>
          <a:srcRect/>
          <a:stretch/>
        </p:blipFill>
        <p:spPr>
          <a:xfrm>
            <a:off x="3358464" y="5669898"/>
            <a:ext cx="503577" cy="145098"/>
          </a:xfrm>
          <a:prstGeom prst="rect">
            <a:avLst/>
          </a:prstGeom>
          <a:noFill/>
          <a:ln>
            <a:noFill/>
          </a:ln>
        </p:spPr>
      </p:pic>
      <p:pic>
        <p:nvPicPr>
          <p:cNvPr id="6" name="Google Shape;300;p1">
            <a:extLst>
              <a:ext uri="{FF2B5EF4-FFF2-40B4-BE49-F238E27FC236}">
                <a16:creationId xmlns:a16="http://schemas.microsoft.com/office/drawing/2014/main" id="{D160ADCE-A0E1-75DE-0509-9A68450A1F07}"/>
              </a:ext>
            </a:extLst>
          </p:cNvPr>
          <p:cNvPicPr preferRelativeResize="0">
            <a:picLocks noChangeAspect="1"/>
          </p:cNvPicPr>
          <p:nvPr/>
        </p:nvPicPr>
        <p:blipFill rotWithShape="1">
          <a:blip r:embed="rId19">
            <a:alphaModFix/>
          </a:blip>
          <a:srcRect/>
          <a:stretch/>
        </p:blipFill>
        <p:spPr>
          <a:xfrm>
            <a:off x="1760708" y="5174360"/>
            <a:ext cx="704821" cy="244473"/>
          </a:xfrm>
          <a:prstGeom prst="rect">
            <a:avLst/>
          </a:prstGeom>
          <a:noFill/>
          <a:ln>
            <a:noFill/>
          </a:ln>
        </p:spPr>
      </p:pic>
      <p:sp>
        <p:nvSpPr>
          <p:cNvPr id="10" name="Rounded Rectangle 9">
            <a:extLst>
              <a:ext uri="{FF2B5EF4-FFF2-40B4-BE49-F238E27FC236}">
                <a16:creationId xmlns:a16="http://schemas.microsoft.com/office/drawing/2014/main" id="{68164DBD-1BFF-EF0D-0E26-C40A92422A22}"/>
              </a:ext>
            </a:extLst>
          </p:cNvPr>
          <p:cNvSpPr/>
          <p:nvPr/>
        </p:nvSpPr>
        <p:spPr>
          <a:xfrm>
            <a:off x="131995" y="4994937"/>
            <a:ext cx="6723967" cy="118318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Google Shape;73;p1">
            <a:extLst>
              <a:ext uri="{FF2B5EF4-FFF2-40B4-BE49-F238E27FC236}">
                <a16:creationId xmlns:a16="http://schemas.microsoft.com/office/drawing/2014/main" id="{01FFE362-5BAA-04E2-5293-32BC46E73836}"/>
              </a:ext>
            </a:extLst>
          </p:cNvPr>
          <p:cNvPicPr preferRelativeResize="0"/>
          <p:nvPr/>
        </p:nvPicPr>
        <p:blipFill rotWithShape="1">
          <a:blip r:embed="rId20">
            <a:alphaModFix/>
          </a:blip>
          <a:srcRect/>
          <a:stretch/>
        </p:blipFill>
        <p:spPr>
          <a:xfrm>
            <a:off x="5463971" y="5645054"/>
            <a:ext cx="500246" cy="194786"/>
          </a:xfrm>
          <a:prstGeom prst="rect">
            <a:avLst/>
          </a:prstGeom>
          <a:noFill/>
          <a:ln>
            <a:noFill/>
          </a:ln>
        </p:spPr>
      </p:pic>
    </p:spTree>
    <p:extLst>
      <p:ext uri="{BB962C8B-B14F-4D97-AF65-F5344CB8AC3E}">
        <p14:creationId xmlns:p14="http://schemas.microsoft.com/office/powerpoint/2010/main" val="3201699841"/>
      </p:ext>
    </p:extLst>
  </p:cSld>
  <p:clrMapOvr>
    <a:masterClrMapping/>
  </p:clrMapOvr>
  <p:transition/>
</p:sld>
</file>

<file path=ppt/theme/theme1.xml><?xml version="1.0" encoding="utf-8"?>
<a:theme xmlns:a="http://schemas.openxmlformats.org/drawingml/2006/main" name="7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d3abd939-9d94-49d1-925a-c93fb1ff4b6e">
      <Terms xmlns="http://schemas.microsoft.com/office/infopath/2007/PartnerControls"/>
    </lcf76f155ced4ddcb4097134ff3c332f>
    <SubjectTags xmlns="d3abd939-9d94-49d1-925a-c93fb1ff4b6e" xsi:nil="true"/>
    <TaxCatchAll xmlns="bc761791-33a0-47b7-8145-9d3c2515a3a0"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D0BF6F177D6D67458FBB47B7752A5A77" ma:contentTypeVersion="14" ma:contentTypeDescription="Create a new document." ma:contentTypeScope="" ma:versionID="511b56ef837cb8094633f79cbf6101bb">
  <xsd:schema xmlns:xsd="http://www.w3.org/2001/XMLSchema" xmlns:xs="http://www.w3.org/2001/XMLSchema" xmlns:p="http://schemas.microsoft.com/office/2006/metadata/properties" xmlns:ns2="d3abd939-9d94-49d1-925a-c93fb1ff4b6e" xmlns:ns3="bc761791-33a0-47b7-8145-9d3c2515a3a0" targetNamespace="http://schemas.microsoft.com/office/2006/metadata/properties" ma:root="true" ma:fieldsID="a0782334ac6122055466205749466095" ns2:_="" ns3:_="">
    <xsd:import namespace="d3abd939-9d94-49d1-925a-c93fb1ff4b6e"/>
    <xsd:import namespace="bc761791-33a0-47b7-8145-9d3c2515a3a0"/>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ObjectDetectorVersions" minOccurs="0"/>
                <xsd:element ref="ns2:MediaServiceSearchProperties" minOccurs="0"/>
                <xsd:element ref="ns2:SubjectTags" minOccurs="0"/>
                <xsd:element ref="ns2:lcf76f155ced4ddcb4097134ff3c332f" minOccurs="0"/>
                <xsd:element ref="ns3:TaxCatchAll" minOccurs="0"/>
                <xsd:element ref="ns2:MediaServiceDateTaken" minOccurs="0"/>
                <xsd:element ref="ns2:MediaServiceGenerationTime" minOccurs="0"/>
                <xsd:element ref="ns2:MediaServiceEventHashCode"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3abd939-9d94-49d1-925a-c93fb1ff4b6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SubjectTags" ma:index="14" nillable="true" ma:displayName="Subject Tags" ma:description="Insert any relevant topical areas or subjects" ma:format="Dropdown" ma:internalName="SubjectTags">
      <xsd:simpleType>
        <xsd:union memberTypes="dms:Text">
          <xsd:simpleType>
            <xsd:restriction base="dms:Choice">
              <xsd:enumeration value="ECRP"/>
              <xsd:enumeration value="AI"/>
              <xsd:enumeration value="EPSCOR"/>
              <xsd:enumeration value="SciDAC"/>
              <xsd:enumeration value="Data/Vis"/>
              <xsd:enumeration value="Computer Science"/>
              <xsd:enumeration value="Quantum"/>
              <xsd:enumeration value="Budget Related"/>
            </xsd:restriction>
          </xsd:simpleType>
        </xsd:unio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2dabcefd-7191-4d78-9d18-d223e822edaa" ma:termSetId="09814cd3-568e-fe90-9814-8d621ff8fb84" ma:anchorId="fba54fb3-c3e1-fe81-a776-ca4b69148c4d" ma:open="true" ma:isKeyword="false">
      <xsd:complexType>
        <xsd:sequence>
          <xsd:element ref="pc:Terms" minOccurs="0" maxOccurs="1"/>
        </xsd:sequence>
      </xsd:complexType>
    </xsd:element>
    <xsd:element name="MediaServiceDateTaken" ma:index="18" nillable="true" ma:displayName="MediaServiceDateTaken" ma:hidden="true" ma:indexed="true" ma:internalName="MediaServiceDateTaken" ma:readOnly="true">
      <xsd:simpleType>
        <xsd:restriction base="dms:Text"/>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OCR" ma:index="21"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c761791-33a0-47b7-8145-9d3c2515a3a0"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7" nillable="true" ma:displayName="Taxonomy Catch All Column" ma:hidden="true" ma:list="{0ba3bf2f-9f6a-42de-9806-f02ccdd7535d}" ma:internalName="TaxCatchAll" ma:showField="CatchAllData" ma:web="bc761791-33a0-47b7-8145-9d3c2515a3a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0A43E79-5F32-4471-8B9A-F8FE298C9716}">
  <ds:schemaRefs>
    <ds:schemaRef ds:uri="http://schemas.microsoft.com/office/2006/metadata/properties"/>
    <ds:schemaRef ds:uri="bc761791-33a0-47b7-8145-9d3c2515a3a0"/>
    <ds:schemaRef ds:uri="http://purl.org/dc/terms/"/>
    <ds:schemaRef ds:uri="http://schemas.microsoft.com/office/2006/documentManagement/types"/>
    <ds:schemaRef ds:uri="http://schemas.openxmlformats.org/package/2006/metadata/core-properties"/>
    <ds:schemaRef ds:uri="d3abd939-9d94-49d1-925a-c93fb1ff4b6e"/>
    <ds:schemaRef ds:uri="http://purl.org/dc/elements/1.1/"/>
    <ds:schemaRef ds:uri="http://schemas.microsoft.com/office/infopath/2007/PartnerControls"/>
    <ds:schemaRef ds:uri="http://www.w3.org/XML/1998/namespace"/>
    <ds:schemaRef ds:uri="http://purl.org/dc/dcmitype/"/>
  </ds:schemaRefs>
</ds:datastoreItem>
</file>

<file path=customXml/itemProps2.xml><?xml version="1.0" encoding="utf-8"?>
<ds:datastoreItem xmlns:ds="http://schemas.openxmlformats.org/officeDocument/2006/customXml" ds:itemID="{AA8EE7F5-A494-4A3A-8402-D6EC287A4FD9}">
  <ds:schemaRefs>
    <ds:schemaRef ds:uri="http://schemas.microsoft.com/sharepoint/v3/contenttype/forms"/>
  </ds:schemaRefs>
</ds:datastoreItem>
</file>

<file path=customXml/itemProps3.xml><?xml version="1.0" encoding="utf-8"?>
<ds:datastoreItem xmlns:ds="http://schemas.openxmlformats.org/officeDocument/2006/customXml" ds:itemID="{A9B585CC-6C58-4D0F-87F3-D826C458A20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3abd939-9d94-49d1-925a-c93fb1ff4b6e"/>
    <ds:schemaRef ds:uri="bc761791-33a0-47b7-8145-9d3c2515a3a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4280</TotalTime>
  <Words>1159</Words>
  <Application>Microsoft Macintosh PowerPoint</Application>
  <PresentationFormat>Widescreen</PresentationFormat>
  <Paragraphs>58</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Aptos</vt:lpstr>
      <vt:lpstr>Arial</vt:lpstr>
      <vt:lpstr>AvenirNext LT Pro Regular</vt:lpstr>
      <vt:lpstr>Calibri</vt:lpstr>
      <vt:lpstr>Calibri Light</vt:lpstr>
      <vt:lpstr>7_office theme</vt:lpstr>
      <vt:lpstr>Zero to LAMMPS in Two Minutes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PESO Team Contributes to HPSF Growth and Impact</dc:title>
  <dc:subject>Highlight slide for DOE ASCR</dc:subject>
  <dc:creator>Michael Heroux</dc:creator>
  <cp:keywords/>
  <dc:description/>
  <cp:lastModifiedBy>McInnes, Lois Curfman</cp:lastModifiedBy>
  <cp:revision>46</cp:revision>
  <dcterms:created xsi:type="dcterms:W3CDTF">2025-01-02T22:07:27Z</dcterms:created>
  <dcterms:modified xsi:type="dcterms:W3CDTF">2026-08-04T15:53:34Z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0x010100D0BF6F177D6D67458FBB47B7752A5A77</vt:lpwstr>
  </property>
  <property fmtid="{D5CDD505-2E9C-101B-9397-08002B2CF9AE}" pid="3" name="MediaServiceImageTags">
    <vt:lpwstr/>
  </property>
</Properties>
</file>